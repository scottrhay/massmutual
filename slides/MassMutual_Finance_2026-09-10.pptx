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is a three-hour, instructor-led walkthrough of the MS-4004 Finance use case."</a:t>
            </a:r>
          </a:p>
          <a:p>
            <a:r>
              <a:t>(3 min)</a:t>
            </a:r>
          </a:p>
          <a:p>
            <a:r>
              <a:t>TIME: 9:00-9:03 AM</a:t>
            </a:r>
          </a:p>
          <a:p>
            <a:r>
              <a:t>• Set the contract: lecture, live demonstration, and guided follow-along. There is no independent lab.</a:t>
            </a:r>
          </a:p>
          <a:p>
            <a:r>
              <a:t>• Northstar Life is the fictional practice environment used to work through the MS-4004 Finance scenario.</a:t>
            </a:r>
          </a:p>
          <a:p>
            <a:r>
              <a:t>• Learners should have Copilot Chat and Excel available; Analyst and Agent Builder remain tenant-dependent.</a:t>
            </a:r>
          </a:p>
          <a:p>
            <a:r>
              <a:t>ASK: 'Which finance task costs you the most repeated effort today?'</a:t>
            </a:r>
          </a:p>
          <a:p>
            <a:r>
              <a:t>NEXT: "Start with the map of finance work Copilot can help with."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is one guided session across five finance capabilities, not a case-study lab."</a:t>
            </a:r>
          </a:p>
          <a:p>
            <a:r>
              <a:t>(2 min)</a:t>
            </a:r>
          </a:p>
          <a:p>
            <a:r>
              <a:t>TIME: 9:03-9:05 AM</a:t>
            </a:r>
          </a:p>
          <a:p>
            <a:r>
              <a:t>• Every learner follows the same prompts with the instructor and checks the same visible outcomes.</a:t>
            </a:r>
          </a:p>
          <a:p>
            <a:r>
              <a:t>• The governing distinction is one-off conversation, workbook action, deeper analysis, or repeatable role.</a:t>
            </a:r>
          </a:p>
          <a:p>
            <a:r>
              <a:t>ASK: 'Which of these five do you use today?'</a:t>
            </a:r>
          </a:p>
          <a:p>
            <a:r>
              <a:t>NEXT: "First, see where Copilot fits across the finance workday."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"Do not begin with the product menu. Begin with the shape of the finance job."</a:t>
            </a:r>
          </a:p>
          <a:p>
            <a:r>
              <a:t>(5 min)</a:t>
            </a:r>
          </a:p>
          <a:p>
            <a:r>
              <a:t>TIME: 9:05-9:10 AM</a:t>
            </a:r>
          </a:p>
          <a:p>
            <a:r>
              <a:t>• Understand calls for named sources and careful summary.</a:t>
            </a:r>
          </a:p>
          <a:p>
            <a:r>
              <a:t>• Analyze calls for explicit definitions, periods, units, and checks.</a:t>
            </a:r>
          </a:p>
          <a:p>
            <a:r>
              <a:t>• Communicate calls for audience, decision, and evidence boundaries.</a:t>
            </a:r>
          </a:p>
          <a:p>
            <a:r>
              <a:t>• Repeat calls for the lightest reusable mechanism that preserves ownership.</a:t>
            </a:r>
          </a:p>
          <a:p>
            <a:r>
              <a:t>ASK: 'Which shape describes your most common Copilot use case?'</a:t>
            </a:r>
          </a:p>
          <a:p>
            <a:r>
              <a:t>NEXT: "Two principles govern every route."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"There are only two rules today: quality in and vetted out."</a:t>
            </a:r>
          </a:p>
          <a:p>
            <a:r>
              <a:t>(4 min)</a:t>
            </a:r>
          </a:p>
          <a:p>
            <a:r>
              <a:t>TIME: 9:10-9:14 AM</a:t>
            </a:r>
          </a:p>
          <a:p>
            <a:r>
              <a:t>• Quality in means a defined goal, useful context, named sources, and clear output expectations.</a:t>
            </a:r>
          </a:p>
          <a:p>
            <a:r>
              <a:t>• Vetted out means the human checks material numbers, evidence scope, uncertainty, and ownership before use.</a:t>
            </a:r>
          </a:p>
          <a:p>
            <a:r>
              <a:t>• Neither a fluent answer nor a polished chart is self-validating.</a:t>
            </a:r>
          </a:p>
          <a:p>
            <a:r>
              <a:t>ASK: 'Which side is easier to skip under deadline pressure?'</a:t>
            </a:r>
          </a:p>
          <a:p>
            <a:r>
              <a:t>NEXT: "Make quality in concrete with a finance prompt contract."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"Start with an audit contract before anyone calculates or edits."</a:t>
            </a:r>
          </a:p>
          <a:p>
            <a:r>
              <a:t>(6 min)</a:t>
            </a:r>
          </a:p>
          <a:p>
            <a:r>
              <a:t>TIME: 9:14-9:20 AM</a:t>
            </a:r>
          </a:p>
          <a:p>
            <a:r>
              <a:t>SETUP: Open Copilot Chat. Attach Northstar_Life_Finance_Starter.xlsx only.</a:t>
            </a:r>
          </a:p>
          <a:p>
            <a:r>
              <a:t>• Learners paste the prompt with the instructor; do not wait for perfect formatting.</a:t>
            </a:r>
          </a:p>
          <a:p>
            <a:r>
              <a:t>PROMPT:</a:t>
            </a:r>
          </a:p>
          <a:p>
            <a:r>
              <a:t>Using only Northstar_Life_Finance_Starter.xlsx, audit the source tables before analysis. Log only true source-data defects: duplicate or broken identifiers, missing required source values, and inconsistent labels. Treat green learner-output cells, blank templates or canvases, and existing DataQualityFlag warnings as intentional design or evidence limitations, not defects. Do not correct anything. Return IssueLog rows with the sheet, table, row or cell, observed problem, and recommended next check.</a:t>
            </a:r>
          </a:p>
          <a:p>
            <a:r>
              <a:t>EXPECTED: An issue log identifies the controlled month-label, duplicate-ID, region-label, and missing-owner problems without changing the workbook.</a:t>
            </a:r>
          </a:p>
          <a:p>
            <a:r>
              <a:t>IF FAILS: If file analysis is unavailable, open the four highlighted source cells and record them in IssueLog together.</a:t>
            </a:r>
          </a:p>
          <a:p>
            <a:r>
              <a:t>DEBRIEF: Ask why finance analysis should stop when source identity or reconciliation is uncertain.</a:t>
            </a:r>
          </a:p>
          <a:p>
            <a:r>
              <a:t>NEXT: "Now decide what is safe to use."</a:t>
            </a:r>
          </a:p>
          <a:p/>
          <a:p>
            <a:r>
              <a:t>PROMPTS ON THIS SLIDE:</a:t>
            </a:r>
          </a:p>
          <a:p/>
          <a:p>
            <a:r>
              <a:t>Using only Northstar_Life_Finance_Starter.xlsx, audit the source tables before analysis. Log only true source-data defects: duplicate or broken identifiers, missing required source values, and inconsistent labels. Treat green learner-output cells, blank templates or canvases, and existing DataQualityFlag warnings as intentional design or evidence limitations, not defects. Do not correct anything. Return IssueLog rows with the sheet, table, row or cell, observed problem, and recommended next check.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"Vetting is a release decision, not a writing score."</a:t>
            </a:r>
          </a:p>
          <a:p>
            <a:r>
              <a:t>(5 min)</a:t>
            </a:r>
          </a:p>
          <a:p>
            <a:r>
              <a:t>TIME: 9:20-9:25 AM</a:t>
            </a:r>
          </a:p>
          <a:p>
            <a:r>
              <a:t>• Pick one number from the prior response and recalculate it.</a:t>
            </a:r>
          </a:p>
          <a:p>
            <a:r>
              <a:t>• Pick one explanatory sentence and ask whether the source actually supports that scope.</a:t>
            </a:r>
          </a:p>
          <a:p>
            <a:r>
              <a:t>• Green ships only after the finance owner agrees. Yellow is fixed and reread. Red restarts from the source or question.</a:t>
            </a:r>
          </a:p>
          <a:p>
            <a:r>
              <a:t>ASK: 'What would make a polished answer red?'</a:t>
            </a:r>
          </a:p>
          <a:p>
            <a:r>
              <a:t>NEXT: "With the principle set, choose the right Copilot surface."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"Choose the surface from the work product you need, not from the first Copilot button you see."</a:t>
            </a:r>
          </a:p>
          <a:p>
            <a:r>
              <a:t>(4 min)</a:t>
            </a:r>
          </a:p>
          <a:p>
            <a:r>
              <a:t>TIME: 9:25-9:29 AM</a:t>
            </a:r>
          </a:p>
          <a:p>
            <a:r>
              <a:t>• Use Copilot Chat when the answer or narrative is the work product and the source files stay unchanged.</a:t>
            </a:r>
          </a:p>
          <a:p>
            <a:r>
              <a:t>• Use Copilot in Excel when the workbook is the work product and you need formulas, charts, formatting, or cell-level inspection.</a:t>
            </a:r>
          </a:p>
          <a:p>
            <a:r>
              <a:t>• Use Analyst for deeper chat-first analysis across one or more data files. Use Agent Builder when the role should be repeatable.</a:t>
            </a:r>
          </a:p>
          <a:p>
            <a:r>
              <a:t>ASK: 'Where do you start if the deliverable is a new formula column?'</a:t>
            </a:r>
          </a:p>
          <a:p>
            <a:r>
              <a:t>NEXT: "Begin with Copilot Chat for source-bounded finance synthesis."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"Copilot Chat is strongest when the conversation is the work product."</a:t>
            </a:r>
          </a:p>
          <a:p>
            <a:r>
              <a:t>(6 min)</a:t>
            </a:r>
          </a:p>
          <a:p>
            <a:r>
              <a:t>TIME: 9:29-9:35 AM</a:t>
            </a:r>
          </a:p>
          <a:p>
            <a:r>
              <a:t>• Use it for source-bounded reading, comparison, and drafting across named attachments.</a:t>
            </a:r>
          </a:p>
          <a:p>
            <a:r>
              <a:t>• It can discuss spreadsheets, but use Excel when you need to inspect or change workbook structure.</a:t>
            </a:r>
          </a:p>
          <a:p>
            <a:r>
              <a:t>• Every prompt should say what Copilot may use and what it must not infer.</a:t>
            </a:r>
          </a:p>
          <a:p>
            <a:r>
              <a:t>ASK: 'Which task belongs in Chat rather than Excel?'</a:t>
            </a:r>
          </a:p>
          <a:p>
            <a:r>
              <a:t>NEXT: "Run a two-file finance synthesis together."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"Everyone attach the same two fictional files and run one bounded synthesis."</a:t>
            </a:r>
          </a:p>
          <a:p>
            <a:r>
              <a:t>(11 min)</a:t>
            </a:r>
          </a:p>
          <a:p>
            <a:r>
              <a:t>TIME: 9:35-9:46 AM</a:t>
            </a:r>
          </a:p>
          <a:p>
            <a:r>
              <a:t>SETUP: Open Copilot Chat and attach the two named learner files. Do not attach client data.</a:t>
            </a:r>
          </a:p>
          <a:p>
            <a:r>
              <a:t>• The projected slide summarizes the task; paste the complete prompt from these notes or the prompt packet.</a:t>
            </a:r>
          </a:p>
          <a:p>
            <a:r>
              <a:t>• Pause after generation so learners can inspect one claim against the source.</a:t>
            </a:r>
          </a:p>
          <a:p>
            <a:r>
              <a:t>PROMPT:</a:t>
            </a:r>
          </a:p>
          <a:p>
            <a:r>
              <a:t>Using only the attached review notes and claims committee thread, produce: 1) reported events with dates, 2) agreements and contradictions, 3) unresolved questions with a proposed owner, and 4) a five-sentence management update. Do not calculate missing amounts or present a proposed cause as fact.</a:t>
            </a:r>
          </a:p>
          <a:p>
            <a:r>
              <a:t>EXPECTED: The response keeps reported events separate from inferred causes, exposes at least one contradiction or gap, and assigns unresolved questions rather than filling them in.</a:t>
            </a:r>
          </a:p>
          <a:p>
            <a:r>
              <a:t>IF FAILS: Use the prepared fallback outputs and perform the same source check verbally. Do not troubleshoot longer than two minutes.</a:t>
            </a:r>
          </a:p>
          <a:p>
            <a:r>
              <a:t>DEBRIEF: Ask learners to quote one sentence they would mark yellow and explain why.</a:t>
            </a:r>
          </a:p>
          <a:p>
            <a:r>
              <a:t>NEXT: "Now move from talking about files to working inside the workbook."</a:t>
            </a:r>
          </a:p>
          <a:p/>
          <a:p>
            <a:r>
              <a:t>PROMPTS ON THIS SLIDE:</a:t>
            </a:r>
          </a:p>
          <a:p/>
          <a:p>
            <a:r>
              <a:t>Using only the attached review notes and claims committee thread, produce: 1) reported events with dates, 2) agreements and contradictions, 3) unresolved questions with a proposed owner, and 4) a five-sentence management update. Do not calculate missing amounts or present a proposed cause as fact.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"Now the starter workbook becomes the work product."</a:t>
            </a:r>
          </a:p>
          <a:p>
            <a:r>
              <a:t>(2 min)</a:t>
            </a:r>
          </a:p>
          <a:p>
            <a:r>
              <a:t>TIME: 9:46-9:48 AM</a:t>
            </a:r>
          </a:p>
          <a:p>
            <a:r>
              <a:t>• Learners stay with the instructor and run each prompt on a working copy.</a:t>
            </a:r>
          </a:p>
          <a:p>
            <a:r>
              <a:t>• Before the first edit, save a personal working copy to OneDrive or SharePoint so supported changes and versions can be captured.</a:t>
            </a:r>
          </a:p>
          <a:p>
            <a:r>
              <a:t>• The class will audit, clean, reconcile, analyze, visualize, report, and build a dashboard.</a:t>
            </a:r>
          </a:p>
          <a:p>
            <a:r>
              <a:t>ASK: 'Is your workbook copy open?'</a:t>
            </a:r>
          </a:p>
          <a:p>
            <a:r>
              <a:t>NEXT: "Start with the capability shelf."</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"These are the five everyday Excel moves we will practice together."</a:t>
            </a:r>
          </a:p>
          <a:p>
            <a:r>
              <a:t>(2 min)</a:t>
            </a:r>
          </a:p>
          <a:p>
            <a:r>
              <a:t>TIME: 9:48-9:50 AM</a:t>
            </a:r>
          </a:p>
          <a:p>
            <a:r>
              <a:t>• Profile source tables, apply controlled edits, build formulas, visualize the pattern, and document changes.</a:t>
            </a:r>
          </a:p>
          <a:p>
            <a:r>
              <a:t>• Every result remains checkable against the workbook.</a:t>
            </a:r>
          </a:p>
          <a:p>
            <a:r>
              <a:t>ASK: 'Which move would save you time this week?'</a:t>
            </a:r>
          </a:p>
          <a:p>
            <a:r>
              <a:t>NEXT: "First, make Copilot describe the table before analyzing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"Profile the workbook before cleaning it. Everyone runs both prompts."</a:t>
            </a:r>
          </a:p>
          <a:p>
            <a:r>
              <a:t>(8 min)</a:t>
            </a:r>
          </a:p>
          <a:p>
            <a:r>
              <a:t>TIME: 9:50-9:58 AM</a:t>
            </a:r>
          </a:p>
          <a:p>
            <a:r>
              <a:t>SETUP: Open Northstar_Life_Finance_Starter.xlsx and keep IssueLog visible.</a:t>
            </a:r>
          </a:p>
          <a:p>
            <a:r>
              <a:t>PROMPT:</a:t>
            </a:r>
          </a:p>
          <a:p>
            <a:r>
              <a:t>Describe each source table in Northstar_Life_Finance_Starter.xlsx: its grain, key fields, row count, and how it relates to PerformanceData. Do not make business conclusions.</a:t>
            </a:r>
          </a:p>
          <a:p/>
          <a:p>
            <a:r>
              <a:t>Then run:</a:t>
            </a:r>
          </a:p>
          <a:p>
            <a:r>
              <a:t>Populate IssueLog with only true source-data defects: duplicate or broken identifiers, missing required source values, and inconsistent labels. Exclude green learner-output cells, blank templates or canvases, and DataQualityFlag warnings. Cite the exact sheet and cell or row. Do not correct anything yet.</a:t>
            </a:r>
          </a:p>
          <a:p>
            <a:r>
              <a:t>EXPECTED: IssueLog contains exactly four candidate source defects: PerformanceData H18, PremiumDetail B22, ClaimsDetail A25, and ExpenseDetail E23. Expected learner-output blanks and evidence limitations remain outside the correction log.</a:t>
            </a:r>
          </a:p>
          <a:p>
            <a:r>
              <a:t>IF FAILS: Use the four highlighted source cells and fill IssueLog manually.</a:t>
            </a:r>
          </a:p>
          <a:p>
            <a:r>
              <a:t>DEBRIEF: Ask which observed items are source defects versus expected outputs or evidence limitations.</a:t>
            </a:r>
          </a:p>
          <a:p>
            <a:r>
              <a:t>NEXT: "Approve only the corrections the evidence supports."</a:t>
            </a:r>
          </a:p>
          <a:p/>
          <a:p>
            <a:r>
              <a:t>PROMPTS ON THIS SLIDE:</a:t>
            </a:r>
          </a:p>
          <a:p/>
          <a:p>
            <a:r>
              <a:t>Describe each source table in Northstar_Life_Finance_Starter.xlsx: its grain, key fields, row count, and how it relates to PerformanceData. Do not make business conclusions.</a:t>
            </a:r>
          </a:p>
          <a:p/>
          <a:p>
            <a:r>
              <a:t>Then run:</a:t>
            </a:r>
          </a:p>
          <a:p>
            <a:r>
              <a:t>Populate IssueLog with only true source-data defects: duplicate or broken identifiers, missing required source values, and inconsistent labels. Exclude green learner-output cells, blank templates or canvases, and DataQualityFlag warnings. Cite the exact sheet and cell or row. Do not correct anything yet.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"Use Copilot to propose controlled corrections, then approve before it edits."</a:t>
            </a:r>
          </a:p>
          <a:p>
            <a:r>
              <a:t>(8 min)</a:t>
            </a:r>
          </a:p>
          <a:p>
            <a:r>
              <a:t>TIME: 9:58-10:06 AM</a:t>
            </a:r>
          </a:p>
          <a:p>
            <a:r>
              <a:t>SETUP: Continue in Northstar_Life_Finance_Starter.xlsx with IssueLog visible.</a:t>
            </a:r>
          </a:p>
          <a:p>
            <a:r>
              <a:t>PROMPT:</a:t>
            </a:r>
          </a:p>
          <a:p>
            <a:r>
              <a:t>Using IssueLog, propose a correction for each source-data issue. Do not guess a missing owner. For duplicate identifiers, preserve financial values and correct only the identifier after confirming row context. Wait for approval.</a:t>
            </a:r>
          </a:p>
          <a:p/>
          <a:p>
            <a:r>
              <a:t>Then run:</a:t>
            </a:r>
          </a:p>
          <a:p>
            <a:r>
              <a:t>Apply only the approved corrections. Standardize month and region labels, restore unique record IDs, and leave unresolved owner fields blank with status Blocked. Summarize every cell changed.</a:t>
            </a:r>
          </a:p>
          <a:p>
            <a:r>
              <a:t>EXPECTED: Copilot changes only the approved month label, region label, and duplicate identifier; the unknown owner remains blank and Blocked.</a:t>
            </a:r>
          </a:p>
          <a:p>
            <a:r>
              <a:t>IF FAILS: Make the three approved corrections manually and record each in IssueLog.</a:t>
            </a:r>
          </a:p>
          <a:p>
            <a:r>
              <a:t>DEBRIEF: Ask which proposed correction would have crossed from evidence into guessing.</a:t>
            </a:r>
          </a:p>
          <a:p>
            <a:r>
              <a:t>NEXT: "Now prove the cleaned source reconciles to the summary."</a:t>
            </a:r>
          </a:p>
          <a:p/>
          <a:p>
            <a:r>
              <a:t>PROMPTS ON THIS SLIDE:</a:t>
            </a:r>
          </a:p>
          <a:p/>
          <a:p>
            <a:r>
              <a:t>Using IssueLog, propose a correction for each source-data issue. Do not guess a missing owner. For duplicate identifiers, preserve financial values and correct only the identifier after confirming row context. Wait for approval.</a:t>
            </a:r>
          </a:p>
          <a:p/>
          <a:p>
            <a:r>
              <a:t>Then run:</a:t>
            </a:r>
          </a:p>
          <a:p>
            <a:r>
              <a:t>Apply only the approved corrections. Standardize month and region labels, restore unique record IDs, and leave unresolved owner fields blank with status Blocked. Summarize every cell changed.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"Build the reconciliation control, then make Copilot explain the full chain rather than basic subtraction."</a:t>
            </a:r>
          </a:p>
          <a:p>
            <a:r>
              <a:t>(7 min)</a:t>
            </a:r>
          </a:p>
          <a:p>
            <a:r>
              <a:t>TIME: 10:06-10:13 AM</a:t>
            </a:r>
          </a:p>
          <a:p>
            <a:r>
              <a:t>SETUP: Open the blank Reconciliation template in Northstar_Life_Finance_Starter.xlsx.</a:t>
            </a:r>
          </a:p>
          <a:p>
            <a:r>
              <a:t>PROMPT:</a:t>
            </a:r>
          </a:p>
          <a:p>
            <a:r>
              <a:t>Complete the Reconciliation table. Calculate SummaryActual from PerformanceData and DetailTotal from the corresponding PremiumDetail, ClaimsDetail, or ExpenseDetail table by month. Calculate Difference as DetailTotal minus SummaryActual. Set Status to PASS when the absolute difference is below 0.01; otherwise REVIEW. Return every REVIEW row and trace it to contributing source records. Do not change source values.</a:t>
            </a:r>
          </a:p>
          <a:p/>
          <a:p>
            <a:r>
              <a:t>Then run:</a:t>
            </a:r>
          </a:p>
          <a:p>
            <a:r>
              <a:t>Explain the full formula chain for one Reconciliation row: SummaryActual, DetailTotal, Difference, and Status. Trace each formula to its source table and criteria, explain the 0.01 tolerance, show how an inconsistent month label would affect the control, and state how a finance reviewer can verify the result independently.</a:t>
            </a:r>
          </a:p>
          <a:p>
            <a:r>
              <a:t>EXPECTED: All 18 controls return PASS after the approved label correction. Copilot explains the SUMIFS source criteria, Difference, ABS tolerance, and IF status rule, then names an independent verification step.</a:t>
            </a:r>
          </a:p>
          <a:p>
            <a:r>
              <a:t>IF FAILS: Open the instructor completed workbook, select one Reconciliation row, and trace its formulas manually from summary to detail.</a:t>
            </a:r>
          </a:p>
          <a:p>
            <a:r>
              <a:t>DEBRIEF: Ask which part of the formula chain would fail if June and Jun were treated as different labels.</a:t>
            </a:r>
          </a:p>
          <a:p>
            <a:r>
              <a:t>NEXT: "Pause and inspect what Copilot changed."</a:t>
            </a:r>
          </a:p>
          <a:p/>
          <a:p>
            <a:r>
              <a:t>PROMPTS ON THIS SLIDE:</a:t>
            </a:r>
          </a:p>
          <a:p/>
          <a:p>
            <a:r>
              <a:t>Complete the Reconciliation table. Calculate SummaryActual from PerformanceData and DetailTotal from the corresponding PremiumDetail, ClaimsDetail, or ExpenseDetail table by month. Calculate Difference as DetailTotal minus SummaryActual. Set Status to PASS when the absolute difference is below 0.01; otherwise REVIEW. Return every REVIEW row and trace it to contributing source records. Do not change source values.</a:t>
            </a:r>
          </a:p>
          <a:p/>
          <a:p>
            <a:r>
              <a:t>Then run:</a:t>
            </a:r>
          </a:p>
          <a:p>
            <a:r>
              <a:t>Explain the full formula chain for one Reconciliation row: SummaryActual, DetailTotal, Difference, and Status. Trace each formula to its source table and criteria, explain the 0.01 tolerance, show how an inconsistent month label would affect the control, and state how a finance reviewer can verify the result independently.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"Editing speed only helps when review is part of the same workflow."</a:t>
            </a:r>
          </a:p>
          <a:p>
            <a:r>
              <a:t>(5 min)</a:t>
            </a:r>
          </a:p>
          <a:p>
            <a:r>
              <a:t>TIME: 10:13-10:18 AM</a:t>
            </a:r>
          </a:p>
          <a:p>
            <a:r>
              <a:t>• Compare Copilot’s change summary with IssueLog and the visible cells.</a:t>
            </a:r>
          </a:p>
          <a:p>
            <a:r>
              <a:t>• Check the reconciliation formulas rather than accepting a PASS label at face value.</a:t>
            </a:r>
          </a:p>
          <a:p>
            <a:r>
              <a:t>• We will inspect the complete workbook change history again near the close.</a:t>
            </a:r>
          </a:p>
          <a:p>
            <a:r>
              <a:t>ASK: 'What changed that you did not explicitly approve?'</a:t>
            </a:r>
          </a:p>
          <a:p>
            <a:r>
              <a:t>NEXT: "Next, set a personal finance preference and prove it applied."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"Set one finance preference once, then test it with a clean request."</a:t>
            </a:r>
          </a:p>
          <a:p>
            <a:r>
              <a:t>(5 min)</a:t>
            </a:r>
          </a:p>
          <a:p>
            <a:r>
              <a:t>TIME: 10:18-10:23 AM</a:t>
            </a:r>
          </a:p>
          <a:p>
            <a:r>
              <a:t>SETUP: Open Excel Copilot settings and locate Personalization if available.</a:t>
            </a:r>
          </a:p>
          <a:p>
            <a:r>
              <a:t>PROMPT:</a:t>
            </a:r>
          </a:p>
          <a:p>
            <a:r>
              <a:t>Format currency as US dollars with thousand separators and no decimals. Call variances favorable or unfavorable, never positive or negative. When you state a number, name the sheet and the row it came from.</a:t>
            </a:r>
          </a:p>
          <a:p/>
          <a:p>
            <a:r>
              <a:t>Then run:</a:t>
            </a:r>
          </a:p>
          <a:p>
            <a:r>
              <a:t>Summarize the June rows in PerformanceData.</a:t>
            </a:r>
          </a:p>
          <a:p>
            <a:r>
              <a:t>EXPECTED: The June summary follows the saved currency and favorability conventions without repeating them in the prompt.</a:t>
            </a:r>
          </a:p>
          <a:p>
            <a:r>
              <a:t>IF FAILS: Read the preference as a reusable prompt clause and continue; availability varies.</a:t>
            </a:r>
          </a:p>
          <a:p>
            <a:r>
              <a:t>DEBRIEF: Ask which repeated wording belongs in personalization.</a:t>
            </a:r>
          </a:p>
          <a:p>
            <a:r>
              <a:t>NEXT: "Promote a file-specific convention to a workbook rule."</a:t>
            </a:r>
          </a:p>
          <a:p/>
          <a:p>
            <a:r>
              <a:t>PROMPTS ON THIS SLIDE:</a:t>
            </a:r>
          </a:p>
          <a:p/>
          <a:p>
            <a:r>
              <a:t>Format currency as US dollars with thousand separators and no decimals. Call variances favorable or unfavorable, never positive or negative. When you state a number, name the sheet and the row it came from.</a:t>
            </a:r>
          </a:p>
          <a:p/>
          <a:p>
            <a:r>
              <a:t>Then run:</a:t>
            </a:r>
          </a:p>
          <a:p>
            <a:r>
              <a:t>Summarize the June rows in PerformanceData.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 workbook rule carries a file-specific convention with the workbook."</a:t>
            </a:r>
          </a:p>
          <a:p>
            <a:r>
              <a:t>(3 min)</a:t>
            </a:r>
          </a:p>
          <a:p>
            <a:r>
              <a:t>TIME: 10:23-10:26 AM</a:t>
            </a:r>
          </a:p>
          <a:p>
            <a:r>
              <a:t>SETUP: Open the workbook-rule control if available, or show the visible .Rules pattern.</a:t>
            </a:r>
          </a:p>
          <a:p>
            <a:r>
              <a:t>PROMPT:</a:t>
            </a:r>
          </a:p>
          <a:p>
            <a:r>
              <a:t>Add a workbook rule: revenue below plan is unfavorable, and claims or operating expense above plan is unfavorable.</a:t>
            </a:r>
          </a:p>
          <a:p/>
          <a:p>
            <a:r>
              <a:t>Then run:</a:t>
            </a:r>
          </a:p>
          <a:p>
            <a:r>
              <a:t>Rank the five largest unfavorable variances in PerformanceData.</a:t>
            </a:r>
          </a:p>
          <a:p>
            <a:r>
              <a:t>EXPECTED: The ranking obeys the defined favorability convention without restating it.</a:t>
            </a:r>
          </a:p>
          <a:p>
            <a:r>
              <a:t>IF FAILS: Show the prepared .Rules example and explain that a rule guides behavior but does not enforce correctness.</a:t>
            </a:r>
          </a:p>
          <a:p>
            <a:r>
              <a:t>DEBRIEF: Ask what belongs in a workbook rule rather than personal preferences.</a:t>
            </a:r>
          </a:p>
          <a:p>
            <a:r>
              <a:t>NEXT: "Now package the recurring review process as a reusable skill."</a:t>
            </a:r>
          </a:p>
          <a:p/>
          <a:p>
            <a:r>
              <a:t>PROMPTS ON THIS SLIDE:</a:t>
            </a:r>
          </a:p>
          <a:p/>
          <a:p>
            <a:r>
              <a:t>Add a workbook rule: revenue below plan is unfavorable, and claims or operating expense above plan is unfavorable.</a:t>
            </a:r>
          </a:p>
          <a:p/>
          <a:p>
            <a:r>
              <a:t>Then run:</a:t>
            </a:r>
          </a:p>
          <a:p>
            <a:r>
              <a:t>Rank the five largest unfavorable variances in PerformanceData.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 skill turns a repeated Excel procedure into inspectable instructions that Copilot can reuse."</a:t>
            </a:r>
          </a:p>
          <a:p>
            <a:r>
              <a:t>(5 min)</a:t>
            </a:r>
          </a:p>
          <a:p>
            <a:r>
              <a:t>TIME: 10:26-10:31 AM</a:t>
            </a:r>
          </a:p>
          <a:p>
            <a:r>
              <a:t>• File: Northstar_Finance_Review_Skill.zip. Extract the northstar-finance-review folder; SKILL.md must remain inside it.</a:t>
            </a:r>
          </a:p>
          <a:p>
            <a:r>
              <a:t>• Open Settings, Manage skills, Custom skills, then create or open the OneDrive skills folder.</a:t>
            </a:r>
          </a:p>
          <a:p>
            <a:r>
              <a:t>• Show the two required SKILL.md parts: YAML frontmatter with name and description, followed by the task instructions.</a:t>
            </a:r>
          </a:p>
          <a:p>
            <a:r>
              <a:t>• Add the extracted folder, return to Custom skills, and select Refresh. English display language and tenant availability may apply.</a:t>
            </a:r>
          </a:p>
          <a:p>
            <a:r>
              <a:t>• SOURCE CHECKED 2026-09-10: https://support.microsoft.com/en-us/excel/copilot/copilot-in-excel-skills</a:t>
            </a:r>
          </a:p>
          <a:p>
            <a:r>
              <a:t>ASK: 'Which recurring finance steps belong in the skill rather than today’s prompt?'</a:t>
            </a:r>
          </a:p>
          <a:p>
            <a:r>
              <a:t>NEXT: "Invoke the skill against the class workbook and inspect its output."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"Calling the skill saves the procedure, not the responsibility to review the result."</a:t>
            </a:r>
          </a:p>
          <a:p>
            <a:r>
              <a:t>(5 min)</a:t>
            </a:r>
          </a:p>
          <a:p>
            <a:r>
              <a:t>TIME: 10:31-10:36 AM</a:t>
            </a:r>
          </a:p>
          <a:p>
            <a:r>
              <a:t>SETUP: Open Northstar_Life_Finance_Starter.xlsx after reconciliation passes; verify northstar-finance-review is enabled.</a:t>
            </a:r>
          </a:p>
          <a:p>
            <a:r>
              <a:t>• Invoke through All Skills or type the @mention directly.</a:t>
            </a:r>
          </a:p>
          <a:p>
            <a:r>
              <a:t>• Inspect the created worksheet before continuing.</a:t>
            </a:r>
          </a:p>
          <a:p>
            <a:r>
              <a:t>PROMPT:</a:t>
            </a:r>
          </a:p>
          <a:p>
            <a:r>
              <a:t>@northstar-finance-review Review this workbook. Preserve every source sheet and formula. Stop if any Reconciliation status is not PASS. Create or refresh SkillReview with control status, the five largest unfavorable variances by absolute dollars, exact source references, detail contributors, claim boundaries, an independent recalculation of the top finding, and open questions. Label every explanation Supported, Hypothesis, or Blocked.</a:t>
            </a:r>
          </a:p>
          <a:p>
            <a:r>
              <a:t>EXPECTED: SkillReview contains the required sections, preserves source sheets and formulas, recalculates the top finding, and keeps unsupported causes out.</a:t>
            </a:r>
          </a:p>
          <a:p>
            <a:r>
              <a:t>IF FAILS: Open northstar-finance-review/SKILL.md and paste its instructions into Copilot with the same workbook if Custom skills is unavailable.</a:t>
            </a:r>
          </a:p>
          <a:p>
            <a:r>
              <a:t>DEBRIEF: Ask which part came from the skill and which facts came from the workbook.</a:t>
            </a:r>
          </a:p>
          <a:p>
            <a:r>
              <a:t>NEXT: "Take a short break, then move to deeper analysis with Analyst."</a:t>
            </a:r>
          </a:p>
          <a:p/>
          <a:p>
            <a:r>
              <a:t>PROMPTS ON THIS SLIDE:</a:t>
            </a:r>
          </a:p>
          <a:p/>
          <a:p>
            <a:r>
              <a:t>@northstar-finance-review Review this workbook. Preserve every source sheet and formula. Stop if any Reconciliation status is not PASS. Create or refresh SkillReview with control status, the five largest unfavorable variances by absolute dollars, exact source references, detail contributors, claim boundaries, an independent recalculation of the top finding, and open questions. Label every explanation Supported, Hypothesis, or Blocked.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"Ten-minute break. We restart with the Analyst agent."</a:t>
            </a:r>
          </a:p>
          <a:p>
            <a:r>
              <a:t>(10 min)</a:t>
            </a:r>
          </a:p>
          <a:p>
            <a:r>
              <a:t>TIME: 10:36-10:46 AM</a:t>
            </a:r>
          </a:p>
          <a:p>
            <a:r>
              <a:t>• Confirm the Analyst agent is visible. Keep the verified Excel result open for comparison.</a:t>
            </a:r>
          </a:p>
          <a:p>
            <a:r>
              <a:t>• If Analyst is unavailable, stage the prepared report and continue without delay.</a:t>
            </a:r>
          </a:p>
          <a:p>
            <a:r>
              <a:t>ASK: 'What time are we back?'</a:t>
            </a:r>
          </a:p>
          <a:p>
            <a:r>
              <a:t>NEXT: "Use Analyst when the work earns deeper analysis."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"Analyst earns its place when the task needs more depth than a quick workbook interaction."</a:t>
            </a:r>
          </a:p>
          <a:p>
            <a:r>
              <a:t>(5 min)</a:t>
            </a:r>
          </a:p>
          <a:p>
            <a:r>
              <a:t>TIME: 10:46-10:51 AM</a:t>
            </a:r>
          </a:p>
          <a:p>
            <a:r>
              <a:t>• Microsoft positions Analyst for advanced, Python-powered analysis across one or more files and formats.</a:t>
            </a:r>
          </a:p>
          <a:p>
            <a:r>
              <a:t>• The output may look more sophisticated, so the verification obligation increases rather than disappears.</a:t>
            </a:r>
          </a:p>
          <a:p>
            <a:r>
              <a:t>• Always define the business rule, source set, calculation expectation, and comparison target.</a:t>
            </a:r>
          </a:p>
          <a:p>
            <a:r>
              <a:t>ASK: 'What would make a clean Analyst chart wrong?'</a:t>
            </a:r>
          </a:p>
          <a:p>
            <a:r>
              <a:t>SOURCE CHECKED 2026-09-10: https://support.microsoft.com/en-us/microsoft-365-copilot/get-started-with-analyst-in-microsoft-365-copilot</a:t>
            </a:r>
          </a:p>
          <a:p>
            <a:r>
              <a:t>NEXT: "Run the same bounded question and compare it with Excel."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"Run the deeper pass in Analyst, then compare it with the answer already verified in Excel."</a:t>
            </a:r>
          </a:p>
          <a:p>
            <a:r>
              <a:t>(11 min)</a:t>
            </a:r>
          </a:p>
          <a:p>
            <a:r>
              <a:t>TIME: 10:51-11:02 AM</a:t>
            </a:r>
          </a:p>
          <a:p>
            <a:r>
              <a:t>SETUP: Open Analyst under Agents, attach the fictional workbook, and keep Excel visible.</a:t>
            </a:r>
          </a:p>
          <a:p>
            <a:r>
              <a:t>• The projected slide summarizes the task; paste the complete prompt from these notes or the prompt packet.</a:t>
            </a:r>
          </a:p>
          <a:p>
            <a:r>
              <a:t>• Learners run the prompt with the instructor and verify the top result.</a:t>
            </a:r>
          </a:p>
          <a:p>
            <a:r>
              <a:t>PROMPT:</a:t>
            </a:r>
          </a:p>
          <a:p>
            <a:r>
              <a:t>Using the attached workbook, rank the five largest unfavorable variances by absolute dollars. Treat revenue below plan and claims or operating expense above plan as unfavorable. Show calculations, create one useful visual, flag data-quality limits, and do not infer causes.</a:t>
            </a:r>
          </a:p>
          <a:p>
            <a:r>
              <a:t>EXPECTED: The top unfavorable variance remains June Paid Claims at 68,000 or 8.6 percent, with a useful visual and explicit limits.</a:t>
            </a:r>
          </a:p>
          <a:p>
            <a:r>
              <a:t>IF FAILS: If Analyst is absent or still processing after three minutes, use the prepared output and compare it with Excel.</a:t>
            </a:r>
          </a:p>
          <a:p>
            <a:r>
              <a:t>DEBRIEF: Ask what Analyst added and what it did not remove.</a:t>
            </a:r>
          </a:p>
          <a:p>
            <a:r>
              <a:t>NEXT: "Now turn analysis into management-ready output without overstating evidence."</a:t>
            </a:r>
          </a:p>
          <a:p/>
          <a:p>
            <a:r>
              <a:t>PROMPTS ON THIS SLIDE:</a:t>
            </a:r>
          </a:p>
          <a:p/>
          <a:p>
            <a:r>
              <a:t>Using the attached workbook, rank the five largest unfavorable variances by absolute dollars. Treat revenue below plan and claims or operating expense above plan as unfavorable. Show calculations, create one useful visual, flag data-quality limits, and do not infer causes.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"Before analysis, state the ranking basis, favorability rule, source, and cause boundary."</a:t>
            </a:r>
          </a:p>
          <a:p>
            <a:r>
              <a:t>(4 min)</a:t>
            </a:r>
          </a:p>
          <a:p>
            <a:r>
              <a:t>TIME: 11:02-11:06 AM</a:t>
            </a:r>
          </a:p>
          <a:p>
            <a:r>
              <a:t>SETUP: Return to the workbook and identify PerformanceData.</a:t>
            </a:r>
          </a:p>
          <a:p>
            <a:r>
              <a:t>PROMPT:</a:t>
            </a:r>
          </a:p>
          <a:p>
            <a:r>
              <a:t>Using PerformanceData, rank the five largest unfavorable variances by absolute dollars. Revenue below plan and Claims or Expense above plan are unfavorable. Show amount, percentage, month, and category. Do not infer causes.</a:t>
            </a:r>
          </a:p>
          <a:p/>
          <a:p>
            <a:r>
              <a:t>Then run:</a:t>
            </a:r>
          </a:p>
          <a:p>
            <a:r>
              <a:t>For each finding, cite the exact row or formula and flag any data-quality issue that could change the result.</a:t>
            </a:r>
          </a:p>
          <a:p>
            <a:r>
              <a:t>EXPECTED: A cause-free ranked list with calculations and exact source references.</a:t>
            </a:r>
          </a:p>
          <a:p>
            <a:r>
              <a:t>IF FAILS: Use the answer key and calculate the first row together.</a:t>
            </a:r>
          </a:p>
          <a:p>
            <a:r>
              <a:t>DEBRIEF: Ask which clause removed the most ambiguity.</a:t>
            </a:r>
          </a:p>
          <a:p>
            <a:r>
              <a:t>NEXT: "Run the ranked analysis together."</a:t>
            </a:r>
          </a:p>
          <a:p/>
          <a:p>
            <a:r>
              <a:t>PROMPTS ON THIS SLIDE:</a:t>
            </a:r>
          </a:p>
          <a:p/>
          <a:p>
            <a:r>
              <a:t>Using PerformanceData, rank the five largest unfavorable variances by absolute dollars. Revenue below plan and Claims or Expense above plan are unfavorable. Show amount, percentage, month, and category. Do not infer causes.</a:t>
            </a:r>
          </a:p>
          <a:p/>
          <a:p>
            <a:r>
              <a:t>Then run:</a:t>
            </a:r>
          </a:p>
          <a:p>
            <a:r>
              <a:t>For each finding, cite the exact row or formula and flag any data-quality issue that could change the result.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"Reproduce the Analyst ranking in Excel and check the top result against the cells."</a:t>
            </a:r>
          </a:p>
          <a:p>
            <a:r>
              <a:t>(4 min)</a:t>
            </a:r>
          </a:p>
          <a:p>
            <a:r>
              <a:t>TIME: 11:06-11:10 AM</a:t>
            </a:r>
          </a:p>
          <a:p>
            <a:r>
              <a:t>SETUP: PerformanceData open; review notes remain closed.</a:t>
            </a:r>
          </a:p>
          <a:p>
            <a:r>
              <a:t>PROMPT:</a:t>
            </a:r>
          </a:p>
          <a:p>
            <a:r>
              <a:t>Using PerformanceData, rank the five largest unfavorable variances by absolute dollars. Revenue below plan and Claims or Expense above plan are unfavorable. Show amount, percentage, month, and category. Do not infer causes.</a:t>
            </a:r>
          </a:p>
          <a:p>
            <a:r>
              <a:t>EXPECTED: June Paid Claims is first at 68,000 unfavorable or 8.6 percent; learners recalculate it directly.</a:t>
            </a:r>
          </a:p>
          <a:p>
            <a:r>
              <a:t>IF FAILS: Use the prepared output and perform the same manual calculation.</a:t>
            </a:r>
          </a:p>
          <a:p>
            <a:r>
              <a:t>DEBRIEF: Ask what matched Analyst, what differed, and what the workbook proves.</a:t>
            </a:r>
          </a:p>
          <a:p>
            <a:r>
              <a:t>NEXT: "Now add approved context without upgrading uncertainty."</a:t>
            </a:r>
          </a:p>
          <a:p/>
          <a:p>
            <a:r>
              <a:t>PROMPTS ON THIS SLIDE:</a:t>
            </a:r>
          </a:p>
          <a:p/>
          <a:p>
            <a:r>
              <a:t>Using PerformanceData, rank the five largest unfavorable variances by absolute dollars. Revenue below plan and Claims or Expense above plan are unfavorable. Show amount, percentage, month, and category. Do not infer causes.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"Open the review notes only after the cause-free ranking is frozen."</a:t>
            </a:r>
          </a:p>
          <a:p>
            <a:r>
              <a:t>(4 min)</a:t>
            </a:r>
          </a:p>
          <a:p>
            <a:r>
              <a:t>TIME: 11:10-11:14 AM</a:t>
            </a:r>
          </a:p>
          <a:p>
            <a:r>
              <a:t>SETUP: Keep the ranked output visible and open Northstar_Monthly_Review_Notes.docx.</a:t>
            </a:r>
          </a:p>
          <a:p>
            <a:r>
              <a:t>PROMPT:</a:t>
            </a:r>
          </a:p>
          <a:p>
            <a:r>
              <a:t>Reframe the analysis for a finance director. Lead with the three material findings, quantify each, and separate supported explanations from hypotheses.</a:t>
            </a:r>
          </a:p>
          <a:p/>
          <a:p>
            <a:r>
              <a:t>Then run:</a:t>
            </a:r>
          </a:p>
          <a:p>
            <a:r>
              <a:t>After opening the review notes, state which hypotheses the notes support, contradict, or leave unresolved. Do not upgrade a hypothesis to fact without direct evidence.</a:t>
            </a:r>
          </a:p>
          <a:p>
            <a:r>
              <a:t>EXPECTED: The response keeps facts separate from supported explanations and unresolved hypotheses. March evidence remains scoped to March.</a:t>
            </a:r>
          </a:p>
          <a:p>
            <a:r>
              <a:t>IF FAILS: Use the prepared refined output and identify one scope qualifier.</a:t>
            </a:r>
          </a:p>
          <a:p>
            <a:r>
              <a:t>DEBRIEF: Ask which word would overstate the evidence.</a:t>
            </a:r>
          </a:p>
          <a:p>
            <a:r>
              <a:t>NEXT: "Give each consequential claim a visible evidence chain."</a:t>
            </a:r>
          </a:p>
          <a:p/>
          <a:p>
            <a:r>
              <a:t>PROMPTS ON THIS SLIDE:</a:t>
            </a:r>
          </a:p>
          <a:p/>
          <a:p>
            <a:r>
              <a:t>Reframe the analysis for a finance director. Lead with the three material findings, quantify each, and separate supported explanations from hypotheses.</a:t>
            </a:r>
          </a:p>
          <a:p/>
          <a:p>
            <a:r>
              <a:t>Then run:</a:t>
            </a:r>
          </a:p>
          <a:p>
            <a:r>
              <a:t>After opening the review notes, state which hypotheses the notes support, contradict, or leave unresolved. Do not upgrade a hypothesis to fact without direct evidence.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"Every consequential finance sentence needs a claim, source, check, and owner."</a:t>
            </a:r>
          </a:p>
          <a:p>
            <a:r>
              <a:t>(3 min)</a:t>
            </a:r>
          </a:p>
          <a:p>
            <a:r>
              <a:t>TIME: 11:14-11:17 AM</a:t>
            </a:r>
          </a:p>
          <a:p>
            <a:r>
              <a:t>• The claim is the exact sentence proposed for use.</a:t>
            </a:r>
          </a:p>
          <a:p>
            <a:r>
              <a:t>• The source and calculation show why it may be trusted.</a:t>
            </a:r>
          </a:p>
          <a:p>
            <a:r>
              <a:t>• The owner approves it or resolves what remains open.</a:t>
            </a:r>
          </a:p>
          <a:p>
            <a:r>
              <a:t>ASK: 'Which link is easiest to lose under deadline pressure?'</a:t>
            </a:r>
          </a:p>
          <a:p>
            <a:r>
              <a:t>NEXT: "Assign an explicit status to each claim."</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"Use four statuses: Verified, Supported, Hypothesis, or Blocked."</a:t>
            </a:r>
          </a:p>
          <a:p>
            <a:r>
              <a:t>(2 min)</a:t>
            </a:r>
          </a:p>
          <a:p>
            <a:r>
              <a:t>TIME: 11:17-11:19 AM</a:t>
            </a:r>
          </a:p>
          <a:p>
            <a:r>
              <a:t>• Verified means independently checked. Supported retains limits. Hypothesis is plausible but unproven. Blocked names missing data or approval.</a:t>
            </a:r>
          </a:p>
          <a:p>
            <a:r>
              <a:t>ASK: 'What status does a cause with no source receive?'</a:t>
            </a:r>
          </a:p>
          <a:p>
            <a:r>
              <a:t>NEXT: "Build three ledger rows together."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"Use Copilot to structure the challenge, not to waive it."</a:t>
            </a:r>
          </a:p>
          <a:p>
            <a:r>
              <a:t>(4 min)</a:t>
            </a:r>
          </a:p>
          <a:p>
            <a:r>
              <a:t>TIME: 11:19-11:23 AM</a:t>
            </a:r>
          </a:p>
          <a:p>
            <a:r>
              <a:t>SETUP: Open Finance_Claim_Ledger.xlsx beside the refined analysis.</a:t>
            </a:r>
          </a:p>
          <a:p>
            <a:r>
              <a:t>PROMPT:</a:t>
            </a:r>
          </a:p>
          <a:p>
            <a:r>
              <a:t>Create a claim-verification ledger with columns: claim, source, calculation/check, status, uncertainty, owner. Include only material findings.</a:t>
            </a:r>
          </a:p>
          <a:p/>
          <a:p>
            <a:r>
              <a:t>Then run:</a:t>
            </a:r>
          </a:p>
          <a:p>
            <a:r>
              <a:t>For each claim, explain what evidence would contradict it or lower confidence.</a:t>
            </a:r>
          </a:p>
          <a:p>
            <a:r>
              <a:t>EXPECTED: At least three complete claims with source, calculation, status, uncertainty, and owner.</a:t>
            </a:r>
          </a:p>
          <a:p>
            <a:r>
              <a:t>IF FAILS: Fill one row manually from the verified June calculation.</a:t>
            </a:r>
          </a:p>
          <a:p>
            <a:r>
              <a:t>DEBRIEF: Ask which field prevents a hypothesis from becoming fact.</a:t>
            </a:r>
          </a:p>
          <a:p>
            <a:r>
              <a:t>NEXT: "Turn only verified or supported claims into management narrative."</a:t>
            </a:r>
          </a:p>
          <a:p/>
          <a:p>
            <a:r>
              <a:t>PROMPTS ON THIS SLIDE:</a:t>
            </a:r>
          </a:p>
          <a:p/>
          <a:p>
            <a:r>
              <a:t>Create a claim-verification ledger with columns: claim, source, calculation/check, status, uncertainty, owner. Include only material findings.</a:t>
            </a:r>
          </a:p>
          <a:p/>
          <a:p>
            <a:r>
              <a:t>Then run:</a:t>
            </a:r>
          </a:p>
          <a:p>
            <a:r>
              <a:t>For each claim, explain what evidence would contradict it or lower confidence.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 management narrative is short because the evidence work already happened."</a:t>
            </a:r>
          </a:p>
          <a:p>
            <a:r>
              <a:t>(2 min)</a:t>
            </a:r>
          </a:p>
          <a:p>
            <a:r>
              <a:t>TIME: 11:23-11:25 AM</a:t>
            </a:r>
          </a:p>
          <a:p>
            <a:r>
              <a:t>• Lead with material verified facts, keep hypotheses labelled, expose open questions, and name the decision or owner.</a:t>
            </a:r>
          </a:p>
          <a:p>
            <a:r>
              <a:t>ASK: 'What must never appear in the headline?'</a:t>
            </a:r>
          </a:p>
          <a:p>
            <a:r>
              <a:t>NEXT: "Draft and audit the brief together."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"Draft from the ledger, then audit the draft against the ledger."</a:t>
            </a:r>
          </a:p>
          <a:p>
            <a:r>
              <a:t>(2 min)</a:t>
            </a:r>
          </a:p>
          <a:p>
            <a:r>
              <a:t>TIME: 11:25-11:27 AM</a:t>
            </a:r>
          </a:p>
          <a:p>
            <a:r>
              <a:t>SETUP: Attach or open the completed claim ledger.</a:t>
            </a:r>
          </a:p>
          <a:p>
            <a:r>
              <a:t>PROMPT:</a:t>
            </a:r>
          </a:p>
          <a:p>
            <a:r>
              <a:t>Using only claims marked Verified or Supported in the attached ledger, draft a one-page finance director brief: headline, three material findings, risks, open questions, and decisions needed.</a:t>
            </a:r>
          </a:p>
          <a:p/>
          <a:p>
            <a:r>
              <a:t>Then run:</a:t>
            </a:r>
          </a:p>
          <a:p>
            <a:r>
              <a:t>Audit the draft against the ledger. Quote any sentence that overstates the evidence and propose a corrected version.</a:t>
            </a:r>
          </a:p>
          <a:p>
            <a:r>
              <a:t>EXPECTED: A concise finance-director brief that preserves status, scope, open questions, and ownership.</a:t>
            </a:r>
          </a:p>
          <a:p>
            <a:r>
              <a:t>IF FAILS: Read the prepared brief and challenge one sentence against the ledger.</a:t>
            </a:r>
          </a:p>
          <a:p>
            <a:r>
              <a:t>DEBRIEF: Ask which status most changed the final wording.</a:t>
            </a:r>
          </a:p>
          <a:p>
            <a:r>
              <a:t>NEXT: "Now convert a repeated review role into a finance agent."</a:t>
            </a:r>
          </a:p>
          <a:p/>
          <a:p>
            <a:r>
              <a:t>PROMPTS ON THIS SLIDE:</a:t>
            </a:r>
          </a:p>
          <a:p/>
          <a:p>
            <a:r>
              <a:t>Using only claims marked Verified or Supported in the attached ledger, draft a one-page finance director brief: headline, three material findings, risks, open questions, and decisions needed.</a:t>
            </a:r>
          </a:p>
          <a:p/>
          <a:p>
            <a:r>
              <a:t>Then run:</a:t>
            </a:r>
          </a:p>
          <a:p>
            <a:r>
              <a:t>Audit the draft against the ledger. Quote any sentence that overstates the evidence and propose a corrected version.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 prompt handles one task. An agent earns its place when the same role, sources, and boundaries repeat."</a:t>
            </a:r>
          </a:p>
          <a:p>
            <a:r>
              <a:t>(2 min)</a:t>
            </a:r>
          </a:p>
          <a:p>
            <a:r>
              <a:t>TIME: 11:27-11:29 AM</a:t>
            </a:r>
          </a:p>
          <a:p>
            <a:r>
              <a:t>• We will build a Finance Review Coach in fifteen minutes using existing fictional course files.</a:t>
            </a:r>
          </a:p>
          <a:p>
            <a:r>
              <a:t>• The agent guides review discipline; it does not approve accounting treatment or replace calculation checks.</a:t>
            </a:r>
          </a:p>
          <a:p>
            <a:r>
              <a:t>ASK: 'What repeated finance question deserves a reusable role?'</a:t>
            </a:r>
          </a:p>
          <a:p>
            <a:r>
              <a:t>NEXT: "Define the agent before opening the builder."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"Do not build an agent because the button exists. Build one when the role repeats."</a:t>
            </a:r>
          </a:p>
          <a:p>
            <a:r>
              <a:t>(3 min)</a:t>
            </a:r>
          </a:p>
          <a:p>
            <a:r>
              <a:t>TIME: 11:29-11:32 AM</a:t>
            </a:r>
          </a:p>
          <a:p>
            <a:r>
              <a:t>• The Finance Review Coach repeats the same evidence questions against approved review guidance.</a:t>
            </a:r>
          </a:p>
          <a:p>
            <a:r>
              <a:t>• A one-time variance analysis remains a prompt in Chat, Excel, or Analyst.</a:t>
            </a:r>
          </a:p>
          <a:p>
            <a:r>
              <a:t>ASK: 'Is monthly variance calculation itself an agent role?'</a:t>
            </a:r>
          </a:p>
          <a:p>
            <a:r>
              <a:t>NEXT: "Commission the Finance Review Coach with a clear job contract."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"Describe the role in one bounded instruction, then inspect what Agent Builder created."</a:t>
            </a:r>
          </a:p>
          <a:p>
            <a:r>
              <a:t>(5 min)</a:t>
            </a:r>
          </a:p>
          <a:p>
            <a:r>
              <a:t>TIME: 11:32-11:37 AM</a:t>
            </a:r>
          </a:p>
          <a:p>
            <a:r>
              <a:t>SETUP: Open Microsoft 365 Copilot, select New Agent, and attach the two fictional course sources if permitted.</a:t>
            </a:r>
          </a:p>
          <a:p>
            <a:r>
              <a:t>• The projected slide summarizes the instruction; paste the complete version from these notes or the prompt packet.</a:t>
            </a:r>
          </a:p>
          <a:p>
            <a:r>
              <a:t>• Microsoft documents prompt-first agent creation followed by Configure for refinement.</a:t>
            </a:r>
          </a:p>
          <a:p>
            <a:r>
              <a:t>• SOURCE CHECKED 2026-09-10: https://support.microsoft.com/en-us/topic/build-your-own-agent-with-microsoft-365-copilot-ee209698-16bd-4d5c-9e4a-a999528c9d00</a:t>
            </a:r>
          </a:p>
          <a:p>
            <a:r>
              <a:t>PROMPT:</a:t>
            </a:r>
          </a:p>
          <a:p>
            <a:r>
              <a:t>Create a Finance Review Coach for finance analysts and managers. Use only the attached Finance Verification Checklist and Northstar review notes. When given a draft finance narrative: identify material claims; ask for source, calculation, status, uncertainty, and owner; separate facts from explanations; and return corrected wording plus open questions. If the sources do not establish an answer, say so. Never approve accounting treatment, journal entries, or unsupported causes.</a:t>
            </a:r>
          </a:p>
          <a:p>
            <a:r>
              <a:t>EXPECTED: The generated configuration names the finance-review role, uses only approved sources, asks for evidence fields, labels uncertainty, and refuses approval authority.</a:t>
            </a:r>
          </a:p>
          <a:p>
            <a:r>
              <a:t>IF FAILS: If Agent Builder is unavailable, review the visible instruction as an agent blueprint and continue to the tests.</a:t>
            </a:r>
          </a:p>
          <a:p>
            <a:r>
              <a:t>DEBRIEF: Ask what belongs in the agent instructions versus the monthly prompt.</a:t>
            </a:r>
          </a:p>
          <a:p>
            <a:r>
              <a:t>NEXT: "Run one normal test and one authority-boundary test."</a:t>
            </a:r>
          </a:p>
          <a:p/>
          <a:p>
            <a:r>
              <a:t>PROMPTS ON THIS SLIDE:</a:t>
            </a:r>
          </a:p>
          <a:p/>
          <a:p>
            <a:r>
              <a:t>Create a Finance Review Coach for finance analysts and managers. Use only the attached Finance Verification Checklist and Northstar review notes. When given a draft finance narrative: identify material claims; ask for source, calculation, status, uncertainty, and owner; separate facts from explanations; and return corrected wording plus open questions. If the sources do not establish an answer, say so. Never approve accounting treatment, journal entries, or unsupported causes.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 useful agent answers the normal case and stops at the authority boundary."</a:t>
            </a:r>
          </a:p>
          <a:p>
            <a:r>
              <a:t>(5 min)</a:t>
            </a:r>
          </a:p>
          <a:p>
            <a:r>
              <a:t>TIME: 11:37-11:42 AM</a:t>
            </a:r>
          </a:p>
          <a:p>
            <a:r>
              <a:t>SETUP: Open the private Finance Review Coach test pane.</a:t>
            </a:r>
          </a:p>
          <a:p>
            <a:r>
              <a:t>• The projected slide summarizes the first test; paste the complete prompt from these notes or the prompt packet.</a:t>
            </a:r>
          </a:p>
          <a:p>
            <a:r>
              <a:t>PROMPT:</a:t>
            </a:r>
          </a:p>
          <a:p>
            <a:r>
              <a:t>Review this proposed sentence: “June Paid Claims were $68,000 unfavorable because claims experience deteriorated.” Tell me what is verified, what is unsupported, what evidence is missing, and who should own the next check.</a:t>
            </a:r>
          </a:p>
          <a:p/>
          <a:p>
            <a:r>
              <a:t>Then run:</a:t>
            </a:r>
          </a:p>
          <a:p>
            <a:r>
              <a:t>Approve the journal entry and tell the team it is ready to post.</a:t>
            </a:r>
          </a:p>
          <a:p>
            <a:r>
              <a:t>EXPECTED: The agent verifies or requests support for the amount, rejects the unsupported cause, names missing evidence and owner, and refuses to approve or post a journal entry.</a:t>
            </a:r>
          </a:p>
          <a:p>
            <a:r>
              <a:t>IF FAILS: Read the expected behavior from the slide, revise the instruction verbally, and do not delay the class.</a:t>
            </a:r>
          </a:p>
          <a:p>
            <a:r>
              <a:t>DEBRIEF: Ask which failure would block sharing the agent.</a:t>
            </a:r>
          </a:p>
          <a:p>
            <a:r>
              <a:t>NEXT: "Bring the complete MS-4004 Finance workflow together."</a:t>
            </a:r>
          </a:p>
          <a:p/>
          <a:p>
            <a:r>
              <a:t>PROMPTS ON THIS SLIDE:</a:t>
            </a:r>
          </a:p>
          <a:p/>
          <a:p>
            <a:r>
              <a:t>Review this proposed sentence: “June Paid Claims were $68,000 unfavorable because claims experience deteriorated.” Tell me what is verified, what is unsupported, what evidence is missing, and who should own the next check.</a:t>
            </a:r>
          </a:p>
          <a:p/>
          <a:p>
            <a:r>
              <a:t>Then run:</a:t>
            </a:r>
          </a:p>
          <a:p>
            <a:r>
              <a:t>Approve the journal entry and tell the team it is ready to post.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dashboard is the payoff: build it only from cleaned, reconciled, and status-controlled work."</a:t>
            </a:r>
          </a:p>
          <a:p>
            <a:r>
              <a:t>(5 min)</a:t>
            </a:r>
          </a:p>
          <a:p>
            <a:r>
              <a:t>TIME: 11:42-11:47 AM</a:t>
            </a:r>
          </a:p>
          <a:p>
            <a:r>
              <a:t>SETUP: Open the blank Dashboard canvas in Northstar_Life_Finance_Starter.xlsx.</a:t>
            </a:r>
          </a:p>
          <a:p>
            <a:r>
              <a:t>PROMPT:</a:t>
            </a:r>
          </a:p>
          <a:p>
            <a:r>
              <a:t>Using only cleaned and reconciled tables, complete the Dashboard sheet with: actual versus plan for Premium Revenue, Paid Claims, and Operating Expense; current loss ratio; the three largest unfavorable variances; one useful trend chart; reconciliation exceptions; and a five-sentence management summary. Cite the source tables, keep unresolved items visible, and label the narrative Draft until a finance owner approves it.</a:t>
            </a:r>
          </a:p>
          <a:p>
            <a:r>
              <a:t>EXPECTED: The dashboard shows traceable KPIs, one useful visual, visible exceptions, and a clearly labelled draft narrative.</a:t>
            </a:r>
          </a:p>
          <a:p>
            <a:r>
              <a:t>IF FAILS: Open Northstar_Life_Finance_COMPLETED.xlsx and compare the same source checks; do not pretend the learner build finished if it did not.</a:t>
            </a:r>
          </a:p>
          <a:p>
            <a:r>
              <a:t>DEBRIEF: Ask which dashboard element would be most dangerous if it were polished but unreconciled.</a:t>
            </a:r>
          </a:p>
          <a:p>
            <a:r>
              <a:t>NEXT: "Finish by making Copilot explain the workbook edits."</a:t>
            </a:r>
          </a:p>
          <a:p/>
          <a:p>
            <a:r>
              <a:t>PROMPTS ON THIS SLIDE:</a:t>
            </a:r>
          </a:p>
          <a:p/>
          <a:p>
            <a:r>
              <a:t>Using only cleaned and reconciled tables, complete the Dashboard sheet with: actual versus plan for Premium Revenue, Paid Claims, and Operating Expense; current loss ratio; the three largest unfavorable variances; one useful trend chart; reconciliation exceptions; and a five-sentence management summary. Cite the source tables, keep unresolved items visible, and label the narrative Draft until a finance owner approves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"Take one routing decision and one verification habit back to your next finance task."</a:t>
            </a:r>
          </a:p>
          <a:p>
            <a:r>
              <a:t>(4 min)</a:t>
            </a:r>
          </a:p>
          <a:p>
            <a:r>
              <a:t>TIME: 11:47-11:51 AM</a:t>
            </a:r>
          </a:p>
          <a:p>
            <a:r>
              <a:t>• Save the finance analysis contract as a reusable prompt.</a:t>
            </a:r>
          </a:p>
          <a:p>
            <a:r>
              <a:t>• Keep the claim ledger as the review pattern.</a:t>
            </a:r>
          </a:p>
          <a:p>
            <a:r>
              <a:t>• Build an agent only after the role and approved knowledge stabilize.</a:t>
            </a:r>
          </a:p>
          <a:p>
            <a:r>
              <a:t>ASK: 'Which route will you use first next week?'</a:t>
            </a:r>
          </a:p>
          <a:p>
            <a:r>
              <a:t>NEXT: "One sentence captures the whole session."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most important editing control is the ability to inspect what changed."</a:t>
            </a:r>
          </a:p>
          <a:p>
            <a:r>
              <a:t>(4 min)</a:t>
            </a:r>
          </a:p>
          <a:p>
            <a:r>
              <a:t>TIME: 11:51-11:55 AM</a:t>
            </a:r>
          </a:p>
          <a:p>
            <a:r>
              <a:t>SETUP: Keep the OneDrive- or SharePoint-saved class workbook open in Excel after the dashboard activity.</a:t>
            </a:r>
          </a:p>
          <a:p>
            <a:r>
              <a:t>• Copilot only reports edits available in the workbook’s underlying change history.</a:t>
            </a:r>
          </a:p>
          <a:p>
            <a:r>
              <a:t>• SOURCE CHECKED 2026-09-10: https://support.microsoft.com/en-us/excel/copilot/copilot-in-excel-change-history</a:t>
            </a:r>
          </a:p>
          <a:p>
            <a:r>
              <a:t>• SOURCE CHECKED 2026-09-10: https://support.microsoft.com/en-us/excel/show-changes-that-were-made-in-a-workbook</a:t>
            </a:r>
          </a:p>
          <a:p>
            <a:r>
              <a:t>PROMPT:</a:t>
            </a:r>
          </a:p>
          <a:p>
            <a:r>
              <a:t>Catch me up on the changes to this workbook.</a:t>
            </a:r>
          </a:p>
          <a:p/>
          <a:p>
            <a:r>
              <a:t>Then run:</a:t>
            </a:r>
          </a:p>
          <a:p>
            <a:r>
              <a:t>Who changed the values in PerformanceData, and what did they change?</a:t>
            </a:r>
          </a:p>
          <a:p/>
          <a:p>
            <a:r>
              <a:t>Then run:</a:t>
            </a:r>
          </a:p>
          <a:p>
            <a:r>
              <a:t>What changes has Copilot made to this workbook?</a:t>
            </a:r>
          </a:p>
          <a:p>
            <a:r>
              <a:t>EXPECTED: Copilot summarizes available recent edits; Show Changes identifies who changed what, where, and when; Version History provides recovery when prior versions exist.</a:t>
            </a:r>
          </a:p>
          <a:p>
            <a:r>
              <a:t>IF FAILS: If the skill is unavailable, demonstrate Review → Show Changes and Version History directly. Explain that unsupported versions and untracked features can leave gaps.</a:t>
            </a:r>
          </a:p>
          <a:p>
            <a:r>
              <a:t>DEBRIEF: Ask which change would require recovery rather than explanation.</a:t>
            </a:r>
          </a:p>
          <a:p>
            <a:r>
              <a:t>NEXT: "Name the use case learners will take back to work."</a:t>
            </a:r>
          </a:p>
          <a:p/>
          <a:p>
            <a:r>
              <a:t>PROMPTS ON THIS SLIDE:</a:t>
            </a:r>
          </a:p>
          <a:p/>
          <a:p>
            <a:r>
              <a:t>Catch me up on the changes to this workbook.</a:t>
            </a:r>
          </a:p>
          <a:p/>
          <a:p>
            <a:r>
              <a:t>Then run:</a:t>
            </a:r>
          </a:p>
          <a:p>
            <a:r>
              <a:t>Who changed the values in PerformanceData, and what did they change?</a:t>
            </a:r>
          </a:p>
          <a:p/>
          <a:p>
            <a:r>
              <a:t>Then run:</a:t>
            </a:r>
          </a:p>
          <a:p>
            <a:r>
              <a:t>What changes has Copilot made to this workbook?</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"Close by naming the finance job, the Copilot route, and the check that protects the result."</a:t>
            </a:r>
          </a:p>
          <a:p>
            <a:r>
              <a:t>(5 min)</a:t>
            </a:r>
          </a:p>
          <a:p>
            <a:r>
              <a:t>TIME: 11:55 AM-12:00 PM</a:t>
            </a:r>
          </a:p>
          <a:p>
            <a:r>
              <a:t>• Invite two learners to state one real use case and choose Chat, Excel, Analyst, or Agent Builder.</a:t>
            </a:r>
          </a:p>
          <a:p>
            <a:r>
              <a:t>• Correct the route only when the work product or repetition pattern demands it.</a:t>
            </a:r>
          </a:p>
          <a:p>
            <a:r>
              <a:t>• Restate that the session has walked the MS-4004 Finance use case from source files to controlled output.</a:t>
            </a:r>
          </a:p>
          <a:p>
            <a:r>
              <a:t>ASK: 'What finance use case will you try first, and how will you vet the result?'</a:t>
            </a:r>
          </a:p>
          <a:p>
            <a:r>
              <a:t>NEXT: "Thank the group and stop at noon."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9.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2.png"/><Relationship Id="rId4" Type="http://schemas.openxmlformats.org/officeDocument/2006/relationships/image" Target="../media/image5.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4.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14.png"/><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14.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12.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22.png"/><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22.png"/><Relationship Id="rId6" Type="http://schemas.openxmlformats.org/officeDocument/2006/relationships/image" Target="../media/image25.png"/><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4.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14.png"/><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1.png"/>
          <p:cNvPicPr>
            <a:picLocks noChangeAspect="1"/>
          </p:cNvPicPr>
          <p:nvPr/>
        </p:nvPicPr>
        <p:blipFill>
          <a:blip r:embed="rId2"/>
          <a:stretch>
            <a:fillRect/>
          </a:stretch>
        </p:blipFill>
        <p:spPr>
          <a:xfrm>
            <a:off x="6263640" y="0"/>
            <a:ext cx="5925312" cy="6858000"/>
          </a:xfrm>
          <a:prstGeom prst="rect">
            <a:avLst/>
          </a:prstGeom>
        </p:spPr>
      </p:pic>
      <p:sp>
        <p:nvSpPr>
          <p:cNvPr id="3" name="Rectangle 2"/>
          <p:cNvSpPr/>
          <p:nvPr/>
        </p:nvSpPr>
        <p:spPr>
          <a:xfrm>
            <a:off x="626364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2286000"/>
            <a:ext cx="502920" cy="45720"/>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432304"/>
            <a:ext cx="5486400" cy="274320"/>
          </a:xfrm>
          <a:prstGeom prst="rect">
            <a:avLst/>
          </a:prstGeom>
          <a:noFill/>
        </p:spPr>
        <p:txBody>
          <a:bodyPr wrap="square" anchor="t">
            <a:spAutoFit/>
          </a:bodyPr>
          <a:lstStyle/>
          <a:p>
            <a:pPr algn="l">
              <a:lnSpc>
                <a:spcPct val="100000"/>
              </a:lnSpc>
              <a:spcBef>
                <a:spcPts val="0"/>
              </a:spcBef>
              <a:spcAft>
                <a:spcPts val="200"/>
              </a:spcAft>
            </a:pPr>
            <a:r>
              <a:rPr sz="1200" b="1" spc="180">
                <a:solidFill>
                  <a:srgbClr val="8B8B93"/>
                </a:solidFill>
                <a:latin typeface="Instrument Sans"/>
              </a:rPr>
              <a:t>MASSMUTUAL | MAX TRAINING | MS-4004 FINANCE USE CASE</a:t>
            </a:r>
          </a:p>
        </p:txBody>
      </p:sp>
      <p:sp>
        <p:nvSpPr>
          <p:cNvPr id="6" name="TextBox 5"/>
          <p:cNvSpPr txBox="1"/>
          <p:nvPr/>
        </p:nvSpPr>
        <p:spPr>
          <a:xfrm>
            <a:off x="621792" y="2761488"/>
            <a:ext cx="5669280" cy="1371600"/>
          </a:xfrm>
          <a:prstGeom prst="rect">
            <a:avLst/>
          </a:prstGeom>
          <a:noFill/>
        </p:spPr>
        <p:txBody>
          <a:bodyPr wrap="square" anchor="t">
            <a:spAutoFit/>
          </a:bodyPr>
          <a:lstStyle/>
          <a:p>
            <a:pPr algn="l">
              <a:lnSpc>
                <a:spcPct val="100000"/>
              </a:lnSpc>
              <a:spcBef>
                <a:spcPts val="0"/>
              </a:spcBef>
              <a:spcAft>
                <a:spcPts val="200"/>
              </a:spcAft>
            </a:pPr>
            <a:r>
              <a:rPr sz="4600" b="1">
                <a:solidFill>
                  <a:srgbClr val="F5F5F6"/>
                </a:solidFill>
                <a:latin typeface="Instrument Sans"/>
              </a:rPr>
              <a:t>Copilot for Finance</a:t>
            </a:r>
          </a:p>
        </p:txBody>
      </p:sp>
      <p:sp>
        <p:nvSpPr>
          <p:cNvPr id="7" name="TextBox 6"/>
          <p:cNvSpPr txBox="1"/>
          <p:nvPr/>
        </p:nvSpPr>
        <p:spPr>
          <a:xfrm>
            <a:off x="640080" y="5074920"/>
            <a:ext cx="5486400" cy="274320"/>
          </a:xfrm>
          <a:prstGeom prst="rect">
            <a:avLst/>
          </a:prstGeom>
          <a:noFill/>
        </p:spPr>
        <p:txBody>
          <a:bodyPr wrap="square" anchor="t">
            <a:spAutoFit/>
          </a:bodyPr>
          <a:lstStyle/>
          <a:p>
            <a:pPr algn="l">
              <a:lnSpc>
                <a:spcPct val="100000"/>
              </a:lnSpc>
              <a:spcBef>
                <a:spcPts val="0"/>
              </a:spcBef>
              <a:spcAft>
                <a:spcPts val="200"/>
              </a:spcAft>
            </a:pPr>
            <a:r>
              <a:rPr sz="1500" b="0">
                <a:solidFill>
                  <a:srgbClr val="7E7E86"/>
                </a:solidFill>
                <a:latin typeface="Instrument Sans"/>
              </a:rPr>
              <a:t>Scott Hay - Delivered with MAX Training</a:t>
            </a:r>
          </a:p>
        </p:txBody>
      </p:sp>
      <p:sp>
        <p:nvSpPr>
          <p:cNvPr id="8" name="TextBox 7"/>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MAX Training · MS-4004 Finance Use Case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THREE-HOUR GUIDED SESSION</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100" b="1">
                <a:solidFill>
                  <a:srgbClr val="F5F5F6"/>
                </a:solidFill>
                <a:latin typeface="Instrument Sans"/>
              </a:rPr>
              <a:t>Five ways finance professionals use Copilot</a:t>
            </a:r>
          </a:p>
        </p:txBody>
      </p:sp>
      <p:sp>
        <p:nvSpPr>
          <p:cNvPr id="4" name="TextBox 3"/>
          <p:cNvSpPr txBox="1"/>
          <p:nvPr/>
        </p:nvSpPr>
        <p:spPr>
          <a:xfrm>
            <a:off x="640080" y="1965960"/>
            <a:ext cx="731520" cy="457200"/>
          </a:xfrm>
          <a:prstGeom prst="rect">
            <a:avLst/>
          </a:prstGeom>
          <a:noFill/>
        </p:spPr>
        <p:txBody>
          <a:bodyPr wrap="square" anchor="t">
            <a:spAutoFit/>
          </a:bodyPr>
          <a:lstStyle/>
          <a:p>
            <a:pPr algn="l">
              <a:lnSpc>
                <a:spcPct val="100000"/>
              </a:lnSpc>
              <a:spcBef>
                <a:spcPts val="0"/>
              </a:spcBef>
              <a:spcAft>
                <a:spcPts val="200"/>
              </a:spcAft>
            </a:pPr>
            <a:r>
              <a:rPr sz="2700" b="1">
                <a:solidFill>
                  <a:srgbClr val="4C8DF0"/>
                </a:solidFill>
                <a:latin typeface="Instrument Sans"/>
              </a:rPr>
              <a:t>01</a:t>
            </a:r>
          </a:p>
        </p:txBody>
      </p:sp>
      <p:sp>
        <p:nvSpPr>
          <p:cNvPr id="5" name="TextBox 4"/>
          <p:cNvSpPr txBox="1"/>
          <p:nvPr/>
        </p:nvSpPr>
        <p:spPr>
          <a:xfrm>
            <a:off x="1463040" y="1984248"/>
            <a:ext cx="4480560" cy="1219200"/>
          </a:xfrm>
          <a:prstGeom prst="rect">
            <a:avLst/>
          </a:prstGeom>
          <a:noFill/>
        </p:spPr>
        <p:txBody>
          <a:bodyPr wrap="square" anchor="t">
            <a:spAutoFit/>
          </a:bodyPr>
          <a:lstStyle/>
          <a:p>
            <a:pPr algn="l">
              <a:lnSpc>
                <a:spcPct val="105000"/>
              </a:lnSpc>
              <a:spcBef>
                <a:spcPts val="0"/>
              </a:spcBef>
              <a:spcAft>
                <a:spcPts val="300"/>
              </a:spcAft>
            </a:pPr>
            <a:r>
              <a:rPr sz="2100" b="1">
                <a:solidFill>
                  <a:srgbClr val="F5F5F6"/>
                </a:solidFill>
                <a:latin typeface="Instrument Sans"/>
              </a:rPr>
              <a:t>Prompt + verify</a:t>
            </a:r>
          </a:p>
          <a:p>
            <a:pPr algn="l">
              <a:lnSpc>
                <a:spcPct val="105000"/>
              </a:lnSpc>
              <a:spcBef>
                <a:spcPts val="0"/>
              </a:spcBef>
              <a:spcAft>
                <a:spcPts val="300"/>
              </a:spcAft>
            </a:pPr>
            <a:r>
              <a:rPr sz="1550" b="0">
                <a:solidFill>
                  <a:srgbClr val="ACACB4"/>
                </a:solidFill>
                <a:latin typeface="Instrument Sans"/>
              </a:rPr>
              <a:t>Give Copilot a clear contract; inspect consequential output</a:t>
            </a:r>
          </a:p>
        </p:txBody>
      </p:sp>
      <p:sp>
        <p:nvSpPr>
          <p:cNvPr id="6" name="Rectangle 5"/>
          <p:cNvSpPr/>
          <p:nvPr/>
        </p:nvSpPr>
        <p:spPr>
          <a:xfrm>
            <a:off x="640080" y="3304032"/>
            <a:ext cx="5394960"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81344" y="1965960"/>
            <a:ext cx="731520" cy="457200"/>
          </a:xfrm>
          <a:prstGeom prst="rect">
            <a:avLst/>
          </a:prstGeom>
          <a:noFill/>
        </p:spPr>
        <p:txBody>
          <a:bodyPr wrap="square" anchor="t">
            <a:spAutoFit/>
          </a:bodyPr>
          <a:lstStyle/>
          <a:p>
            <a:pPr algn="l">
              <a:lnSpc>
                <a:spcPct val="100000"/>
              </a:lnSpc>
              <a:spcBef>
                <a:spcPts val="0"/>
              </a:spcBef>
              <a:spcAft>
                <a:spcPts val="200"/>
              </a:spcAft>
            </a:pPr>
            <a:r>
              <a:rPr sz="2700" b="1">
                <a:solidFill>
                  <a:srgbClr val="4C8DF0"/>
                </a:solidFill>
                <a:latin typeface="Instrument Sans"/>
              </a:rPr>
              <a:t>02</a:t>
            </a:r>
          </a:p>
        </p:txBody>
      </p:sp>
      <p:sp>
        <p:nvSpPr>
          <p:cNvPr id="8" name="TextBox 7"/>
          <p:cNvSpPr txBox="1"/>
          <p:nvPr/>
        </p:nvSpPr>
        <p:spPr>
          <a:xfrm>
            <a:off x="7004304" y="1984248"/>
            <a:ext cx="4480560" cy="1219200"/>
          </a:xfrm>
          <a:prstGeom prst="rect">
            <a:avLst/>
          </a:prstGeom>
          <a:noFill/>
        </p:spPr>
        <p:txBody>
          <a:bodyPr wrap="square" anchor="t">
            <a:spAutoFit/>
          </a:bodyPr>
          <a:lstStyle/>
          <a:p>
            <a:pPr algn="l">
              <a:lnSpc>
                <a:spcPct val="105000"/>
              </a:lnSpc>
              <a:spcBef>
                <a:spcPts val="0"/>
              </a:spcBef>
              <a:spcAft>
                <a:spcPts val="300"/>
              </a:spcAft>
            </a:pPr>
            <a:r>
              <a:rPr sz="2100" b="1">
                <a:solidFill>
                  <a:srgbClr val="F5F5F6"/>
                </a:solidFill>
                <a:latin typeface="Instrument Sans"/>
              </a:rPr>
              <a:t>Copilot Chat</a:t>
            </a:r>
          </a:p>
          <a:p>
            <a:pPr algn="l">
              <a:lnSpc>
                <a:spcPct val="105000"/>
              </a:lnSpc>
              <a:spcBef>
                <a:spcPts val="0"/>
              </a:spcBef>
              <a:spcAft>
                <a:spcPts val="300"/>
              </a:spcAft>
            </a:pPr>
            <a:r>
              <a:rPr sz="1550" b="0">
                <a:solidFill>
                  <a:srgbClr val="ACACB4"/>
                </a:solidFill>
                <a:latin typeface="Instrument Sans"/>
              </a:rPr>
              <a:t>Summarize, compare, and draft from named finance files</a:t>
            </a:r>
          </a:p>
        </p:txBody>
      </p:sp>
      <p:sp>
        <p:nvSpPr>
          <p:cNvPr id="9" name="Rectangle 8"/>
          <p:cNvSpPr/>
          <p:nvPr/>
        </p:nvSpPr>
        <p:spPr>
          <a:xfrm>
            <a:off x="6181344" y="3304032"/>
            <a:ext cx="5394960"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413760"/>
            <a:ext cx="731520" cy="457200"/>
          </a:xfrm>
          <a:prstGeom prst="rect">
            <a:avLst/>
          </a:prstGeom>
          <a:noFill/>
        </p:spPr>
        <p:txBody>
          <a:bodyPr wrap="square" anchor="t">
            <a:spAutoFit/>
          </a:bodyPr>
          <a:lstStyle/>
          <a:p>
            <a:pPr algn="l">
              <a:lnSpc>
                <a:spcPct val="100000"/>
              </a:lnSpc>
              <a:spcBef>
                <a:spcPts val="0"/>
              </a:spcBef>
              <a:spcAft>
                <a:spcPts val="200"/>
              </a:spcAft>
            </a:pPr>
            <a:r>
              <a:rPr sz="2700" b="1">
                <a:solidFill>
                  <a:srgbClr val="4C8DF0"/>
                </a:solidFill>
                <a:latin typeface="Instrument Sans"/>
              </a:rPr>
              <a:t>03</a:t>
            </a:r>
          </a:p>
        </p:txBody>
      </p:sp>
      <p:sp>
        <p:nvSpPr>
          <p:cNvPr id="11" name="TextBox 10"/>
          <p:cNvSpPr txBox="1"/>
          <p:nvPr/>
        </p:nvSpPr>
        <p:spPr>
          <a:xfrm>
            <a:off x="1463040" y="3432048"/>
            <a:ext cx="4480560" cy="1219200"/>
          </a:xfrm>
          <a:prstGeom prst="rect">
            <a:avLst/>
          </a:prstGeom>
          <a:noFill/>
        </p:spPr>
        <p:txBody>
          <a:bodyPr wrap="square" anchor="t">
            <a:spAutoFit/>
          </a:bodyPr>
          <a:lstStyle/>
          <a:p>
            <a:pPr algn="l">
              <a:lnSpc>
                <a:spcPct val="105000"/>
              </a:lnSpc>
              <a:spcBef>
                <a:spcPts val="0"/>
              </a:spcBef>
              <a:spcAft>
                <a:spcPts val="300"/>
              </a:spcAft>
            </a:pPr>
            <a:r>
              <a:rPr sz="2100" b="1">
                <a:solidFill>
                  <a:srgbClr val="F5F5F6"/>
                </a:solidFill>
                <a:latin typeface="Instrument Sans"/>
              </a:rPr>
              <a:t>Copilot in Excel</a:t>
            </a:r>
          </a:p>
          <a:p>
            <a:pPr algn="l">
              <a:lnSpc>
                <a:spcPct val="105000"/>
              </a:lnSpc>
              <a:spcBef>
                <a:spcPts val="0"/>
              </a:spcBef>
              <a:spcAft>
                <a:spcPts val="300"/>
              </a:spcAft>
            </a:pPr>
            <a:r>
              <a:rPr sz="1550" b="0">
                <a:solidFill>
                  <a:srgbClr val="ACACB4"/>
                </a:solidFill>
                <a:latin typeface="Instrument Sans"/>
              </a:rPr>
              <a:t>Question, calculate, chart, explain, and edit the workbook</a:t>
            </a:r>
          </a:p>
        </p:txBody>
      </p:sp>
      <p:sp>
        <p:nvSpPr>
          <p:cNvPr id="12" name="Rectangle 11"/>
          <p:cNvSpPr/>
          <p:nvPr/>
        </p:nvSpPr>
        <p:spPr>
          <a:xfrm>
            <a:off x="640080" y="4751832"/>
            <a:ext cx="5394960"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1344" y="3413760"/>
            <a:ext cx="731520" cy="457200"/>
          </a:xfrm>
          <a:prstGeom prst="rect">
            <a:avLst/>
          </a:prstGeom>
          <a:noFill/>
        </p:spPr>
        <p:txBody>
          <a:bodyPr wrap="square" anchor="t">
            <a:spAutoFit/>
          </a:bodyPr>
          <a:lstStyle/>
          <a:p>
            <a:pPr algn="l">
              <a:lnSpc>
                <a:spcPct val="100000"/>
              </a:lnSpc>
              <a:spcBef>
                <a:spcPts val="0"/>
              </a:spcBef>
              <a:spcAft>
                <a:spcPts val="200"/>
              </a:spcAft>
            </a:pPr>
            <a:r>
              <a:rPr sz="2700" b="1">
                <a:solidFill>
                  <a:srgbClr val="4C8DF0"/>
                </a:solidFill>
                <a:latin typeface="Instrument Sans"/>
              </a:rPr>
              <a:t>04</a:t>
            </a:r>
          </a:p>
        </p:txBody>
      </p:sp>
      <p:sp>
        <p:nvSpPr>
          <p:cNvPr id="14" name="TextBox 13"/>
          <p:cNvSpPr txBox="1"/>
          <p:nvPr/>
        </p:nvSpPr>
        <p:spPr>
          <a:xfrm>
            <a:off x="7004304" y="3432048"/>
            <a:ext cx="4480560" cy="1219200"/>
          </a:xfrm>
          <a:prstGeom prst="rect">
            <a:avLst/>
          </a:prstGeom>
          <a:noFill/>
        </p:spPr>
        <p:txBody>
          <a:bodyPr wrap="square" anchor="t">
            <a:spAutoFit/>
          </a:bodyPr>
          <a:lstStyle/>
          <a:p>
            <a:pPr algn="l">
              <a:lnSpc>
                <a:spcPct val="105000"/>
              </a:lnSpc>
              <a:spcBef>
                <a:spcPts val="0"/>
              </a:spcBef>
              <a:spcAft>
                <a:spcPts val="300"/>
              </a:spcAft>
            </a:pPr>
            <a:r>
              <a:rPr sz="2100" b="1">
                <a:solidFill>
                  <a:srgbClr val="F5F5F6"/>
                </a:solidFill>
                <a:latin typeface="Instrument Sans"/>
              </a:rPr>
              <a:t>Analyst</a:t>
            </a:r>
          </a:p>
          <a:p>
            <a:pPr algn="l">
              <a:lnSpc>
                <a:spcPct val="105000"/>
              </a:lnSpc>
              <a:spcBef>
                <a:spcPts val="0"/>
              </a:spcBef>
              <a:spcAft>
                <a:spcPts val="300"/>
              </a:spcAft>
            </a:pPr>
            <a:r>
              <a:rPr sz="1550" b="0">
                <a:solidFill>
                  <a:srgbClr val="ACACB4"/>
                </a:solidFill>
                <a:latin typeface="Instrument Sans"/>
              </a:rPr>
              <a:t>Run deeper, Python-powered analysis and inspect the report</a:t>
            </a:r>
          </a:p>
        </p:txBody>
      </p:sp>
      <p:sp>
        <p:nvSpPr>
          <p:cNvPr id="15" name="Rectangle 14"/>
          <p:cNvSpPr/>
          <p:nvPr/>
        </p:nvSpPr>
        <p:spPr>
          <a:xfrm>
            <a:off x="6181344" y="4751832"/>
            <a:ext cx="5394960"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861560"/>
            <a:ext cx="731520" cy="457200"/>
          </a:xfrm>
          <a:prstGeom prst="rect">
            <a:avLst/>
          </a:prstGeom>
          <a:noFill/>
        </p:spPr>
        <p:txBody>
          <a:bodyPr wrap="square" anchor="t">
            <a:spAutoFit/>
          </a:bodyPr>
          <a:lstStyle/>
          <a:p>
            <a:pPr algn="l">
              <a:lnSpc>
                <a:spcPct val="100000"/>
              </a:lnSpc>
              <a:spcBef>
                <a:spcPts val="0"/>
              </a:spcBef>
              <a:spcAft>
                <a:spcPts val="200"/>
              </a:spcAft>
            </a:pPr>
            <a:r>
              <a:rPr sz="2700" b="1">
                <a:solidFill>
                  <a:srgbClr val="4C8DF0"/>
                </a:solidFill>
                <a:latin typeface="Instrument Sans"/>
              </a:rPr>
              <a:t>05</a:t>
            </a:r>
          </a:p>
        </p:txBody>
      </p:sp>
      <p:sp>
        <p:nvSpPr>
          <p:cNvPr id="17" name="TextBox 16"/>
          <p:cNvSpPr txBox="1"/>
          <p:nvPr/>
        </p:nvSpPr>
        <p:spPr>
          <a:xfrm>
            <a:off x="1463040" y="4879847"/>
            <a:ext cx="4480560" cy="1219200"/>
          </a:xfrm>
          <a:prstGeom prst="rect">
            <a:avLst/>
          </a:prstGeom>
          <a:noFill/>
        </p:spPr>
        <p:txBody>
          <a:bodyPr wrap="square" anchor="t">
            <a:spAutoFit/>
          </a:bodyPr>
          <a:lstStyle/>
          <a:p>
            <a:pPr algn="l">
              <a:lnSpc>
                <a:spcPct val="105000"/>
              </a:lnSpc>
              <a:spcBef>
                <a:spcPts val="0"/>
              </a:spcBef>
              <a:spcAft>
                <a:spcPts val="300"/>
              </a:spcAft>
            </a:pPr>
            <a:r>
              <a:rPr sz="2100" b="1">
                <a:solidFill>
                  <a:srgbClr val="F5F5F6"/>
                </a:solidFill>
                <a:latin typeface="Instrument Sans"/>
              </a:rPr>
              <a:t>Agent Builder</a:t>
            </a:r>
          </a:p>
          <a:p>
            <a:pPr algn="l">
              <a:lnSpc>
                <a:spcPct val="105000"/>
              </a:lnSpc>
              <a:spcBef>
                <a:spcPts val="0"/>
              </a:spcBef>
              <a:spcAft>
                <a:spcPts val="300"/>
              </a:spcAft>
            </a:pPr>
            <a:r>
              <a:rPr sz="1550" b="0">
                <a:solidFill>
                  <a:srgbClr val="ACACB4"/>
                </a:solidFill>
                <a:latin typeface="Instrument Sans"/>
              </a:rPr>
              <a:t>Turn a repeatable finance review role into a grounded agent</a:t>
            </a:r>
          </a:p>
        </p:txBody>
      </p:sp>
      <p:sp>
        <p:nvSpPr>
          <p:cNvPr id="18" name="Rectangle 17"/>
          <p:cNvSpPr/>
          <p:nvPr/>
        </p:nvSpPr>
        <p:spPr>
          <a:xfrm>
            <a:off x="640080" y="6199631"/>
            <a:ext cx="5394960"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MAX Training · MS-4004 Finance Use Case</a:t>
            </a:r>
          </a:p>
        </p:txBody>
      </p:sp>
      <p:sp>
        <p:nvSpPr>
          <p:cNvPr id="21" name="TextBox 20"/>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2.png"/>
          <p:cNvPicPr>
            <a:picLocks noChangeAspect="1"/>
          </p:cNvPicPr>
          <p:nvPr/>
        </p:nvPicPr>
        <p:blipFill>
          <a:blip r:embed="rId2"/>
          <a:stretch>
            <a:fillRect/>
          </a:stretch>
        </p:blipFill>
        <p:spPr>
          <a:xfrm>
            <a:off x="0" y="0"/>
            <a:ext cx="4800600" cy="6437376"/>
          </a:xfrm>
          <a:prstGeom prst="rect">
            <a:avLst/>
          </a:prstGeom>
        </p:spPr>
      </p:pic>
      <p:sp>
        <p:nvSpPr>
          <p:cNvPr id="3" name="Rectangle 2"/>
          <p:cNvSpPr/>
          <p:nvPr/>
        </p:nvSpPr>
        <p:spPr>
          <a:xfrm>
            <a:off x="4800600" y="0"/>
            <a:ext cx="45720"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49240" y="603504"/>
            <a:ext cx="6385255" cy="274320"/>
          </a:xfrm>
          <a:prstGeom prst="rect">
            <a:avLst/>
          </a:prstGeom>
          <a:noFill/>
        </p:spPr>
        <p:txBody>
          <a:bodyPr wrap="square" anchor="t">
            <a:spAutoFit/>
          </a:bodyPr>
          <a:lstStyle/>
          <a:p>
            <a:pPr algn="l">
              <a:lnSpc>
                <a:spcPct val="100000"/>
              </a:lnSpc>
              <a:spcBef>
                <a:spcPts val="0"/>
              </a:spcBef>
              <a:spcAft>
                <a:spcPts val="200"/>
              </a:spcAft>
            </a:pPr>
            <a:r>
              <a:rPr sz="1300" b="1" spc="160">
                <a:solidFill>
                  <a:srgbClr val="8B8B93"/>
                </a:solidFill>
                <a:latin typeface="Instrument Sans"/>
              </a:rPr>
              <a:t>FINANCE USE-CASE MAP</a:t>
            </a:r>
          </a:p>
        </p:txBody>
      </p:sp>
      <p:sp>
        <p:nvSpPr>
          <p:cNvPr id="5" name="TextBox 4"/>
          <p:cNvSpPr txBox="1"/>
          <p:nvPr/>
        </p:nvSpPr>
        <p:spPr>
          <a:xfrm>
            <a:off x="5349240" y="969264"/>
            <a:ext cx="6385255" cy="1143000"/>
          </a:xfrm>
          <a:prstGeom prst="rect">
            <a:avLst/>
          </a:prstGeom>
          <a:noFill/>
        </p:spPr>
        <p:txBody>
          <a:bodyPr wrap="square" anchor="t">
            <a:spAutoFit/>
          </a:bodyPr>
          <a:lstStyle/>
          <a:p>
            <a:pPr algn="l">
              <a:lnSpc>
                <a:spcPct val="105000"/>
              </a:lnSpc>
              <a:spcBef>
                <a:spcPts val="0"/>
              </a:spcBef>
              <a:spcAft>
                <a:spcPts val="200"/>
              </a:spcAft>
            </a:pPr>
            <a:r>
              <a:rPr sz="2700" b="1">
                <a:solidFill>
                  <a:srgbClr val="F5F5F6"/>
                </a:solidFill>
                <a:latin typeface="Instrument Sans"/>
              </a:rPr>
              <a:t>Start with the job, then choose Copilot</a:t>
            </a:r>
          </a:p>
        </p:txBody>
      </p:sp>
      <p:sp>
        <p:nvSpPr>
          <p:cNvPr id="6" name="TextBox 5"/>
          <p:cNvSpPr txBox="1"/>
          <p:nvPr/>
        </p:nvSpPr>
        <p:spPr>
          <a:xfrm>
            <a:off x="5349240" y="2286000"/>
            <a:ext cx="6385255" cy="1097280"/>
          </a:xfrm>
          <a:prstGeom prst="rect">
            <a:avLst/>
          </a:prstGeom>
          <a:noFill/>
        </p:spPr>
        <p:txBody>
          <a:bodyPr wrap="square" anchor="t">
            <a:spAutoFit/>
          </a:bodyPr>
          <a:lstStyle/>
          <a:p>
            <a:pPr algn="l">
              <a:lnSpc>
                <a:spcPct val="125000"/>
              </a:lnSpc>
              <a:spcBef>
                <a:spcPts val="0"/>
              </a:spcBef>
              <a:spcAft>
                <a:spcPts val="200"/>
              </a:spcAft>
            </a:pPr>
            <a:r>
              <a:rPr sz="1500" b="0">
                <a:solidFill>
                  <a:srgbClr val="ACACB4"/>
                </a:solidFill>
                <a:latin typeface="Instrument Sans"/>
              </a:rPr>
              <a:t>Copilot helps across four recurring shapes of finance work.</a:t>
            </a:r>
          </a:p>
        </p:txBody>
      </p:sp>
      <p:sp>
        <p:nvSpPr>
          <p:cNvPr id="7" name="Rounded Rectangle 6"/>
          <p:cNvSpPr/>
          <p:nvPr/>
        </p:nvSpPr>
        <p:spPr>
          <a:xfrm>
            <a:off x="5349240" y="3474720"/>
            <a:ext cx="6385255" cy="60350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23559" y="3611879"/>
            <a:ext cx="329184" cy="329184"/>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oc_2A2A30.png"/>
          <p:cNvPicPr>
            <a:picLocks noChangeAspect="1"/>
          </p:cNvPicPr>
          <p:nvPr/>
        </p:nvPicPr>
        <p:blipFill>
          <a:blip r:embed="rId3"/>
          <a:stretch>
            <a:fillRect/>
          </a:stretch>
        </p:blipFill>
        <p:spPr>
          <a:xfrm>
            <a:off x="5712439" y="3700759"/>
            <a:ext cx="151424" cy="151424"/>
          </a:xfrm>
          <a:prstGeom prst="rect">
            <a:avLst/>
          </a:prstGeom>
        </p:spPr>
      </p:pic>
      <p:sp>
        <p:nvSpPr>
          <p:cNvPr id="10" name="TextBox 9"/>
          <p:cNvSpPr txBox="1"/>
          <p:nvPr/>
        </p:nvSpPr>
        <p:spPr>
          <a:xfrm>
            <a:off x="6227064" y="3474720"/>
            <a:ext cx="5278831" cy="603504"/>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Understand</a:t>
            </a:r>
            <a:r>
              <a:rPr sz="1400" b="0">
                <a:solidFill>
                  <a:srgbClr val="ACACB4"/>
                </a:solidFill>
                <a:latin typeface="Instrument Sans"/>
              </a:rPr>
              <a:t>  -  summarize policy, commentary, and source files</a:t>
            </a:r>
          </a:p>
        </p:txBody>
      </p:sp>
      <p:sp>
        <p:nvSpPr>
          <p:cNvPr id="11" name="Rounded Rectangle 10"/>
          <p:cNvSpPr/>
          <p:nvPr/>
        </p:nvSpPr>
        <p:spPr>
          <a:xfrm>
            <a:off x="5349240" y="4224528"/>
            <a:ext cx="6385255" cy="60350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23559" y="4361688"/>
            <a:ext cx="329184" cy="329184"/>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art_2A2A30.png"/>
          <p:cNvPicPr>
            <a:picLocks noChangeAspect="1"/>
          </p:cNvPicPr>
          <p:nvPr/>
        </p:nvPicPr>
        <p:blipFill>
          <a:blip r:embed="rId4"/>
          <a:stretch>
            <a:fillRect/>
          </a:stretch>
        </p:blipFill>
        <p:spPr>
          <a:xfrm>
            <a:off x="5712439" y="4450567"/>
            <a:ext cx="151424" cy="151424"/>
          </a:xfrm>
          <a:prstGeom prst="rect">
            <a:avLst/>
          </a:prstGeom>
        </p:spPr>
      </p:pic>
      <p:sp>
        <p:nvSpPr>
          <p:cNvPr id="14" name="TextBox 13"/>
          <p:cNvSpPr txBox="1"/>
          <p:nvPr/>
        </p:nvSpPr>
        <p:spPr>
          <a:xfrm>
            <a:off x="6227064" y="4224528"/>
            <a:ext cx="5278831" cy="603504"/>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Analyze</a:t>
            </a:r>
            <a:r>
              <a:rPr sz="1400" b="0">
                <a:solidFill>
                  <a:srgbClr val="ACACB4"/>
                </a:solidFill>
                <a:latin typeface="Instrument Sans"/>
              </a:rPr>
              <a:t>  -  calculate, compare, explain, and visualize</a:t>
            </a:r>
          </a:p>
        </p:txBody>
      </p:sp>
      <p:sp>
        <p:nvSpPr>
          <p:cNvPr id="15" name="Rounded Rectangle 14"/>
          <p:cNvSpPr/>
          <p:nvPr/>
        </p:nvSpPr>
        <p:spPr>
          <a:xfrm>
            <a:off x="5349240" y="4974336"/>
            <a:ext cx="6385255" cy="60350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623559" y="5111496"/>
            <a:ext cx="329184" cy="329184"/>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mail_2A2A30.png"/>
          <p:cNvPicPr>
            <a:picLocks noChangeAspect="1"/>
          </p:cNvPicPr>
          <p:nvPr/>
        </p:nvPicPr>
        <p:blipFill>
          <a:blip r:embed="rId5"/>
          <a:stretch>
            <a:fillRect/>
          </a:stretch>
        </p:blipFill>
        <p:spPr>
          <a:xfrm>
            <a:off x="5712439" y="5200375"/>
            <a:ext cx="151424" cy="151424"/>
          </a:xfrm>
          <a:prstGeom prst="rect">
            <a:avLst/>
          </a:prstGeom>
        </p:spPr>
      </p:pic>
      <p:sp>
        <p:nvSpPr>
          <p:cNvPr id="18" name="TextBox 17"/>
          <p:cNvSpPr txBox="1"/>
          <p:nvPr/>
        </p:nvSpPr>
        <p:spPr>
          <a:xfrm>
            <a:off x="6227064" y="4974336"/>
            <a:ext cx="5278831" cy="603504"/>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Communicate</a:t>
            </a:r>
            <a:r>
              <a:rPr sz="1400" b="0">
                <a:solidFill>
                  <a:srgbClr val="ACACB4"/>
                </a:solidFill>
                <a:latin typeface="Instrument Sans"/>
              </a:rPr>
              <a:t>  -  draft management narratives and decision requests</a:t>
            </a:r>
          </a:p>
        </p:txBody>
      </p:sp>
      <p:sp>
        <p:nvSpPr>
          <p:cNvPr id="19" name="Rounded Rectangle 18"/>
          <p:cNvSpPr/>
          <p:nvPr/>
        </p:nvSpPr>
        <p:spPr>
          <a:xfrm>
            <a:off x="5349240" y="5724144"/>
            <a:ext cx="6385255" cy="60350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623559" y="5861304"/>
            <a:ext cx="329184" cy="329184"/>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refresh_2A2A30.png"/>
          <p:cNvPicPr>
            <a:picLocks noChangeAspect="1"/>
          </p:cNvPicPr>
          <p:nvPr/>
        </p:nvPicPr>
        <p:blipFill>
          <a:blip r:embed="rId6"/>
          <a:stretch>
            <a:fillRect/>
          </a:stretch>
        </p:blipFill>
        <p:spPr>
          <a:xfrm>
            <a:off x="5712439" y="5950183"/>
            <a:ext cx="151424" cy="151424"/>
          </a:xfrm>
          <a:prstGeom prst="rect">
            <a:avLst/>
          </a:prstGeom>
        </p:spPr>
      </p:pic>
      <p:sp>
        <p:nvSpPr>
          <p:cNvPr id="22" name="TextBox 21"/>
          <p:cNvSpPr txBox="1"/>
          <p:nvPr/>
        </p:nvSpPr>
        <p:spPr>
          <a:xfrm>
            <a:off x="6227064" y="5724144"/>
            <a:ext cx="5278831" cy="603504"/>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Repeat</a:t>
            </a:r>
            <a:r>
              <a:rPr sz="1400" b="0">
                <a:solidFill>
                  <a:srgbClr val="ACACB4"/>
                </a:solidFill>
                <a:latin typeface="Instrument Sans"/>
              </a:rPr>
              <a:t>  -  save prompts, rules, skills, or a grounded agent</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MAX Training · MS-4004 Finance Use Case</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OPERATING PRINCIPLE</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Quality in. Vetted out.</a:t>
            </a:r>
          </a:p>
        </p:txBody>
      </p:sp>
      <p:sp>
        <p:nvSpPr>
          <p:cNvPr id="4" name="Rounded Rectangle 3"/>
          <p:cNvSpPr/>
          <p:nvPr/>
        </p:nvSpPr>
        <p:spPr>
          <a:xfrm>
            <a:off x="640080" y="1874519"/>
            <a:ext cx="5285232" cy="3063240"/>
          </a:xfrm>
          <a:prstGeom prst="roundRect">
            <a:avLst>
              <a:gd name="adj" fmla="val 6000"/>
            </a:avLst>
          </a:prstGeom>
          <a:solidFill>
            <a:srgbClr val="34343A"/>
          </a:solidFill>
          <a:ln w="19050">
            <a:solidFill>
              <a:srgbClr val="2E6E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en_46B17A.png"/>
          <p:cNvPicPr>
            <a:picLocks noChangeAspect="1"/>
          </p:cNvPicPr>
          <p:nvPr/>
        </p:nvPicPr>
        <p:blipFill>
          <a:blip r:embed="rId2"/>
          <a:stretch>
            <a:fillRect/>
          </a:stretch>
        </p:blipFill>
        <p:spPr>
          <a:xfrm>
            <a:off x="914400" y="2167127"/>
            <a:ext cx="384048" cy="384048"/>
          </a:xfrm>
          <a:prstGeom prst="rect">
            <a:avLst/>
          </a:prstGeom>
        </p:spPr>
      </p:pic>
      <p:sp>
        <p:nvSpPr>
          <p:cNvPr id="6" name="TextBox 5"/>
          <p:cNvSpPr txBox="1"/>
          <p:nvPr/>
        </p:nvSpPr>
        <p:spPr>
          <a:xfrm>
            <a:off x="1417319"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Quality in</a:t>
            </a:r>
          </a:p>
        </p:txBody>
      </p:sp>
      <p:sp>
        <p:nvSpPr>
          <p:cNvPr id="7" name="Rectangle 6"/>
          <p:cNvSpPr/>
          <p:nvPr/>
        </p:nvSpPr>
        <p:spPr>
          <a:xfrm>
            <a:off x="932688" y="3291839"/>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43584"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Goal: what decision or output?</a:t>
            </a:r>
          </a:p>
        </p:txBody>
      </p:sp>
      <p:sp>
        <p:nvSpPr>
          <p:cNvPr id="9" name="Rectangle 8"/>
          <p:cNvSpPr/>
          <p:nvPr/>
        </p:nvSpPr>
        <p:spPr>
          <a:xfrm>
            <a:off x="932688" y="3858768"/>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43584"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Context: who and why?</a:t>
            </a:r>
          </a:p>
        </p:txBody>
      </p:sp>
      <p:sp>
        <p:nvSpPr>
          <p:cNvPr id="11" name="Rectangle 10"/>
          <p:cNvSpPr/>
          <p:nvPr/>
        </p:nvSpPr>
        <p:spPr>
          <a:xfrm>
            <a:off x="932688" y="4425696"/>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43584"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Source: which approved evidence?</a:t>
            </a:r>
          </a:p>
        </p:txBody>
      </p:sp>
      <p:sp>
        <p:nvSpPr>
          <p:cNvPr id="13" name="Rounded Rectangle 12"/>
          <p:cNvSpPr/>
          <p:nvPr/>
        </p:nvSpPr>
        <p:spPr>
          <a:xfrm>
            <a:off x="6199632" y="1874519"/>
            <a:ext cx="5285232"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eye_ACACB4.png"/>
          <p:cNvPicPr>
            <a:picLocks noChangeAspect="1"/>
          </p:cNvPicPr>
          <p:nvPr/>
        </p:nvPicPr>
        <p:blipFill>
          <a:blip r:embed="rId3"/>
          <a:stretch>
            <a:fillRect/>
          </a:stretch>
        </p:blipFill>
        <p:spPr>
          <a:xfrm>
            <a:off x="6473952" y="2167127"/>
            <a:ext cx="384048" cy="384048"/>
          </a:xfrm>
          <a:prstGeom prst="rect">
            <a:avLst/>
          </a:prstGeom>
        </p:spPr>
      </p:pic>
      <p:sp>
        <p:nvSpPr>
          <p:cNvPr id="15" name="TextBox 14"/>
          <p:cNvSpPr txBox="1"/>
          <p:nvPr/>
        </p:nvSpPr>
        <p:spPr>
          <a:xfrm>
            <a:off x="6976872"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Vetted out</a:t>
            </a:r>
          </a:p>
        </p:txBody>
      </p:sp>
      <p:sp>
        <p:nvSpPr>
          <p:cNvPr id="16" name="Rectangle 15"/>
          <p:cNvSpPr/>
          <p:nvPr/>
        </p:nvSpPr>
        <p:spPr>
          <a:xfrm>
            <a:off x="6492240" y="3291839"/>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03136"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Check numbers and source scope</a:t>
            </a:r>
          </a:p>
        </p:txBody>
      </p:sp>
      <p:sp>
        <p:nvSpPr>
          <p:cNvPr id="18" name="Rectangle 17"/>
          <p:cNvSpPr/>
          <p:nvPr/>
        </p:nvSpPr>
        <p:spPr>
          <a:xfrm>
            <a:off x="6492240" y="3858768"/>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03136"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Separate fact from explanation</a:t>
            </a:r>
          </a:p>
        </p:txBody>
      </p:sp>
      <p:sp>
        <p:nvSpPr>
          <p:cNvPr id="20" name="Rectangle 19"/>
          <p:cNvSpPr/>
          <p:nvPr/>
        </p:nvSpPr>
        <p:spPr>
          <a:xfrm>
            <a:off x="6492240" y="4425696"/>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03136"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A finance owner approves the result</a:t>
            </a:r>
          </a:p>
        </p:txBody>
      </p:sp>
      <p:sp>
        <p:nvSpPr>
          <p:cNvPr id="22" name="Rounded Rectangle 21"/>
          <p:cNvSpPr/>
          <p:nvPr/>
        </p:nvSpPr>
        <p:spPr>
          <a:xfrm>
            <a:off x="640080" y="5138928"/>
            <a:ext cx="10908792" cy="713232"/>
          </a:xfrm>
          <a:prstGeom prst="roundRect">
            <a:avLst>
              <a:gd name="adj" fmla="val 16000"/>
            </a:avLst>
          </a:prstGeom>
          <a:solidFill>
            <a:srgbClr val="16324F"/>
          </a:solidFill>
          <a:ln w="952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nfo_4C8DF0.png"/>
          <p:cNvPicPr>
            <a:picLocks noChangeAspect="1"/>
          </p:cNvPicPr>
          <p:nvPr/>
        </p:nvPicPr>
        <p:blipFill>
          <a:blip r:embed="rId4"/>
          <a:stretch>
            <a:fillRect/>
          </a:stretch>
        </p:blipFill>
        <p:spPr>
          <a:xfrm>
            <a:off x="877824" y="5312664"/>
            <a:ext cx="365760" cy="365760"/>
          </a:xfrm>
          <a:prstGeom prst="rect">
            <a:avLst/>
          </a:prstGeom>
        </p:spPr>
      </p:pic>
      <p:sp>
        <p:nvSpPr>
          <p:cNvPr id="24" name="TextBox 23"/>
          <p:cNvSpPr txBox="1"/>
          <p:nvPr/>
        </p:nvSpPr>
        <p:spPr>
          <a:xfrm>
            <a:off x="1371600" y="5138928"/>
            <a:ext cx="9994392" cy="713232"/>
          </a:xfrm>
          <a:prstGeom prst="rect">
            <a:avLst/>
          </a:prstGeom>
          <a:noFill/>
        </p:spPr>
        <p:txBody>
          <a:bodyPr wrap="square" anchor="ctr">
            <a:spAutoFit/>
          </a:bodyPr>
          <a:lstStyle/>
          <a:p>
            <a:pPr algn="l">
              <a:lnSpc>
                <a:spcPct val="100000"/>
              </a:lnSpc>
              <a:spcBef>
                <a:spcPts val="0"/>
              </a:spcBef>
              <a:spcAft>
                <a:spcPts val="200"/>
              </a:spcAft>
            </a:pPr>
            <a:r>
              <a:rPr sz="1500" b="0">
                <a:solidFill>
                  <a:srgbClr val="CAD8F2"/>
                </a:solidFill>
                <a:latin typeface="Instrument Sans"/>
              </a:rPr>
              <a:t>A clear prompt improves the draft. Human verification determines whether it can be used.</a:t>
            </a:r>
          </a:p>
        </p:txBody>
      </p:sp>
      <p:sp>
        <p:nvSpPr>
          <p:cNvPr id="25" name="Rectangle 24"/>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MAX Training · MS-4004 Finance Use Case</a:t>
            </a:r>
          </a:p>
        </p:txBody>
      </p:sp>
      <p:sp>
        <p:nvSpPr>
          <p:cNvPr id="27" name="TextBox 26"/>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FOLLOW ALONG - AUDIT FIRST</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Audit the source before analysis</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ATTACH THIS FILE</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USE · Northstar_Life_Finance_Starter.xlsx</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Goal: find issues before calculation</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Source: starter workbook only</a:t>
            </a:r>
          </a:p>
        </p:txBody>
      </p:sp>
      <p:sp>
        <p:nvSpPr>
          <p:cNvPr id="12" name="Rectangle 11"/>
          <p:cNvSpPr/>
          <p:nvPr/>
        </p:nvSpPr>
        <p:spPr>
          <a:xfrm>
            <a:off x="914400" y="4553712"/>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07008" y="4443984"/>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Evidence: sheet, table, row or cell</a:t>
            </a:r>
          </a:p>
        </p:txBody>
      </p:sp>
      <p:sp>
        <p:nvSpPr>
          <p:cNvPr id="14" name="TextBox 13"/>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PASTE THIS</a:t>
            </a:r>
          </a:p>
        </p:txBody>
      </p:sp>
      <p:sp>
        <p:nvSpPr>
          <p:cNvPr id="15" name="Rounded Rectangle 14"/>
          <p:cNvSpPr/>
          <p:nvPr/>
        </p:nvSpPr>
        <p:spPr>
          <a:xfrm>
            <a:off x="7040880" y="2286000"/>
            <a:ext cx="4507992" cy="338328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8" name="TextBox 17"/>
          <p:cNvSpPr txBox="1"/>
          <p:nvPr/>
        </p:nvSpPr>
        <p:spPr>
          <a:xfrm>
            <a:off x="7699248" y="2670048"/>
            <a:ext cx="3593591" cy="2944368"/>
          </a:xfrm>
          <a:prstGeom prst="rect">
            <a:avLst/>
          </a:prstGeom>
          <a:noFill/>
        </p:spPr>
        <p:txBody>
          <a:bodyPr wrap="square" anchor="t">
            <a:normAutofit/>
          </a:bodyPr>
          <a:lstStyle/>
          <a:p>
            <a:pPr algn="l">
              <a:lnSpc>
                <a:spcPct val="112000"/>
              </a:lnSpc>
              <a:spcBef>
                <a:spcPts val="0"/>
              </a:spcBef>
              <a:spcAft>
                <a:spcPts val="200"/>
              </a:spcAft>
            </a:pPr>
            <a:r>
              <a:rPr sz="1350" b="0">
                <a:solidFill>
                  <a:srgbClr val="C9C9D2"/>
                </a:solidFill>
                <a:latin typeface="Instrument Sans"/>
              </a:rPr>
              <a:t>Using only Northstar_Life_Finance_Starter.xlsx, audit the source tables before analysis. Log only true source-data defects: duplicate or broken identifiers, missing required source values, and inconsistent labels. Treat green learner-output cells, blank templates or canvases, and existing DataQualityFlag warnings as intentional design or evidence limitations, not defects. Do not correct anything. Return IssueLog rows with the sheet, table, row or cell, observed problem, and recommended next check.</a:t>
            </a:r>
          </a:p>
        </p:txBody>
      </p:sp>
      <p:sp>
        <p:nvSpPr>
          <p:cNvPr id="19" name="Rectangle 18"/>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MAX Training · MS-4004 Finance Use Case</a:t>
            </a:r>
          </a:p>
        </p:txBody>
      </p:sp>
      <p:sp>
        <p:nvSpPr>
          <p:cNvPr id="21" name="TextBox 20"/>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FOLLOW ALONG - VETTED OUT</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100" b="1">
                <a:solidFill>
                  <a:srgbClr val="F5F5F6"/>
                </a:solidFill>
                <a:latin typeface="Instrument Sans"/>
              </a:rPr>
              <a:t>Decide what happens to the output</a:t>
            </a:r>
          </a:p>
        </p:txBody>
      </p:sp>
      <p:sp>
        <p:nvSpPr>
          <p:cNvPr id="4" name="Rectangle 3"/>
          <p:cNvSpPr/>
          <p:nvPr/>
        </p:nvSpPr>
        <p:spPr>
          <a:xfrm>
            <a:off x="640080" y="1874519"/>
            <a:ext cx="10908792" cy="548640"/>
          </a:xfrm>
          <a:prstGeom prst="rect">
            <a:avLst/>
          </a:prstGeom>
          <a:solidFill>
            <a:srgbClr val="30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74519"/>
            <a:ext cx="2468880" cy="548640"/>
          </a:xfrm>
          <a:prstGeom prst="rect">
            <a:avLst/>
          </a:prstGeom>
          <a:noFill/>
        </p:spPr>
        <p:txBody>
          <a:bodyPr wrap="square" anchor="ctr">
            <a:spAutoFit/>
          </a:bodyPr>
          <a:lstStyle/>
          <a:p>
            <a:pPr algn="l">
              <a:lnSpc>
                <a:spcPct val="100000"/>
              </a:lnSpc>
              <a:spcBef>
                <a:spcPts val="0"/>
              </a:spcBef>
              <a:spcAft>
                <a:spcPts val="200"/>
              </a:spcAft>
            </a:pPr>
            <a:r>
              <a:rPr sz="1400" b="1" spc="120">
                <a:solidFill>
                  <a:srgbClr val="7E7E86"/>
                </a:solidFill>
                <a:latin typeface="Instrument Sans"/>
              </a:rPr>
              <a:t>STATUS</a:t>
            </a:r>
          </a:p>
        </p:txBody>
      </p:sp>
      <p:sp>
        <p:nvSpPr>
          <p:cNvPr id="6" name="TextBox 5"/>
          <p:cNvSpPr txBox="1"/>
          <p:nvPr/>
        </p:nvSpPr>
        <p:spPr>
          <a:xfrm>
            <a:off x="3383280" y="1874519"/>
            <a:ext cx="7982712" cy="548640"/>
          </a:xfrm>
          <a:prstGeom prst="rect">
            <a:avLst/>
          </a:prstGeom>
          <a:noFill/>
        </p:spPr>
        <p:txBody>
          <a:bodyPr wrap="square" anchor="ctr">
            <a:spAutoFit/>
          </a:bodyPr>
          <a:lstStyle/>
          <a:p>
            <a:pPr algn="l">
              <a:lnSpc>
                <a:spcPct val="100000"/>
              </a:lnSpc>
              <a:spcBef>
                <a:spcPts val="0"/>
              </a:spcBef>
              <a:spcAft>
                <a:spcPts val="200"/>
              </a:spcAft>
            </a:pPr>
            <a:r>
              <a:rPr sz="1400" b="1" spc="120">
                <a:solidFill>
                  <a:srgbClr val="7E7E86"/>
                </a:solidFill>
                <a:latin typeface="Instrument Sans"/>
              </a:rPr>
              <a:t>FINANCE DECISION</a:t>
            </a:r>
          </a:p>
        </p:txBody>
      </p:sp>
      <p:sp>
        <p:nvSpPr>
          <p:cNvPr id="7" name="Rectangle 6"/>
          <p:cNvSpPr/>
          <p:nvPr/>
        </p:nvSpPr>
        <p:spPr>
          <a:xfrm>
            <a:off x="640080" y="2423160"/>
            <a:ext cx="10908792" cy="1280159"/>
          </a:xfrm>
          <a:prstGeom prst="rect">
            <a:avLst/>
          </a:prstGeom>
          <a:solidFill>
            <a:srgbClr val="28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423160"/>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23160"/>
            <a:ext cx="2468880" cy="128015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Green</a:t>
            </a:r>
          </a:p>
        </p:txBody>
      </p:sp>
      <p:sp>
        <p:nvSpPr>
          <p:cNvPr id="10" name="TextBox 9"/>
          <p:cNvSpPr txBox="1"/>
          <p:nvPr/>
        </p:nvSpPr>
        <p:spPr>
          <a:xfrm>
            <a:off x="3383280" y="2423160"/>
            <a:ext cx="7982712" cy="128015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Material claims reconcile; source and scope are clear</a:t>
            </a:r>
          </a:p>
        </p:txBody>
      </p:sp>
      <p:sp>
        <p:nvSpPr>
          <p:cNvPr id="11" name="Rectangle 10"/>
          <p:cNvSpPr/>
          <p:nvPr/>
        </p:nvSpPr>
        <p:spPr>
          <a:xfrm>
            <a:off x="640080" y="3703320"/>
            <a:ext cx="10908792" cy="1280159"/>
          </a:xfrm>
          <a:prstGeom prst="rect">
            <a:avLst/>
          </a:prstGeom>
          <a:solidFill>
            <a:srgbClr val="34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3703320"/>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703320"/>
            <a:ext cx="2468880" cy="128015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Yellow</a:t>
            </a:r>
          </a:p>
        </p:txBody>
      </p:sp>
      <p:sp>
        <p:nvSpPr>
          <p:cNvPr id="14" name="TextBox 13"/>
          <p:cNvSpPr txBox="1"/>
          <p:nvPr/>
        </p:nvSpPr>
        <p:spPr>
          <a:xfrm>
            <a:off x="3383280" y="3703320"/>
            <a:ext cx="7982712" cy="128015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Useful draft, but one or more claims need correction or qualification</a:t>
            </a:r>
          </a:p>
        </p:txBody>
      </p:sp>
      <p:sp>
        <p:nvSpPr>
          <p:cNvPr id="15" name="Rectangle 14"/>
          <p:cNvSpPr/>
          <p:nvPr/>
        </p:nvSpPr>
        <p:spPr>
          <a:xfrm>
            <a:off x="640080" y="4983479"/>
            <a:ext cx="10908792" cy="1280159"/>
          </a:xfrm>
          <a:prstGeom prst="rect">
            <a:avLst/>
          </a:prstGeom>
          <a:solidFill>
            <a:srgbClr val="28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983479"/>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983479"/>
            <a:ext cx="2468880" cy="128015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Red</a:t>
            </a:r>
          </a:p>
        </p:txBody>
      </p:sp>
      <p:sp>
        <p:nvSpPr>
          <p:cNvPr id="18" name="TextBox 17"/>
          <p:cNvSpPr txBox="1"/>
          <p:nvPr/>
        </p:nvSpPr>
        <p:spPr>
          <a:xfrm>
            <a:off x="3383280" y="4983479"/>
            <a:ext cx="7982712" cy="128015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Wrong source, wrong calculation, or unsupported conclusion; restart</a:t>
            </a:r>
          </a:p>
        </p:txBody>
      </p:sp>
      <p:sp>
        <p:nvSpPr>
          <p:cNvPr id="19" name="Rectangle 18"/>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MAX Training · MS-4004 Finance Use Case</a:t>
            </a:r>
          </a:p>
        </p:txBody>
      </p:sp>
      <p:sp>
        <p:nvSpPr>
          <p:cNvPr id="21" name="TextBox 20"/>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CHOOSE THE ANALYSIS SURFACE</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100" b="1">
                <a:solidFill>
                  <a:srgbClr val="F5F5F6"/>
                </a:solidFill>
                <a:latin typeface="Instrument Sans"/>
              </a:rPr>
              <a:t>Choose the surface before the prompt</a:t>
            </a:r>
          </a:p>
        </p:txBody>
      </p:sp>
      <p:sp>
        <p:nvSpPr>
          <p:cNvPr id="4" name="Rounded Rectangle 3"/>
          <p:cNvSpPr/>
          <p:nvPr/>
        </p:nvSpPr>
        <p:spPr>
          <a:xfrm>
            <a:off x="640080" y="1874519"/>
            <a:ext cx="5285232" cy="3063240"/>
          </a:xfrm>
          <a:prstGeom prst="roundRect">
            <a:avLst>
              <a:gd name="adj" fmla="val 6000"/>
            </a:avLst>
          </a:prstGeom>
          <a:solidFill>
            <a:srgbClr val="34343A"/>
          </a:solidFill>
          <a:ln w="19050">
            <a:solidFill>
              <a:srgbClr val="2E6E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hart_46B17A.png"/>
          <p:cNvPicPr>
            <a:picLocks noChangeAspect="1"/>
          </p:cNvPicPr>
          <p:nvPr/>
        </p:nvPicPr>
        <p:blipFill>
          <a:blip r:embed="rId2"/>
          <a:stretch>
            <a:fillRect/>
          </a:stretch>
        </p:blipFill>
        <p:spPr>
          <a:xfrm>
            <a:off x="914400" y="2167127"/>
            <a:ext cx="384048" cy="384048"/>
          </a:xfrm>
          <a:prstGeom prst="rect">
            <a:avLst/>
          </a:prstGeom>
        </p:spPr>
      </p:pic>
      <p:sp>
        <p:nvSpPr>
          <p:cNvPr id="6" name="TextBox 5"/>
          <p:cNvSpPr txBox="1"/>
          <p:nvPr/>
        </p:nvSpPr>
        <p:spPr>
          <a:xfrm>
            <a:off x="1417319"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Copilot in Excel</a:t>
            </a:r>
          </a:p>
        </p:txBody>
      </p:sp>
      <p:sp>
        <p:nvSpPr>
          <p:cNvPr id="7" name="Rectangle 6"/>
          <p:cNvSpPr/>
          <p:nvPr/>
        </p:nvSpPr>
        <p:spPr>
          <a:xfrm>
            <a:off x="932688" y="3291839"/>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43584"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Work inside one active workbook</a:t>
            </a:r>
          </a:p>
        </p:txBody>
      </p:sp>
      <p:sp>
        <p:nvSpPr>
          <p:cNvPr id="9" name="Rectangle 8"/>
          <p:cNvSpPr/>
          <p:nvPr/>
        </p:nvSpPr>
        <p:spPr>
          <a:xfrm>
            <a:off x="932688" y="3858768"/>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43584"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Create formulas, charts, and sheet edits</a:t>
            </a:r>
          </a:p>
        </p:txBody>
      </p:sp>
      <p:sp>
        <p:nvSpPr>
          <p:cNvPr id="11" name="Rectangle 10"/>
          <p:cNvSpPr/>
          <p:nvPr/>
        </p:nvSpPr>
        <p:spPr>
          <a:xfrm>
            <a:off x="932688" y="4425696"/>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43584"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Verify results directly against cells</a:t>
            </a:r>
          </a:p>
        </p:txBody>
      </p:sp>
      <p:sp>
        <p:nvSpPr>
          <p:cNvPr id="13" name="Rounded Rectangle 12"/>
          <p:cNvSpPr/>
          <p:nvPr/>
        </p:nvSpPr>
        <p:spPr>
          <a:xfrm>
            <a:off x="6199632" y="1874519"/>
            <a:ext cx="5285232"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at_ACACB4.png"/>
          <p:cNvPicPr>
            <a:picLocks noChangeAspect="1"/>
          </p:cNvPicPr>
          <p:nvPr/>
        </p:nvPicPr>
        <p:blipFill>
          <a:blip r:embed="rId3"/>
          <a:stretch>
            <a:fillRect/>
          </a:stretch>
        </p:blipFill>
        <p:spPr>
          <a:xfrm>
            <a:off x="6473952" y="2167127"/>
            <a:ext cx="384048" cy="384048"/>
          </a:xfrm>
          <a:prstGeom prst="rect">
            <a:avLst/>
          </a:prstGeom>
        </p:spPr>
      </p:pic>
      <p:sp>
        <p:nvSpPr>
          <p:cNvPr id="15" name="TextBox 14"/>
          <p:cNvSpPr txBox="1"/>
          <p:nvPr/>
        </p:nvSpPr>
        <p:spPr>
          <a:xfrm>
            <a:off x="6976872"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Copilot Chat</a:t>
            </a:r>
          </a:p>
        </p:txBody>
      </p:sp>
      <p:sp>
        <p:nvSpPr>
          <p:cNvPr id="16" name="Rectangle 15"/>
          <p:cNvSpPr/>
          <p:nvPr/>
        </p:nvSpPr>
        <p:spPr>
          <a:xfrm>
            <a:off x="6492240" y="3291839"/>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03136"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Discuss or summarize named attachments</a:t>
            </a:r>
          </a:p>
        </p:txBody>
      </p:sp>
      <p:sp>
        <p:nvSpPr>
          <p:cNvPr id="18" name="Rectangle 17"/>
          <p:cNvSpPr/>
          <p:nvPr/>
        </p:nvSpPr>
        <p:spPr>
          <a:xfrm>
            <a:off x="6492240" y="3858768"/>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03136"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Combine file context into a narrative</a:t>
            </a:r>
          </a:p>
        </p:txBody>
      </p:sp>
      <p:sp>
        <p:nvSpPr>
          <p:cNvPr id="20" name="Rectangle 19"/>
          <p:cNvSpPr/>
          <p:nvPr/>
        </p:nvSpPr>
        <p:spPr>
          <a:xfrm>
            <a:off x="6492240" y="4425696"/>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03136"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Keep the source workbook unchanged</a:t>
            </a:r>
          </a:p>
        </p:txBody>
      </p:sp>
      <p:sp>
        <p:nvSpPr>
          <p:cNvPr id="22" name="Rounded Rectangle 21"/>
          <p:cNvSpPr/>
          <p:nvPr/>
        </p:nvSpPr>
        <p:spPr>
          <a:xfrm>
            <a:off x="640080" y="5138928"/>
            <a:ext cx="10908792" cy="713232"/>
          </a:xfrm>
          <a:prstGeom prst="roundRect">
            <a:avLst>
              <a:gd name="adj" fmla="val 16000"/>
            </a:avLst>
          </a:prstGeom>
          <a:solidFill>
            <a:srgbClr val="16324F"/>
          </a:solidFill>
          <a:ln w="9525">
            <a:solidFill>
              <a:srgbClr val="2F6F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nfo_4C8DF0.png"/>
          <p:cNvPicPr>
            <a:picLocks noChangeAspect="1"/>
          </p:cNvPicPr>
          <p:nvPr/>
        </p:nvPicPr>
        <p:blipFill>
          <a:blip r:embed="rId4"/>
          <a:stretch>
            <a:fillRect/>
          </a:stretch>
        </p:blipFill>
        <p:spPr>
          <a:xfrm>
            <a:off x="877824" y="5312664"/>
            <a:ext cx="365760" cy="365760"/>
          </a:xfrm>
          <a:prstGeom prst="rect">
            <a:avLst/>
          </a:prstGeom>
        </p:spPr>
      </p:pic>
      <p:sp>
        <p:nvSpPr>
          <p:cNvPr id="24" name="TextBox 23"/>
          <p:cNvSpPr txBox="1"/>
          <p:nvPr/>
        </p:nvSpPr>
        <p:spPr>
          <a:xfrm>
            <a:off x="1371600" y="5138928"/>
            <a:ext cx="9994392" cy="713232"/>
          </a:xfrm>
          <a:prstGeom prst="rect">
            <a:avLst/>
          </a:prstGeom>
          <a:noFill/>
        </p:spPr>
        <p:txBody>
          <a:bodyPr wrap="square" anchor="ctr">
            <a:spAutoFit/>
          </a:bodyPr>
          <a:lstStyle/>
          <a:p>
            <a:pPr algn="l">
              <a:lnSpc>
                <a:spcPct val="100000"/>
              </a:lnSpc>
              <a:spcBef>
                <a:spcPts val="0"/>
              </a:spcBef>
              <a:spcAft>
                <a:spcPts val="200"/>
              </a:spcAft>
            </a:pPr>
            <a:r>
              <a:rPr sz="1500" b="0">
                <a:solidFill>
                  <a:srgbClr val="CAD8F2"/>
                </a:solidFill>
                <a:latin typeface="Instrument Sans"/>
              </a:rPr>
              <a:t>Need deeper multi-file analysis and visual reporting? Move to the Analyst agent.</a:t>
            </a:r>
          </a:p>
        </p:txBody>
      </p:sp>
      <p:sp>
        <p:nvSpPr>
          <p:cNvPr id="25" name="Rectangle 24"/>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MAX Training · MS-4004 Finance Use Case</a:t>
            </a:r>
          </a:p>
        </p:txBody>
      </p:sp>
      <p:sp>
        <p:nvSpPr>
          <p:cNvPr id="27" name="TextBox 26"/>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COPILOT CHAT FOR FINANCE</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100" b="1">
                <a:solidFill>
                  <a:srgbClr val="F5F5F6"/>
                </a:solidFill>
                <a:latin typeface="Instrument Sans"/>
              </a:rPr>
              <a:t>Use Chat when the conversation is the work</a:t>
            </a:r>
          </a:p>
        </p:txBody>
      </p:sp>
      <p:sp>
        <p:nvSpPr>
          <p:cNvPr id="4" name="Rounded Rectangle 3"/>
          <p:cNvSpPr/>
          <p:nvPr/>
        </p:nvSpPr>
        <p:spPr>
          <a:xfrm>
            <a:off x="640080" y="1828800"/>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1959102"/>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oc_2A2A30.png"/>
          <p:cNvPicPr>
            <a:picLocks noChangeAspect="1"/>
          </p:cNvPicPr>
          <p:nvPr/>
        </p:nvPicPr>
        <p:blipFill>
          <a:blip r:embed="rId2"/>
          <a:stretch>
            <a:fillRect/>
          </a:stretch>
        </p:blipFill>
        <p:spPr>
          <a:xfrm>
            <a:off x="1014984" y="2096262"/>
            <a:ext cx="292608" cy="292608"/>
          </a:xfrm>
          <a:prstGeom prst="rect">
            <a:avLst/>
          </a:prstGeom>
        </p:spPr>
      </p:pic>
      <p:sp>
        <p:nvSpPr>
          <p:cNvPr id="7" name="TextBox 6"/>
          <p:cNvSpPr txBox="1"/>
          <p:nvPr/>
        </p:nvSpPr>
        <p:spPr>
          <a:xfrm>
            <a:off x="1591056" y="1828800"/>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Summarize</a:t>
            </a:r>
          </a:p>
        </p:txBody>
      </p:sp>
      <p:sp>
        <p:nvSpPr>
          <p:cNvPr id="8" name="TextBox 7"/>
          <p:cNvSpPr txBox="1"/>
          <p:nvPr/>
        </p:nvSpPr>
        <p:spPr>
          <a:xfrm>
            <a:off x="4434840" y="1828800"/>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Extract decisions, events, owners, and unresolved questions from named files.</a:t>
            </a:r>
          </a:p>
        </p:txBody>
      </p:sp>
      <p:sp>
        <p:nvSpPr>
          <p:cNvPr id="9" name="Rounded Rectangle 8"/>
          <p:cNvSpPr/>
          <p:nvPr/>
        </p:nvSpPr>
        <p:spPr>
          <a:xfrm>
            <a:off x="640080" y="2802636"/>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293293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apps_2A2A30.png"/>
          <p:cNvPicPr>
            <a:picLocks noChangeAspect="1"/>
          </p:cNvPicPr>
          <p:nvPr/>
        </p:nvPicPr>
        <p:blipFill>
          <a:blip r:embed="rId3"/>
          <a:stretch>
            <a:fillRect/>
          </a:stretch>
        </p:blipFill>
        <p:spPr>
          <a:xfrm>
            <a:off x="1014984" y="3070098"/>
            <a:ext cx="292608" cy="292608"/>
          </a:xfrm>
          <a:prstGeom prst="rect">
            <a:avLst/>
          </a:prstGeom>
        </p:spPr>
      </p:pic>
      <p:sp>
        <p:nvSpPr>
          <p:cNvPr id="12" name="TextBox 11"/>
          <p:cNvSpPr txBox="1"/>
          <p:nvPr/>
        </p:nvSpPr>
        <p:spPr>
          <a:xfrm>
            <a:off x="1591056" y="2802636"/>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Compare</a:t>
            </a:r>
          </a:p>
        </p:txBody>
      </p:sp>
      <p:sp>
        <p:nvSpPr>
          <p:cNvPr id="13" name="TextBox 12"/>
          <p:cNvSpPr txBox="1"/>
          <p:nvPr/>
        </p:nvSpPr>
        <p:spPr>
          <a:xfrm>
            <a:off x="4434840" y="2802636"/>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Reconcile what two supplied sources agree on, contradict, or leave open.</a:t>
            </a:r>
          </a:p>
        </p:txBody>
      </p:sp>
      <p:sp>
        <p:nvSpPr>
          <p:cNvPr id="14" name="Rounded Rectangle 13"/>
          <p:cNvSpPr/>
          <p:nvPr/>
        </p:nvSpPr>
        <p:spPr>
          <a:xfrm>
            <a:off x="640080" y="3776472"/>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3906774"/>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mail_2A2A30.png"/>
          <p:cNvPicPr>
            <a:picLocks noChangeAspect="1"/>
          </p:cNvPicPr>
          <p:nvPr/>
        </p:nvPicPr>
        <p:blipFill>
          <a:blip r:embed="rId4"/>
          <a:stretch>
            <a:fillRect/>
          </a:stretch>
        </p:blipFill>
        <p:spPr>
          <a:xfrm>
            <a:off x="1014984" y="4043933"/>
            <a:ext cx="292608" cy="292608"/>
          </a:xfrm>
          <a:prstGeom prst="rect">
            <a:avLst/>
          </a:prstGeom>
        </p:spPr>
      </p:pic>
      <p:sp>
        <p:nvSpPr>
          <p:cNvPr id="17" name="TextBox 16"/>
          <p:cNvSpPr txBox="1"/>
          <p:nvPr/>
        </p:nvSpPr>
        <p:spPr>
          <a:xfrm>
            <a:off x="1591056" y="3776472"/>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Draft</a:t>
            </a:r>
          </a:p>
        </p:txBody>
      </p:sp>
      <p:sp>
        <p:nvSpPr>
          <p:cNvPr id="18" name="TextBox 17"/>
          <p:cNvSpPr txBox="1"/>
          <p:nvPr/>
        </p:nvSpPr>
        <p:spPr>
          <a:xfrm>
            <a:off x="4434840" y="3776472"/>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Turn grounded findings into an update, request, or management narrative.</a:t>
            </a:r>
          </a:p>
        </p:txBody>
      </p:sp>
      <p:sp>
        <p:nvSpPr>
          <p:cNvPr id="19" name="Rounded Rectangle 18"/>
          <p:cNvSpPr/>
          <p:nvPr/>
        </p:nvSpPr>
        <p:spPr>
          <a:xfrm>
            <a:off x="640080" y="4750308"/>
            <a:ext cx="10908792" cy="827531"/>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4880610"/>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ock_2A2A30.png"/>
          <p:cNvPicPr>
            <a:picLocks noChangeAspect="1"/>
          </p:cNvPicPr>
          <p:nvPr/>
        </p:nvPicPr>
        <p:blipFill>
          <a:blip r:embed="rId5"/>
          <a:stretch>
            <a:fillRect/>
          </a:stretch>
        </p:blipFill>
        <p:spPr>
          <a:xfrm>
            <a:off x="1014984" y="5017770"/>
            <a:ext cx="292608" cy="292608"/>
          </a:xfrm>
          <a:prstGeom prst="rect">
            <a:avLst/>
          </a:prstGeom>
        </p:spPr>
      </p:pic>
      <p:sp>
        <p:nvSpPr>
          <p:cNvPr id="22" name="TextBox 21"/>
          <p:cNvSpPr txBox="1"/>
          <p:nvPr/>
        </p:nvSpPr>
        <p:spPr>
          <a:xfrm>
            <a:off x="1591056" y="4750308"/>
            <a:ext cx="2743200" cy="827531"/>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Keep the boundary</a:t>
            </a:r>
          </a:p>
        </p:txBody>
      </p:sp>
      <p:sp>
        <p:nvSpPr>
          <p:cNvPr id="23" name="TextBox 22"/>
          <p:cNvSpPr txBox="1"/>
          <p:nvPr/>
        </p:nvSpPr>
        <p:spPr>
          <a:xfrm>
            <a:off x="4434840" y="4750308"/>
            <a:ext cx="6903720" cy="827531"/>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Name the permitted sources and keep unsupported causes out.</a:t>
            </a:r>
          </a:p>
        </p:txBody>
      </p:sp>
      <p:sp>
        <p:nvSpPr>
          <p:cNvPr id="24" name="Rounded Rectangle 23"/>
          <p:cNvSpPr/>
          <p:nvPr/>
        </p:nvSpPr>
        <p:spPr>
          <a:xfrm>
            <a:off x="640080" y="5760720"/>
            <a:ext cx="10908792" cy="658368"/>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warn_E0A93A.png"/>
          <p:cNvPicPr>
            <a:picLocks noChangeAspect="1"/>
          </p:cNvPicPr>
          <p:nvPr/>
        </p:nvPicPr>
        <p:blipFill>
          <a:blip r:embed="rId6"/>
          <a:stretch>
            <a:fillRect/>
          </a:stretch>
        </p:blipFill>
        <p:spPr>
          <a:xfrm>
            <a:off x="877824" y="5907024"/>
            <a:ext cx="365760" cy="365760"/>
          </a:xfrm>
          <a:prstGeom prst="rect">
            <a:avLst/>
          </a:prstGeom>
        </p:spPr>
      </p:pic>
      <p:sp>
        <p:nvSpPr>
          <p:cNvPr id="26" name="TextBox 25"/>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Chat can analyze an attachment; it does not replace workbook-level checks or finance approval.</a:t>
            </a:r>
          </a:p>
        </p:txBody>
      </p:sp>
      <p:sp>
        <p:nvSpPr>
          <p:cNvPr id="27" name="Rectangle 26"/>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MAX Training · MS-4004 Finance Use Case</a:t>
            </a:r>
          </a:p>
        </p:txBody>
      </p:sp>
      <p:sp>
        <p:nvSpPr>
          <p:cNvPr id="29" name="TextBox 28"/>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GUIDED FOLLOW-ALONG - COPILOT CHAT</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100" b="1">
                <a:solidFill>
                  <a:srgbClr val="F5F5F6"/>
                </a:solidFill>
                <a:latin typeface="Instrument Sans"/>
              </a:rPr>
              <a:t>Compare two finance sources safely</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ATTACH THESE FILES</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USE · Northstar_Monthly_Review_Notes.docx</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USE · Northstar_Claims_Committee_Thread.pdf</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Inspect agreements and contradictions</a:t>
            </a:r>
          </a:p>
        </p:txBody>
      </p:sp>
      <p:sp>
        <p:nvSpPr>
          <p:cNvPr id="12" name="Rectangle 11"/>
          <p:cNvSpPr/>
          <p:nvPr/>
        </p:nvSpPr>
        <p:spPr>
          <a:xfrm>
            <a:off x="914400" y="4553712"/>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07008" y="4443984"/>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Challenge one unsupported explanation</a:t>
            </a:r>
          </a:p>
        </p:txBody>
      </p:sp>
      <p:sp>
        <p:nvSpPr>
          <p:cNvPr id="14" name="TextBox 13"/>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PROMPT SUMMARY</a:t>
            </a:r>
          </a:p>
        </p:txBody>
      </p:sp>
      <p:sp>
        <p:nvSpPr>
          <p:cNvPr id="15" name="Rounded Rectangle 14"/>
          <p:cNvSpPr/>
          <p:nvPr/>
        </p:nvSpPr>
        <p:spPr>
          <a:xfrm>
            <a:off x="7040880" y="2286000"/>
            <a:ext cx="4507992" cy="1793748"/>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8" name="TextBox 17"/>
          <p:cNvSpPr txBox="1"/>
          <p:nvPr/>
        </p:nvSpPr>
        <p:spPr>
          <a:xfrm>
            <a:off x="7699248" y="2670048"/>
            <a:ext cx="3593591" cy="1354836"/>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Using only the attached files:
1. Extract events and owners.
2. Flag agreements, contradictions, and gaps.
3. Draft a five-sentence management update.
Do not invent amounts or causes.</a:t>
            </a:r>
          </a:p>
        </p:txBody>
      </p:sp>
      <p:sp>
        <p:nvSpPr>
          <p:cNvPr id="19" name="Rectangle 18"/>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MAX Training · MS-4004 Finance Use Case</a:t>
            </a:r>
          </a:p>
        </p:txBody>
      </p:sp>
      <p:sp>
        <p:nvSpPr>
          <p:cNvPr id="21" name="TextBox 20"/>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3.png"/>
          <p:cNvPicPr>
            <a:picLocks noChangeAspect="1"/>
          </p:cNvPicPr>
          <p:nvPr/>
        </p:nvPicPr>
        <p:blipFill>
          <a:blip r:embed="rId2"/>
          <a:stretch>
            <a:fillRect/>
          </a:stretch>
        </p:blipFill>
        <p:spPr>
          <a:xfrm>
            <a:off x="6355080" y="0"/>
            <a:ext cx="5833872" cy="6858000"/>
          </a:xfrm>
          <a:prstGeom prst="rect">
            <a:avLst/>
          </a:prstGeom>
        </p:spPr>
      </p:pic>
      <p:sp>
        <p:nvSpPr>
          <p:cNvPr id="3" name="Rectangle 2"/>
          <p:cNvSpPr/>
          <p:nvPr/>
        </p:nvSpPr>
        <p:spPr>
          <a:xfrm>
            <a:off x="635508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2542032"/>
            <a:ext cx="548640" cy="54864"/>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706624"/>
            <a:ext cx="5486400" cy="365760"/>
          </a:xfrm>
          <a:prstGeom prst="rect">
            <a:avLst/>
          </a:prstGeom>
          <a:noFill/>
        </p:spPr>
        <p:txBody>
          <a:bodyPr wrap="square" anchor="t">
            <a:spAutoFit/>
          </a:bodyPr>
          <a:lstStyle/>
          <a:p>
            <a:pPr algn="l">
              <a:lnSpc>
                <a:spcPct val="100000"/>
              </a:lnSpc>
              <a:spcBef>
                <a:spcPts val="0"/>
              </a:spcBef>
              <a:spcAft>
                <a:spcPts val="200"/>
              </a:spcAft>
            </a:pPr>
            <a:r>
              <a:rPr sz="1300" b="1" spc="200">
                <a:solidFill>
                  <a:srgbClr val="8B8B93"/>
                </a:solidFill>
                <a:latin typeface="Instrument Sans"/>
              </a:rPr>
              <a:t>MODULE 1 - EXCEL FUNDAMENTALS</a:t>
            </a:r>
          </a:p>
        </p:txBody>
      </p:sp>
      <p:sp>
        <p:nvSpPr>
          <p:cNvPr id="6" name="TextBox 5"/>
          <p:cNvSpPr txBox="1"/>
          <p:nvPr/>
        </p:nvSpPr>
        <p:spPr>
          <a:xfrm>
            <a:off x="658368" y="3054096"/>
            <a:ext cx="5532120" cy="1783080"/>
          </a:xfrm>
          <a:prstGeom prst="rect">
            <a:avLst/>
          </a:prstGeom>
          <a:noFill/>
        </p:spPr>
        <p:txBody>
          <a:bodyPr wrap="square" anchor="t">
            <a:spAutoFit/>
          </a:bodyPr>
          <a:lstStyle/>
          <a:p>
            <a:pPr algn="l">
              <a:lnSpc>
                <a:spcPct val="102000"/>
              </a:lnSpc>
              <a:spcBef>
                <a:spcPts val="0"/>
              </a:spcBef>
              <a:spcAft>
                <a:spcPts val="200"/>
              </a:spcAft>
            </a:pPr>
            <a:r>
              <a:rPr sz="3400" b="1">
                <a:solidFill>
                  <a:srgbClr val="F5F5F6"/>
                </a:solidFill>
                <a:latin typeface="Instrument Sans"/>
              </a:rPr>
              <a:t>Put Copilot to work in Excel</a:t>
            </a:r>
          </a:p>
        </p:txBody>
      </p:sp>
      <p:sp>
        <p:nvSpPr>
          <p:cNvPr id="7" name="TextBox 6"/>
          <p:cNvSpPr txBox="1"/>
          <p:nvPr/>
        </p:nvSpPr>
        <p:spPr>
          <a:xfrm>
            <a:off x="685800" y="4864608"/>
            <a:ext cx="5440680" cy="420624"/>
          </a:xfrm>
          <a:prstGeom prst="rect">
            <a:avLst/>
          </a:prstGeom>
          <a:noFill/>
        </p:spPr>
        <p:txBody>
          <a:bodyPr wrap="square" anchor="t">
            <a:normAutofit/>
          </a:bodyPr>
          <a:lstStyle/>
          <a:p>
            <a:pPr algn="l">
              <a:lnSpc>
                <a:spcPct val="105000"/>
              </a:lnSpc>
              <a:spcBef>
                <a:spcPts val="0"/>
              </a:spcBef>
              <a:spcAft>
                <a:spcPts val="200"/>
              </a:spcAft>
            </a:pPr>
            <a:r>
              <a:rPr sz="1700" b="0">
                <a:solidFill>
                  <a:srgbClr val="ACACB4"/>
                </a:solidFill>
                <a:latin typeface="Instrument Sans"/>
              </a:rPr>
              <a:t>Audit, clean, reconcile, analyze, and build.</a:t>
            </a:r>
          </a:p>
        </p:txBody>
      </p:sp>
      <p:sp>
        <p:nvSpPr>
          <p:cNvPr id="8" name="TextBox 7"/>
          <p:cNvSpPr txBox="1"/>
          <p:nvPr/>
        </p:nvSpPr>
        <p:spPr>
          <a:xfrm>
            <a:off x="685800" y="5513832"/>
            <a:ext cx="5440680" cy="603504"/>
          </a:xfrm>
          <a:prstGeom prst="rect">
            <a:avLst/>
          </a:prstGeom>
          <a:noFill/>
        </p:spPr>
        <p:txBody>
          <a:bodyPr wrap="square" anchor="t">
            <a:normAutofit/>
          </a:bodyPr>
          <a:lstStyle/>
          <a:p>
            <a:pPr algn="l">
              <a:lnSpc>
                <a:spcPct val="102000"/>
              </a:lnSpc>
              <a:spcBef>
                <a:spcPts val="0"/>
              </a:spcBef>
              <a:spcAft>
                <a:spcPts val="200"/>
              </a:spcAft>
            </a:pPr>
            <a:r>
              <a:rPr sz="1200" b="1" spc="120">
                <a:solidFill>
                  <a:srgbClr val="8B8B93"/>
                </a:solidFill>
                <a:latin typeface="Instrument Sans"/>
              </a:rPr>
              <a:t>OBJECTIVE · </a:t>
            </a:r>
            <a:r>
              <a:rPr sz="1250" b="0">
                <a:solidFill>
                  <a:srgbClr val="ACACB4"/>
                </a:solidFill>
                <a:latin typeface="Instrument Sans"/>
              </a:rPr>
              <a:t>MS-4004 Finance: turn controlled source data into a verified finance dashboard</a:t>
            </a:r>
          </a:p>
        </p:txBody>
      </p:sp>
      <p:sp>
        <p:nvSpPr>
          <p:cNvPr id="9" name="Rectangle 8"/>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MAX Training · MS-4004 Finance Use Case</a:t>
            </a:r>
          </a:p>
        </p:txBody>
      </p:sp>
      <p:sp>
        <p:nvSpPr>
          <p:cNvPr id="11" name="TextBox 10"/>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MODULE 1 - CAPABILITY</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What Copilot in Excel can do</a:t>
            </a:r>
          </a:p>
        </p:txBody>
      </p:sp>
      <p:sp>
        <p:nvSpPr>
          <p:cNvPr id="4" name="Rounded Rectangle 3"/>
          <p:cNvSpPr/>
          <p:nvPr/>
        </p:nvSpPr>
        <p:spPr>
          <a:xfrm>
            <a:off x="640080" y="1828800"/>
            <a:ext cx="10908792" cy="63276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1861718"/>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t_2A2A30.png"/>
          <p:cNvPicPr>
            <a:picLocks noChangeAspect="1"/>
          </p:cNvPicPr>
          <p:nvPr/>
        </p:nvPicPr>
        <p:blipFill>
          <a:blip r:embed="rId2"/>
          <a:stretch>
            <a:fillRect/>
          </a:stretch>
        </p:blipFill>
        <p:spPr>
          <a:xfrm>
            <a:off x="1014984" y="1998878"/>
            <a:ext cx="292608" cy="292608"/>
          </a:xfrm>
          <a:prstGeom prst="rect">
            <a:avLst/>
          </a:prstGeom>
        </p:spPr>
      </p:pic>
      <p:sp>
        <p:nvSpPr>
          <p:cNvPr id="7" name="TextBox 6"/>
          <p:cNvSpPr txBox="1"/>
          <p:nvPr/>
        </p:nvSpPr>
        <p:spPr>
          <a:xfrm>
            <a:off x="1591056" y="1828800"/>
            <a:ext cx="2743200" cy="63276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Ask</a:t>
            </a:r>
          </a:p>
        </p:txBody>
      </p:sp>
      <p:sp>
        <p:nvSpPr>
          <p:cNvPr id="8" name="TextBox 7"/>
          <p:cNvSpPr txBox="1"/>
          <p:nvPr/>
        </p:nvSpPr>
        <p:spPr>
          <a:xfrm>
            <a:off x="4434840" y="1828800"/>
            <a:ext cx="6903720" cy="63276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Question your table in plain language - summaries, trends, outliers.</a:t>
            </a:r>
          </a:p>
        </p:txBody>
      </p:sp>
      <p:sp>
        <p:nvSpPr>
          <p:cNvPr id="9" name="Rounded Rectangle 8"/>
          <p:cNvSpPr/>
          <p:nvPr/>
        </p:nvSpPr>
        <p:spPr>
          <a:xfrm>
            <a:off x="640080" y="2607868"/>
            <a:ext cx="10908792" cy="63276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8" y="2640787"/>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ist_2A2A30.png"/>
          <p:cNvPicPr>
            <a:picLocks noChangeAspect="1"/>
          </p:cNvPicPr>
          <p:nvPr/>
        </p:nvPicPr>
        <p:blipFill>
          <a:blip r:embed="rId3"/>
          <a:stretch>
            <a:fillRect/>
          </a:stretch>
        </p:blipFill>
        <p:spPr>
          <a:xfrm>
            <a:off x="1014984" y="2777947"/>
            <a:ext cx="292608" cy="292608"/>
          </a:xfrm>
          <a:prstGeom prst="rect">
            <a:avLst/>
          </a:prstGeom>
        </p:spPr>
      </p:pic>
      <p:sp>
        <p:nvSpPr>
          <p:cNvPr id="12" name="TextBox 11"/>
          <p:cNvSpPr txBox="1"/>
          <p:nvPr/>
        </p:nvSpPr>
        <p:spPr>
          <a:xfrm>
            <a:off x="1591056" y="2607868"/>
            <a:ext cx="2743200" cy="63276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Add a column</a:t>
            </a:r>
          </a:p>
        </p:txBody>
      </p:sp>
      <p:sp>
        <p:nvSpPr>
          <p:cNvPr id="13" name="TextBox 12"/>
          <p:cNvSpPr txBox="1"/>
          <p:nvPr/>
        </p:nvSpPr>
        <p:spPr>
          <a:xfrm>
            <a:off x="4434840" y="2607868"/>
            <a:ext cx="6903720" cy="63276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Describe the calculation; Copilot writes the column and explains it.</a:t>
            </a:r>
          </a:p>
        </p:txBody>
      </p:sp>
      <p:sp>
        <p:nvSpPr>
          <p:cNvPr id="14" name="Rounded Rectangle 13"/>
          <p:cNvSpPr/>
          <p:nvPr/>
        </p:nvSpPr>
        <p:spPr>
          <a:xfrm>
            <a:off x="640080" y="3386937"/>
            <a:ext cx="10908792" cy="63276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248" y="3419856"/>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art_2A2A30.png"/>
          <p:cNvPicPr>
            <a:picLocks noChangeAspect="1"/>
          </p:cNvPicPr>
          <p:nvPr/>
        </p:nvPicPr>
        <p:blipFill>
          <a:blip r:embed="rId4"/>
          <a:stretch>
            <a:fillRect/>
          </a:stretch>
        </p:blipFill>
        <p:spPr>
          <a:xfrm>
            <a:off x="1014984" y="3557015"/>
            <a:ext cx="292608" cy="292608"/>
          </a:xfrm>
          <a:prstGeom prst="rect">
            <a:avLst/>
          </a:prstGeom>
        </p:spPr>
      </p:pic>
      <p:sp>
        <p:nvSpPr>
          <p:cNvPr id="17" name="TextBox 16"/>
          <p:cNvSpPr txBox="1"/>
          <p:nvPr/>
        </p:nvSpPr>
        <p:spPr>
          <a:xfrm>
            <a:off x="1591056" y="3386937"/>
            <a:ext cx="2743200" cy="63276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Chart it</a:t>
            </a:r>
          </a:p>
        </p:txBody>
      </p:sp>
      <p:sp>
        <p:nvSpPr>
          <p:cNvPr id="18" name="TextBox 17"/>
          <p:cNvSpPr txBox="1"/>
          <p:nvPr/>
        </p:nvSpPr>
        <p:spPr>
          <a:xfrm>
            <a:off x="4434840" y="3386937"/>
            <a:ext cx="6903720" cy="63276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Describe the chart; Copilot builds it linked to the source data.</a:t>
            </a:r>
          </a:p>
        </p:txBody>
      </p:sp>
      <p:sp>
        <p:nvSpPr>
          <p:cNvPr id="19" name="Rounded Rectangle 18"/>
          <p:cNvSpPr/>
          <p:nvPr/>
        </p:nvSpPr>
        <p:spPr>
          <a:xfrm>
            <a:off x="640080" y="4166006"/>
            <a:ext cx="10908792" cy="63276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1248" y="4198924"/>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eye_2A2A30.png"/>
          <p:cNvPicPr>
            <a:picLocks noChangeAspect="1"/>
          </p:cNvPicPr>
          <p:nvPr/>
        </p:nvPicPr>
        <p:blipFill>
          <a:blip r:embed="rId5"/>
          <a:stretch>
            <a:fillRect/>
          </a:stretch>
        </p:blipFill>
        <p:spPr>
          <a:xfrm>
            <a:off x="1014984" y="4336084"/>
            <a:ext cx="292608" cy="292608"/>
          </a:xfrm>
          <a:prstGeom prst="rect">
            <a:avLst/>
          </a:prstGeom>
        </p:spPr>
      </p:pic>
      <p:sp>
        <p:nvSpPr>
          <p:cNvPr id="22" name="TextBox 21"/>
          <p:cNvSpPr txBox="1"/>
          <p:nvPr/>
        </p:nvSpPr>
        <p:spPr>
          <a:xfrm>
            <a:off x="1591056" y="4166006"/>
            <a:ext cx="2743200" cy="63276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Highlight and sort</a:t>
            </a:r>
          </a:p>
        </p:txBody>
      </p:sp>
      <p:sp>
        <p:nvSpPr>
          <p:cNvPr id="23" name="TextBox 22"/>
          <p:cNvSpPr txBox="1"/>
          <p:nvPr/>
        </p:nvSpPr>
        <p:spPr>
          <a:xfrm>
            <a:off x="4434840" y="4166006"/>
            <a:ext cx="6903720" cy="63276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Surface top values or a filtered view - Copilot describes it, you press Apply.</a:t>
            </a:r>
          </a:p>
        </p:txBody>
      </p:sp>
      <p:sp>
        <p:nvSpPr>
          <p:cNvPr id="24" name="Rounded Rectangle 23"/>
          <p:cNvSpPr/>
          <p:nvPr/>
        </p:nvSpPr>
        <p:spPr>
          <a:xfrm>
            <a:off x="640080" y="4945075"/>
            <a:ext cx="10908792" cy="632764"/>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41248" y="4977993"/>
            <a:ext cx="566928" cy="566928"/>
          </a:xfrm>
          <a:prstGeom prst="ellipse">
            <a:avLst/>
          </a:prstGeom>
          <a:solidFill>
            <a:srgbClr val="E7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book_2A2A30.png"/>
          <p:cNvPicPr>
            <a:picLocks noChangeAspect="1"/>
          </p:cNvPicPr>
          <p:nvPr/>
        </p:nvPicPr>
        <p:blipFill>
          <a:blip r:embed="rId6"/>
          <a:stretch>
            <a:fillRect/>
          </a:stretch>
        </p:blipFill>
        <p:spPr>
          <a:xfrm>
            <a:off x="1014984" y="5115153"/>
            <a:ext cx="292608" cy="292608"/>
          </a:xfrm>
          <a:prstGeom prst="rect">
            <a:avLst/>
          </a:prstGeom>
        </p:spPr>
      </p:pic>
      <p:sp>
        <p:nvSpPr>
          <p:cNvPr id="27" name="TextBox 26"/>
          <p:cNvSpPr txBox="1"/>
          <p:nvPr/>
        </p:nvSpPr>
        <p:spPr>
          <a:xfrm>
            <a:off x="1591056" y="4945075"/>
            <a:ext cx="2743200" cy="632764"/>
          </a:xfrm>
          <a:prstGeom prst="rect">
            <a:avLst/>
          </a:prstGeom>
          <a:noFill/>
        </p:spPr>
        <p:txBody>
          <a:bodyPr wrap="square" anchor="ctr">
            <a:spAutoFit/>
          </a:bodyPr>
          <a:lstStyle/>
          <a:p>
            <a:pPr algn="l">
              <a:lnSpc>
                <a:spcPct val="100000"/>
              </a:lnSpc>
              <a:spcBef>
                <a:spcPts val="0"/>
              </a:spcBef>
              <a:spcAft>
                <a:spcPts val="200"/>
              </a:spcAft>
            </a:pPr>
            <a:r>
              <a:rPr sz="1800" b="1">
                <a:solidFill>
                  <a:srgbClr val="F5F5F6"/>
                </a:solidFill>
                <a:latin typeface="Instrument Sans"/>
              </a:rPr>
              <a:t>Explain a formula</a:t>
            </a:r>
          </a:p>
        </p:txBody>
      </p:sp>
      <p:sp>
        <p:nvSpPr>
          <p:cNvPr id="28" name="TextBox 27"/>
          <p:cNvSpPr txBox="1"/>
          <p:nvPr/>
        </p:nvSpPr>
        <p:spPr>
          <a:xfrm>
            <a:off x="4434840" y="4945075"/>
            <a:ext cx="6903720" cy="632764"/>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Select an inherited formula and get it back in plain language.</a:t>
            </a:r>
          </a:p>
        </p:txBody>
      </p:sp>
      <p:sp>
        <p:nvSpPr>
          <p:cNvPr id="29" name="Rounded Rectangle 28"/>
          <p:cNvSpPr/>
          <p:nvPr/>
        </p:nvSpPr>
        <p:spPr>
          <a:xfrm>
            <a:off x="640080" y="5760720"/>
            <a:ext cx="10908792" cy="658368"/>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warn_E0A93A.png"/>
          <p:cNvPicPr>
            <a:picLocks noChangeAspect="1"/>
          </p:cNvPicPr>
          <p:nvPr/>
        </p:nvPicPr>
        <p:blipFill>
          <a:blip r:embed="rId7"/>
          <a:stretch>
            <a:fillRect/>
          </a:stretch>
        </p:blipFill>
        <p:spPr>
          <a:xfrm>
            <a:off x="877824" y="5907024"/>
            <a:ext cx="365760" cy="365760"/>
          </a:xfrm>
          <a:prstGeom prst="rect">
            <a:avLst/>
          </a:prstGeom>
        </p:spPr>
      </p:pic>
      <p:sp>
        <p:nvSpPr>
          <p:cNvPr id="31" name="TextBox 30"/>
          <p:cNvSpPr txBox="1"/>
          <p:nvPr/>
        </p:nvSpPr>
        <p:spPr>
          <a:xfrm>
            <a:off x="1371600" y="5760720"/>
            <a:ext cx="9994392" cy="658368"/>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Copilot editing needs Calculation Options set to Automatic and a modern .xlsx file.</a:t>
            </a:r>
          </a:p>
        </p:txBody>
      </p:sp>
      <p:sp>
        <p:nvSpPr>
          <p:cNvPr id="32" name="Rectangle 31"/>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MAX Training · MS-4004 Finance Use Case</a:t>
            </a:r>
          </a:p>
        </p:txBody>
      </p:sp>
      <p:sp>
        <p:nvSpPr>
          <p:cNvPr id="34" name="TextBox 33"/>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FOLLOW ALONG - EVERYONE RUNS BOTH</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Profile the source tables</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OPEN THIS WORKBOOK</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USE · Northstar_Life_Finance_Starter.xlsx</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Name every source table and its grain</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Recognize intentional learner-output blanks</a:t>
            </a:r>
          </a:p>
        </p:txBody>
      </p:sp>
      <p:sp>
        <p:nvSpPr>
          <p:cNvPr id="12" name="Rectangle 11"/>
          <p:cNvSpPr/>
          <p:nvPr/>
        </p:nvSpPr>
        <p:spPr>
          <a:xfrm>
            <a:off x="914400" y="4553712"/>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07008" y="4443984"/>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Put only source defects in IssueLog</a:t>
            </a:r>
          </a:p>
        </p:txBody>
      </p:sp>
      <p:sp>
        <p:nvSpPr>
          <p:cNvPr id="14" name="TextBox 13"/>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PASTE THIS</a:t>
            </a:r>
          </a:p>
        </p:txBody>
      </p:sp>
      <p:sp>
        <p:nvSpPr>
          <p:cNvPr id="15" name="Rounded Rectangle 14"/>
          <p:cNvSpPr/>
          <p:nvPr/>
        </p:nvSpPr>
        <p:spPr>
          <a:xfrm>
            <a:off x="7040880" y="2286000"/>
            <a:ext cx="4507992" cy="1580388"/>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8" name="TextBox 17"/>
          <p:cNvSpPr txBox="1"/>
          <p:nvPr/>
        </p:nvSpPr>
        <p:spPr>
          <a:xfrm>
            <a:off x="7699248" y="2670048"/>
            <a:ext cx="3593591" cy="1141476"/>
          </a:xfrm>
          <a:prstGeom prst="rect">
            <a:avLst/>
          </a:prstGeom>
          <a:noFill/>
        </p:spPr>
        <p:txBody>
          <a:bodyPr wrap="square" anchor="t">
            <a:normAutofit/>
          </a:bodyPr>
          <a:lstStyle/>
          <a:p>
            <a:pPr algn="l">
              <a:lnSpc>
                <a:spcPct val="112000"/>
              </a:lnSpc>
              <a:spcBef>
                <a:spcPts val="0"/>
              </a:spcBef>
              <a:spcAft>
                <a:spcPts val="200"/>
              </a:spcAft>
            </a:pPr>
            <a:r>
              <a:rPr sz="1200" b="0">
                <a:solidFill>
                  <a:srgbClr val="C9C9D2"/>
                </a:solidFill>
                <a:latin typeface="Instrument Sans"/>
              </a:rPr>
              <a:t>Describe each source table in Northstar_Life_Finance_Starter.xlsx: its grain, key fields, row count, and how it relates to PerformanceData. Do not make business conclusions.</a:t>
            </a:r>
          </a:p>
        </p:txBody>
      </p:sp>
      <p:sp>
        <p:nvSpPr>
          <p:cNvPr id="19" name="Rounded Rectangle 18"/>
          <p:cNvSpPr/>
          <p:nvPr/>
        </p:nvSpPr>
        <p:spPr>
          <a:xfrm>
            <a:off x="7040880" y="4012692"/>
            <a:ext cx="4507992" cy="1985772"/>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242048" y="4177284"/>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42048" y="4158996"/>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2</a:t>
            </a:r>
          </a:p>
        </p:txBody>
      </p:sp>
      <p:sp>
        <p:nvSpPr>
          <p:cNvPr id="22" name="TextBox 21"/>
          <p:cNvSpPr txBox="1"/>
          <p:nvPr/>
        </p:nvSpPr>
        <p:spPr>
          <a:xfrm>
            <a:off x="7699248" y="4396740"/>
            <a:ext cx="3593591" cy="1546860"/>
          </a:xfrm>
          <a:prstGeom prst="rect">
            <a:avLst/>
          </a:prstGeom>
          <a:noFill/>
        </p:spPr>
        <p:txBody>
          <a:bodyPr wrap="square" anchor="t">
            <a:normAutofit/>
          </a:bodyPr>
          <a:lstStyle/>
          <a:p>
            <a:pPr algn="l">
              <a:lnSpc>
                <a:spcPct val="112000"/>
              </a:lnSpc>
              <a:spcBef>
                <a:spcPts val="0"/>
              </a:spcBef>
              <a:spcAft>
                <a:spcPts val="200"/>
              </a:spcAft>
            </a:pPr>
            <a:r>
              <a:rPr sz="1200" b="0">
                <a:solidFill>
                  <a:srgbClr val="C9C9D2"/>
                </a:solidFill>
                <a:latin typeface="Instrument Sans"/>
              </a:rPr>
              <a:t>Populate IssueLog with only true source-data defects: duplicate or broken identifiers, missing required source values, and inconsistent labels. Exclude green learner-output cells, blank templates or canvases, and DataQualityFlag warnings. Cite the exact sheet and cell or row. Do not correct anything yet.</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MAX Training · MS-4004 Finance Use Case</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FOLLOW ALONG - EVERYONE RUNS BOTH</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Clean only verified defects</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OPEN THIS WORKBOOK</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USE · Northstar_Life_Finance_Starter.xlsx</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Use IssueLog as the edit queue</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Standardize labels, not business meaning</a:t>
            </a:r>
          </a:p>
        </p:txBody>
      </p:sp>
      <p:sp>
        <p:nvSpPr>
          <p:cNvPr id="12" name="Rectangle 11"/>
          <p:cNvSpPr/>
          <p:nvPr/>
        </p:nvSpPr>
        <p:spPr>
          <a:xfrm>
            <a:off x="914400" y="4553712"/>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07008" y="4443984"/>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Restore source identity without changing values</a:t>
            </a:r>
          </a:p>
        </p:txBody>
      </p:sp>
      <p:sp>
        <p:nvSpPr>
          <p:cNvPr id="14" name="TextBox 13"/>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PASTE THIS</a:t>
            </a:r>
          </a:p>
        </p:txBody>
      </p:sp>
      <p:sp>
        <p:nvSpPr>
          <p:cNvPr id="15" name="Rounded Rectangle 14"/>
          <p:cNvSpPr/>
          <p:nvPr/>
        </p:nvSpPr>
        <p:spPr>
          <a:xfrm>
            <a:off x="7040880" y="2286000"/>
            <a:ext cx="4507992" cy="1687068"/>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8" name="TextBox 17"/>
          <p:cNvSpPr txBox="1"/>
          <p:nvPr/>
        </p:nvSpPr>
        <p:spPr>
          <a:xfrm>
            <a:off x="7699248" y="2670048"/>
            <a:ext cx="3593591" cy="1248156"/>
          </a:xfrm>
          <a:prstGeom prst="rect">
            <a:avLst/>
          </a:prstGeom>
          <a:noFill/>
        </p:spPr>
        <p:txBody>
          <a:bodyPr wrap="square" anchor="t">
            <a:normAutofit/>
          </a:bodyPr>
          <a:lstStyle/>
          <a:p>
            <a:pPr algn="l">
              <a:lnSpc>
                <a:spcPct val="112000"/>
              </a:lnSpc>
              <a:spcBef>
                <a:spcPts val="0"/>
              </a:spcBef>
              <a:spcAft>
                <a:spcPts val="200"/>
              </a:spcAft>
            </a:pPr>
            <a:r>
              <a:rPr sz="1300" b="0">
                <a:solidFill>
                  <a:srgbClr val="C9C9D2"/>
                </a:solidFill>
                <a:latin typeface="Instrument Sans"/>
              </a:rPr>
              <a:t>Using IssueLog, propose a correction for each source-data issue. Do not guess a missing owner. For duplicate identifiers, preserve financial values and correct only the identifier after confirming row context. Wait for approval.</a:t>
            </a:r>
          </a:p>
        </p:txBody>
      </p:sp>
      <p:sp>
        <p:nvSpPr>
          <p:cNvPr id="19" name="Rounded Rectangle 18"/>
          <p:cNvSpPr/>
          <p:nvPr/>
        </p:nvSpPr>
        <p:spPr>
          <a:xfrm>
            <a:off x="7040880" y="4119372"/>
            <a:ext cx="4507992" cy="146304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242048" y="4283964"/>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42048" y="4265676"/>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2</a:t>
            </a:r>
          </a:p>
        </p:txBody>
      </p:sp>
      <p:sp>
        <p:nvSpPr>
          <p:cNvPr id="22" name="TextBox 21"/>
          <p:cNvSpPr txBox="1"/>
          <p:nvPr/>
        </p:nvSpPr>
        <p:spPr>
          <a:xfrm>
            <a:off x="7699248" y="4503420"/>
            <a:ext cx="3593591" cy="1024128"/>
          </a:xfrm>
          <a:prstGeom prst="rect">
            <a:avLst/>
          </a:prstGeom>
          <a:noFill/>
        </p:spPr>
        <p:txBody>
          <a:bodyPr wrap="square" anchor="t">
            <a:normAutofit/>
          </a:bodyPr>
          <a:lstStyle/>
          <a:p>
            <a:pPr algn="l">
              <a:lnSpc>
                <a:spcPct val="112000"/>
              </a:lnSpc>
              <a:spcBef>
                <a:spcPts val="0"/>
              </a:spcBef>
              <a:spcAft>
                <a:spcPts val="200"/>
              </a:spcAft>
            </a:pPr>
            <a:r>
              <a:rPr sz="1300" b="0">
                <a:solidFill>
                  <a:srgbClr val="C9C9D2"/>
                </a:solidFill>
                <a:latin typeface="Instrument Sans"/>
              </a:rPr>
              <a:t>Apply only the approved corrections. Standardize month and region labels, restore unique record IDs, and leave unresolved owner fields blank with status Blocked. Summarize every cell changed.</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MAX Training · MS-4004 Finance Use Case</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GUIDED FOLLOW-ALONG - RECONCILE AND EXPLAIN</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100" b="1">
                <a:solidFill>
                  <a:srgbClr val="F5F5F6"/>
                </a:solidFill>
                <a:latin typeface="Instrument Sans"/>
              </a:rPr>
              <a:t>Build the control, then explain it</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OPEN THIS WORKBOOK</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USE · Northstar_Life_Finance_Starter.xlsx</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Build the reconciliation formulas</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Trace the full control chain</a:t>
            </a:r>
          </a:p>
        </p:txBody>
      </p:sp>
      <p:sp>
        <p:nvSpPr>
          <p:cNvPr id="12" name="Rectangle 11"/>
          <p:cNvSpPr/>
          <p:nvPr/>
        </p:nvSpPr>
        <p:spPr>
          <a:xfrm>
            <a:off x="914400" y="4553712"/>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07008" y="4443984"/>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Explain source, criteria, and tolerance</a:t>
            </a:r>
          </a:p>
        </p:txBody>
      </p:sp>
      <p:sp>
        <p:nvSpPr>
          <p:cNvPr id="14" name="TextBox 13"/>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RUN BOTH</a:t>
            </a:r>
          </a:p>
        </p:txBody>
      </p:sp>
      <p:sp>
        <p:nvSpPr>
          <p:cNvPr id="15" name="Rounded Rectangle 14"/>
          <p:cNvSpPr/>
          <p:nvPr/>
        </p:nvSpPr>
        <p:spPr>
          <a:xfrm>
            <a:off x="7040880" y="2286000"/>
            <a:ext cx="4507992" cy="154838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8" name="TextBox 17"/>
          <p:cNvSpPr txBox="1"/>
          <p:nvPr/>
        </p:nvSpPr>
        <p:spPr>
          <a:xfrm>
            <a:off x="7699248" y="2670048"/>
            <a:ext cx="3593591" cy="1109472"/>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Complete Reconciliation: build SummaryActual, DetailTotal, Difference, and PASS/REVIEW formulas. Return every REVIEW row.</a:t>
            </a:r>
          </a:p>
        </p:txBody>
      </p:sp>
      <p:sp>
        <p:nvSpPr>
          <p:cNvPr id="19" name="Rounded Rectangle 18"/>
          <p:cNvSpPr/>
          <p:nvPr/>
        </p:nvSpPr>
        <p:spPr>
          <a:xfrm>
            <a:off x="7040880" y="3980688"/>
            <a:ext cx="4507992" cy="154838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242048" y="4145280"/>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42048" y="4126992"/>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2</a:t>
            </a:r>
          </a:p>
        </p:txBody>
      </p:sp>
      <p:sp>
        <p:nvSpPr>
          <p:cNvPr id="22" name="TextBox 21"/>
          <p:cNvSpPr txBox="1"/>
          <p:nvPr/>
        </p:nvSpPr>
        <p:spPr>
          <a:xfrm>
            <a:off x="7699248" y="4364736"/>
            <a:ext cx="3593591" cy="1109472"/>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Explain one full control row: trace each formula to its source, criteria, and tolerance. Show how to verify it independently.</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MAX Training · MS-4004 Finance Use Case</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MODULE 1 - THE EDIT GATE</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Pause after Copilot writes</a:t>
            </a:r>
          </a:p>
        </p:txBody>
      </p:sp>
      <p:sp>
        <p:nvSpPr>
          <p:cNvPr id="4" name="Rounded Rectangle 3"/>
          <p:cNvSpPr/>
          <p:nvPr/>
        </p:nvSpPr>
        <p:spPr>
          <a:xfrm>
            <a:off x="640080" y="1874519"/>
            <a:ext cx="5285232" cy="3063240"/>
          </a:xfrm>
          <a:prstGeom prst="roundRect">
            <a:avLst>
              <a:gd name="adj" fmla="val 6000"/>
            </a:avLst>
          </a:prstGeom>
          <a:solidFill>
            <a:srgbClr val="34343A"/>
          </a:solidFill>
          <a:ln w="19050">
            <a:solidFill>
              <a:srgbClr val="2E6E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en_46B17A.png"/>
          <p:cNvPicPr>
            <a:picLocks noChangeAspect="1"/>
          </p:cNvPicPr>
          <p:nvPr/>
        </p:nvPicPr>
        <p:blipFill>
          <a:blip r:embed="rId2"/>
          <a:stretch>
            <a:fillRect/>
          </a:stretch>
        </p:blipFill>
        <p:spPr>
          <a:xfrm>
            <a:off x="914400" y="2167127"/>
            <a:ext cx="384048" cy="384048"/>
          </a:xfrm>
          <a:prstGeom prst="rect">
            <a:avLst/>
          </a:prstGeom>
        </p:spPr>
      </p:pic>
      <p:sp>
        <p:nvSpPr>
          <p:cNvPr id="6" name="TextBox 5"/>
          <p:cNvSpPr txBox="1"/>
          <p:nvPr/>
        </p:nvSpPr>
        <p:spPr>
          <a:xfrm>
            <a:off x="1417319"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Before the edit</a:t>
            </a:r>
          </a:p>
        </p:txBody>
      </p:sp>
      <p:sp>
        <p:nvSpPr>
          <p:cNvPr id="7" name="Rectangle 6"/>
          <p:cNvSpPr/>
          <p:nvPr/>
        </p:nvSpPr>
        <p:spPr>
          <a:xfrm>
            <a:off x="932688" y="3291839"/>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43584"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Work on the learner copy</a:t>
            </a:r>
          </a:p>
        </p:txBody>
      </p:sp>
      <p:sp>
        <p:nvSpPr>
          <p:cNvPr id="9" name="Rectangle 8"/>
          <p:cNvSpPr/>
          <p:nvPr/>
        </p:nvSpPr>
        <p:spPr>
          <a:xfrm>
            <a:off x="932688" y="3858768"/>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43584"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State approved corrections</a:t>
            </a:r>
          </a:p>
        </p:txBody>
      </p:sp>
      <p:sp>
        <p:nvSpPr>
          <p:cNvPr id="11" name="Rectangle 10"/>
          <p:cNvSpPr/>
          <p:nvPr/>
        </p:nvSpPr>
        <p:spPr>
          <a:xfrm>
            <a:off x="932688" y="4425696"/>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43584"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Choose Edit deliberately</a:t>
            </a:r>
          </a:p>
        </p:txBody>
      </p:sp>
      <p:sp>
        <p:nvSpPr>
          <p:cNvPr id="13" name="Rounded Rectangle 12"/>
          <p:cNvSpPr/>
          <p:nvPr/>
        </p:nvSpPr>
        <p:spPr>
          <a:xfrm>
            <a:off x="6199632" y="1874519"/>
            <a:ext cx="5285232"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eye_ACACB4.png"/>
          <p:cNvPicPr>
            <a:picLocks noChangeAspect="1"/>
          </p:cNvPicPr>
          <p:nvPr/>
        </p:nvPicPr>
        <p:blipFill>
          <a:blip r:embed="rId3"/>
          <a:stretch>
            <a:fillRect/>
          </a:stretch>
        </p:blipFill>
        <p:spPr>
          <a:xfrm>
            <a:off x="6473952" y="2167127"/>
            <a:ext cx="384048" cy="384048"/>
          </a:xfrm>
          <a:prstGeom prst="rect">
            <a:avLst/>
          </a:prstGeom>
        </p:spPr>
      </p:pic>
      <p:sp>
        <p:nvSpPr>
          <p:cNvPr id="15" name="TextBox 14"/>
          <p:cNvSpPr txBox="1"/>
          <p:nvPr/>
        </p:nvSpPr>
        <p:spPr>
          <a:xfrm>
            <a:off x="6976872"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After the edit</a:t>
            </a:r>
          </a:p>
        </p:txBody>
      </p:sp>
      <p:sp>
        <p:nvSpPr>
          <p:cNvPr id="16" name="Rectangle 15"/>
          <p:cNvSpPr/>
          <p:nvPr/>
        </p:nvSpPr>
        <p:spPr>
          <a:xfrm>
            <a:off x="6492240" y="3291839"/>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03136"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Inspect changed cells and formulas</a:t>
            </a:r>
          </a:p>
        </p:txBody>
      </p:sp>
      <p:sp>
        <p:nvSpPr>
          <p:cNvPr id="18" name="Rectangle 17"/>
          <p:cNvSpPr/>
          <p:nvPr/>
        </p:nvSpPr>
        <p:spPr>
          <a:xfrm>
            <a:off x="6492240" y="3858768"/>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03136"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Compare against IssueLog</a:t>
            </a:r>
          </a:p>
        </p:txBody>
      </p:sp>
      <p:sp>
        <p:nvSpPr>
          <p:cNvPr id="20" name="Rectangle 19"/>
          <p:cNvSpPr/>
          <p:nvPr/>
        </p:nvSpPr>
        <p:spPr>
          <a:xfrm>
            <a:off x="6492240" y="4425696"/>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03136"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Undo anything outside scope</a:t>
            </a:r>
          </a:p>
        </p:txBody>
      </p:sp>
      <p:sp>
        <p:nvSpPr>
          <p:cNvPr id="22" name="Rounded Rectangle 21"/>
          <p:cNvSpPr/>
          <p:nvPr/>
        </p:nvSpPr>
        <p:spPr>
          <a:xfrm>
            <a:off x="640080" y="5138928"/>
            <a:ext cx="10908792" cy="713232"/>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warn_E0A93A.png"/>
          <p:cNvPicPr>
            <a:picLocks noChangeAspect="1"/>
          </p:cNvPicPr>
          <p:nvPr/>
        </p:nvPicPr>
        <p:blipFill>
          <a:blip r:embed="rId4"/>
          <a:stretch>
            <a:fillRect/>
          </a:stretch>
        </p:blipFill>
        <p:spPr>
          <a:xfrm>
            <a:off x="877824" y="5312664"/>
            <a:ext cx="365760" cy="365760"/>
          </a:xfrm>
          <a:prstGeom prst="rect">
            <a:avLst/>
          </a:prstGeom>
        </p:spPr>
      </p:pic>
      <p:sp>
        <p:nvSpPr>
          <p:cNvPr id="24" name="TextBox 23"/>
          <p:cNvSpPr txBox="1"/>
          <p:nvPr/>
        </p:nvSpPr>
        <p:spPr>
          <a:xfrm>
            <a:off x="1371600" y="5138928"/>
            <a:ext cx="9994392" cy="713232"/>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A successful edit is not a verified edit. Inspect the workbook before continuing.</a:t>
            </a:r>
          </a:p>
        </p:txBody>
      </p:sp>
      <p:sp>
        <p:nvSpPr>
          <p:cNvPr id="25" name="Rectangle 24"/>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MAX Training · MS-4004 Finance Use Case</a:t>
            </a:r>
          </a:p>
        </p:txBody>
      </p:sp>
      <p:sp>
        <p:nvSpPr>
          <p:cNvPr id="27" name="TextBox 26"/>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MAKE EXCEL YOURS - PASTE THIS</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100" b="1">
                <a:solidFill>
                  <a:srgbClr val="F5F5F6"/>
                </a:solidFill>
                <a:latin typeface="Instrument Sans"/>
              </a:rPr>
              <a:t>Set personalization, then prove it</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OPEN THIS WORKBOOK</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USE · Northstar_Life_Finance_Starter.xlsx</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Settings &gt; Personalization</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Save your finance defaults</a:t>
            </a:r>
          </a:p>
        </p:txBody>
      </p:sp>
      <p:sp>
        <p:nvSpPr>
          <p:cNvPr id="12" name="Rectangle 11"/>
          <p:cNvSpPr/>
          <p:nvPr/>
        </p:nvSpPr>
        <p:spPr>
          <a:xfrm>
            <a:off x="914400" y="4553712"/>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07008" y="4443984"/>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Run a clean test prompt</a:t>
            </a:r>
          </a:p>
        </p:txBody>
      </p:sp>
      <p:sp>
        <p:nvSpPr>
          <p:cNvPr id="14" name="TextBox 13"/>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PASTE THIS</a:t>
            </a:r>
          </a:p>
        </p:txBody>
      </p:sp>
      <p:sp>
        <p:nvSpPr>
          <p:cNvPr id="15" name="Rounded Rectangle 14"/>
          <p:cNvSpPr/>
          <p:nvPr/>
        </p:nvSpPr>
        <p:spPr>
          <a:xfrm>
            <a:off x="7040880" y="2286000"/>
            <a:ext cx="4507992" cy="2039112"/>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8" name="TextBox 17"/>
          <p:cNvSpPr txBox="1"/>
          <p:nvPr/>
        </p:nvSpPr>
        <p:spPr>
          <a:xfrm>
            <a:off x="7699248" y="2670048"/>
            <a:ext cx="3593591" cy="1600200"/>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Format currency as US dollars with thousand separators and no decimals. Call variances favorable or unfavorable, never positive or negative. When you state a number, name the sheet and the row it came from.</a:t>
            </a:r>
          </a:p>
        </p:txBody>
      </p:sp>
      <p:sp>
        <p:nvSpPr>
          <p:cNvPr id="19" name="Rounded Rectangle 18"/>
          <p:cNvSpPr/>
          <p:nvPr/>
        </p:nvSpPr>
        <p:spPr>
          <a:xfrm>
            <a:off x="7040880" y="4471416"/>
            <a:ext cx="4507992" cy="1057656"/>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242048" y="4636008"/>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42048" y="4617720"/>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2</a:t>
            </a:r>
          </a:p>
        </p:txBody>
      </p:sp>
      <p:sp>
        <p:nvSpPr>
          <p:cNvPr id="22" name="TextBox 21"/>
          <p:cNvSpPr txBox="1"/>
          <p:nvPr/>
        </p:nvSpPr>
        <p:spPr>
          <a:xfrm>
            <a:off x="7699248" y="4855464"/>
            <a:ext cx="3593591" cy="618744"/>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Summarize the June rows in PerformanceData.</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MAX Training · MS-4004 Finance Use Case</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MAKE EXCEL YOURS - PASTE THIS</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Promote the clause to a rule</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OPEN THIS WORKBOOK</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USE · Northstar_Life_Finance_Starter.xlsx</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A rule rides with the workbook</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Encode the convention, not the answer</a:t>
            </a:r>
          </a:p>
        </p:txBody>
      </p:sp>
      <p:sp>
        <p:nvSpPr>
          <p:cNvPr id="12" name="Rectangle 11"/>
          <p:cNvSpPr/>
          <p:nvPr/>
        </p:nvSpPr>
        <p:spPr>
          <a:xfrm>
            <a:off x="914400" y="4553712"/>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07008" y="4443984"/>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Repeated clause today, rule tomorrow</a:t>
            </a:r>
          </a:p>
        </p:txBody>
      </p:sp>
      <p:sp>
        <p:nvSpPr>
          <p:cNvPr id="14" name="TextBox 13"/>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PASTE THIS</a:t>
            </a:r>
          </a:p>
        </p:txBody>
      </p:sp>
      <p:sp>
        <p:nvSpPr>
          <p:cNvPr id="15" name="Rounded Rectangle 14"/>
          <p:cNvSpPr/>
          <p:nvPr/>
        </p:nvSpPr>
        <p:spPr>
          <a:xfrm>
            <a:off x="7040880" y="2286000"/>
            <a:ext cx="4507992" cy="13030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8" name="TextBox 17"/>
          <p:cNvSpPr txBox="1"/>
          <p:nvPr/>
        </p:nvSpPr>
        <p:spPr>
          <a:xfrm>
            <a:off x="7699248" y="2670048"/>
            <a:ext cx="3593591" cy="864108"/>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Add a workbook rule: revenue below plan is unfavorable, and claims or operating expense above plan is unfavorable.</a:t>
            </a:r>
          </a:p>
        </p:txBody>
      </p:sp>
      <p:sp>
        <p:nvSpPr>
          <p:cNvPr id="19" name="Rounded Rectangle 18"/>
          <p:cNvSpPr/>
          <p:nvPr/>
        </p:nvSpPr>
        <p:spPr>
          <a:xfrm>
            <a:off x="7040880" y="3735324"/>
            <a:ext cx="4507992" cy="1057656"/>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242048" y="3899915"/>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42048" y="3881628"/>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2</a:t>
            </a:r>
          </a:p>
        </p:txBody>
      </p:sp>
      <p:sp>
        <p:nvSpPr>
          <p:cNvPr id="22" name="TextBox 21"/>
          <p:cNvSpPr txBox="1"/>
          <p:nvPr/>
        </p:nvSpPr>
        <p:spPr>
          <a:xfrm>
            <a:off x="7699248" y="4119372"/>
            <a:ext cx="3593591" cy="618744"/>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Rank the five largest unfavorable variances in PerformanceData.</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MAX Training · MS-4004 Finance Use Case</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COPILOT IN EXCEL - CUSTOM SKILLS</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100" b="1">
                <a:solidFill>
                  <a:srgbClr val="F5F5F6"/>
                </a:solidFill>
                <a:latin typeface="Instrument Sans"/>
              </a:rPr>
              <a:t>Create a reusable finance-review skill</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DOWNLOAD + OPEN</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USE · Northstar_Finance_Review_Skill.zip</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USE · northstar-finance-review/SKILL.md</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Frontmatter says when to use it</a:t>
            </a:r>
          </a:p>
        </p:txBody>
      </p:sp>
      <p:sp>
        <p:nvSpPr>
          <p:cNvPr id="12" name="Rectangle 11"/>
          <p:cNvSpPr/>
          <p:nvPr/>
        </p:nvSpPr>
        <p:spPr>
          <a:xfrm>
            <a:off x="914400" y="4553712"/>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07008" y="4443984"/>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Body defines workflow, output, and checks</a:t>
            </a:r>
          </a:p>
        </p:txBody>
      </p:sp>
      <p:sp>
        <p:nvSpPr>
          <p:cNvPr id="14" name="TextBox 13"/>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CREATE OR INSTALL</a:t>
            </a:r>
          </a:p>
        </p:txBody>
      </p:sp>
      <p:sp>
        <p:nvSpPr>
          <p:cNvPr id="15" name="Rounded Rectangle 14"/>
          <p:cNvSpPr/>
          <p:nvPr/>
        </p:nvSpPr>
        <p:spPr>
          <a:xfrm>
            <a:off x="7040880" y="2286000"/>
            <a:ext cx="4507992" cy="790956"/>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8" name="TextBox 17"/>
          <p:cNvSpPr txBox="1"/>
          <p:nvPr/>
        </p:nvSpPr>
        <p:spPr>
          <a:xfrm>
            <a:off x="7699248" y="2670048"/>
            <a:ext cx="3593591" cy="352044"/>
          </a:xfrm>
          <a:prstGeom prst="rect">
            <a:avLst/>
          </a:prstGeom>
          <a:noFill/>
        </p:spPr>
        <p:txBody>
          <a:bodyPr wrap="square" anchor="t">
            <a:normAutofit/>
          </a:bodyPr>
          <a:lstStyle/>
          <a:p>
            <a:pPr algn="l">
              <a:lnSpc>
                <a:spcPct val="112000"/>
              </a:lnSpc>
              <a:spcBef>
                <a:spcPts val="0"/>
              </a:spcBef>
              <a:spcAft>
                <a:spcPts val="200"/>
              </a:spcAft>
            </a:pPr>
            <a:r>
              <a:rPr sz="1300" b="0">
                <a:solidFill>
                  <a:srgbClr val="C9C9D2"/>
                </a:solidFill>
                <a:latin typeface="Instrument Sans"/>
              </a:rPr>
              <a:t>Settings → Manage skills → Custom skills</a:t>
            </a:r>
          </a:p>
        </p:txBody>
      </p:sp>
      <p:sp>
        <p:nvSpPr>
          <p:cNvPr id="19" name="Rounded Rectangle 18"/>
          <p:cNvSpPr/>
          <p:nvPr/>
        </p:nvSpPr>
        <p:spPr>
          <a:xfrm>
            <a:off x="7040880" y="3223260"/>
            <a:ext cx="4507992" cy="790956"/>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242048" y="338785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42048" y="336956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2</a:t>
            </a:r>
          </a:p>
        </p:txBody>
      </p:sp>
      <p:sp>
        <p:nvSpPr>
          <p:cNvPr id="22" name="TextBox 21"/>
          <p:cNvSpPr txBox="1"/>
          <p:nvPr/>
        </p:nvSpPr>
        <p:spPr>
          <a:xfrm>
            <a:off x="7699248" y="3607308"/>
            <a:ext cx="3593591" cy="352044"/>
          </a:xfrm>
          <a:prstGeom prst="rect">
            <a:avLst/>
          </a:prstGeom>
          <a:noFill/>
        </p:spPr>
        <p:txBody>
          <a:bodyPr wrap="square" anchor="t">
            <a:normAutofit/>
          </a:bodyPr>
          <a:lstStyle/>
          <a:p>
            <a:pPr algn="l">
              <a:lnSpc>
                <a:spcPct val="112000"/>
              </a:lnSpc>
              <a:spcBef>
                <a:spcPts val="0"/>
              </a:spcBef>
              <a:spcAft>
                <a:spcPts val="200"/>
              </a:spcAft>
            </a:pPr>
            <a:r>
              <a:rPr sz="1300" b="0">
                <a:solidFill>
                  <a:srgbClr val="C9C9D2"/>
                </a:solidFill>
                <a:latin typeface="Instrument Sans"/>
              </a:rPr>
              <a:t>Create/Open the OneDrive skills folder</a:t>
            </a:r>
          </a:p>
        </p:txBody>
      </p:sp>
      <p:sp>
        <p:nvSpPr>
          <p:cNvPr id="23" name="Rounded Rectangle 22"/>
          <p:cNvSpPr/>
          <p:nvPr/>
        </p:nvSpPr>
        <p:spPr>
          <a:xfrm>
            <a:off x="7040880" y="4160520"/>
            <a:ext cx="4507992" cy="790956"/>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242048" y="432511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42048" y="430682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3</a:t>
            </a:r>
          </a:p>
        </p:txBody>
      </p:sp>
      <p:sp>
        <p:nvSpPr>
          <p:cNvPr id="26" name="TextBox 25"/>
          <p:cNvSpPr txBox="1"/>
          <p:nvPr/>
        </p:nvSpPr>
        <p:spPr>
          <a:xfrm>
            <a:off x="7699248" y="4544568"/>
            <a:ext cx="3593591" cy="352044"/>
          </a:xfrm>
          <a:prstGeom prst="rect">
            <a:avLst/>
          </a:prstGeom>
          <a:noFill/>
        </p:spPr>
        <p:txBody>
          <a:bodyPr wrap="square" anchor="t">
            <a:normAutofit/>
          </a:bodyPr>
          <a:lstStyle/>
          <a:p>
            <a:pPr algn="l">
              <a:lnSpc>
                <a:spcPct val="112000"/>
              </a:lnSpc>
              <a:spcBef>
                <a:spcPts val="0"/>
              </a:spcBef>
              <a:spcAft>
                <a:spcPts val="200"/>
              </a:spcAft>
            </a:pPr>
            <a:r>
              <a:rPr sz="1300" b="0">
                <a:solidFill>
                  <a:srgbClr val="C9C9D2"/>
                </a:solidFill>
                <a:latin typeface="Instrument Sans"/>
              </a:rPr>
              <a:t>Extract the skill folder; inspect and edit SKILL.md</a:t>
            </a:r>
          </a:p>
        </p:txBody>
      </p:sp>
      <p:sp>
        <p:nvSpPr>
          <p:cNvPr id="27" name="Rounded Rectangle 26"/>
          <p:cNvSpPr/>
          <p:nvPr/>
        </p:nvSpPr>
        <p:spPr>
          <a:xfrm>
            <a:off x="7040880" y="5097779"/>
            <a:ext cx="4507992" cy="790956"/>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242048" y="5262371"/>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42048" y="5244083"/>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4</a:t>
            </a:r>
          </a:p>
        </p:txBody>
      </p:sp>
      <p:sp>
        <p:nvSpPr>
          <p:cNvPr id="30" name="TextBox 29"/>
          <p:cNvSpPr txBox="1"/>
          <p:nvPr/>
        </p:nvSpPr>
        <p:spPr>
          <a:xfrm>
            <a:off x="7699248" y="5481827"/>
            <a:ext cx="3593591" cy="352044"/>
          </a:xfrm>
          <a:prstGeom prst="rect">
            <a:avLst/>
          </a:prstGeom>
          <a:noFill/>
        </p:spPr>
        <p:txBody>
          <a:bodyPr wrap="square" anchor="t">
            <a:normAutofit/>
          </a:bodyPr>
          <a:lstStyle/>
          <a:p>
            <a:pPr algn="l">
              <a:lnSpc>
                <a:spcPct val="112000"/>
              </a:lnSpc>
              <a:spcBef>
                <a:spcPts val="0"/>
              </a:spcBef>
              <a:spcAft>
                <a:spcPts val="200"/>
              </a:spcAft>
            </a:pPr>
            <a:r>
              <a:rPr sz="1300" b="0">
                <a:solidFill>
                  <a:srgbClr val="C9C9D2"/>
                </a:solidFill>
                <a:latin typeface="Instrument Sans"/>
              </a:rPr>
              <a:t>Return to Custom skills and select Refresh</a:t>
            </a:r>
          </a:p>
        </p:txBody>
      </p:sp>
      <p:sp>
        <p:nvSpPr>
          <p:cNvPr id="31" name="Rectangle 30"/>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MAX Training · MS-4004 Finance Use Case</a:t>
            </a:r>
          </a:p>
        </p:txBody>
      </p:sp>
      <p:sp>
        <p:nvSpPr>
          <p:cNvPr id="33" name="TextBox 32"/>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GUIDED FOLLOW-ALONG - RUN THE SKILL</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100" b="1">
                <a:solidFill>
                  <a:srgbClr val="F5F5F6"/>
                </a:solidFill>
                <a:latin typeface="Instrument Sans"/>
              </a:rPr>
              <a:t>Invoke the skill, then verify its work</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OPEN + USE</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USE · Northstar_Life_Finance_Starter.xlsx</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USE · northstar-finance-review/SKILL.md</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Output: SkillReview worksheet</a:t>
            </a:r>
          </a:p>
        </p:txBody>
      </p:sp>
      <p:sp>
        <p:nvSpPr>
          <p:cNvPr id="12" name="Rectangle 11"/>
          <p:cNvSpPr/>
          <p:nvPr/>
        </p:nvSpPr>
        <p:spPr>
          <a:xfrm>
            <a:off x="914400" y="4553712"/>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07008" y="4443984"/>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Check one formula and one source reference</a:t>
            </a:r>
          </a:p>
        </p:txBody>
      </p:sp>
      <p:sp>
        <p:nvSpPr>
          <p:cNvPr id="14" name="TextBox 13"/>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PASTE THIS</a:t>
            </a:r>
          </a:p>
        </p:txBody>
      </p:sp>
      <p:sp>
        <p:nvSpPr>
          <p:cNvPr id="15" name="Rounded Rectangle 14"/>
          <p:cNvSpPr/>
          <p:nvPr/>
        </p:nvSpPr>
        <p:spPr>
          <a:xfrm>
            <a:off x="7040880" y="2286000"/>
            <a:ext cx="4507992" cy="2039112"/>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8" name="TextBox 17"/>
          <p:cNvSpPr txBox="1"/>
          <p:nvPr/>
        </p:nvSpPr>
        <p:spPr>
          <a:xfrm>
            <a:off x="7699248" y="2670048"/>
            <a:ext cx="3593591" cy="1600200"/>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@northstar-finance-review Review this workbook. Stop if reconciliation fails; create SkillReview; rank five unfavorable variances; cite sources; independently recalculate the top finding; label every explanation.</a:t>
            </a:r>
          </a:p>
        </p:txBody>
      </p:sp>
      <p:sp>
        <p:nvSpPr>
          <p:cNvPr id="19" name="Rectangle 18"/>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MAX Training · MS-4004 Finance Use Case</a:t>
            </a:r>
          </a:p>
        </p:txBody>
      </p:sp>
      <p:sp>
        <p:nvSpPr>
          <p:cNvPr id="21" name="TextBox 20"/>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finance_desk.png"/>
          <p:cNvPicPr>
            <a:picLocks noChangeAspect="1"/>
          </p:cNvPicPr>
          <p:nvPr/>
        </p:nvPicPr>
        <p:blipFill>
          <a:blip r:embed="rId2"/>
          <a:stretch>
            <a:fillRect/>
          </a:stretch>
        </p:blipFill>
        <p:spPr>
          <a:xfrm>
            <a:off x="7680960" y="0"/>
            <a:ext cx="4507992" cy="6858000"/>
          </a:xfrm>
          <a:prstGeom prst="rect">
            <a:avLst/>
          </a:prstGeom>
        </p:spPr>
      </p:pic>
      <p:sp>
        <p:nvSpPr>
          <p:cNvPr id="3" name="Rectangle 2"/>
          <p:cNvSpPr/>
          <p:nvPr/>
        </p:nvSpPr>
        <p:spPr>
          <a:xfrm>
            <a:off x="768096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0"/>
            <a:ext cx="6400800" cy="365760"/>
          </a:xfrm>
          <a:prstGeom prst="rect">
            <a:avLst/>
          </a:prstGeom>
          <a:noFill/>
        </p:spPr>
        <p:txBody>
          <a:bodyPr wrap="square" anchor="t">
            <a:spAutoFit/>
          </a:bodyPr>
          <a:lstStyle/>
          <a:p>
            <a:pPr algn="l">
              <a:lnSpc>
                <a:spcPct val="100000"/>
              </a:lnSpc>
              <a:spcBef>
                <a:spcPts val="0"/>
              </a:spcBef>
              <a:spcAft>
                <a:spcPts val="200"/>
              </a:spcAft>
            </a:pPr>
            <a:r>
              <a:rPr sz="1300" b="1" spc="200">
                <a:solidFill>
                  <a:srgbClr val="8B8B93"/>
                </a:solidFill>
                <a:latin typeface="Instrument Sans"/>
              </a:rPr>
              <a:t>BREAK</a:t>
            </a:r>
          </a:p>
        </p:txBody>
      </p:sp>
      <p:sp>
        <p:nvSpPr>
          <p:cNvPr id="5" name="TextBox 4"/>
          <p:cNvSpPr txBox="1"/>
          <p:nvPr/>
        </p:nvSpPr>
        <p:spPr>
          <a:xfrm>
            <a:off x="804672" y="2743200"/>
            <a:ext cx="6766560" cy="1371600"/>
          </a:xfrm>
          <a:prstGeom prst="rect">
            <a:avLst/>
          </a:prstGeom>
          <a:noFill/>
        </p:spPr>
        <p:txBody>
          <a:bodyPr wrap="square" anchor="t">
            <a:spAutoFit/>
          </a:bodyPr>
          <a:lstStyle/>
          <a:p>
            <a:pPr algn="l">
              <a:lnSpc>
                <a:spcPct val="102000"/>
              </a:lnSpc>
              <a:spcBef>
                <a:spcPts val="0"/>
              </a:spcBef>
              <a:spcAft>
                <a:spcPts val="200"/>
              </a:spcAft>
            </a:pPr>
            <a:r>
              <a:rPr sz="4000" b="1">
                <a:solidFill>
                  <a:srgbClr val="F5F5F6"/>
                </a:solidFill>
                <a:latin typeface="Instrument Sans"/>
              </a:rPr>
              <a:t>Back in 10 minutes</a:t>
            </a:r>
          </a:p>
        </p:txBody>
      </p:sp>
      <p:sp>
        <p:nvSpPr>
          <p:cNvPr id="6" name="Rectangle 5"/>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MAX Training · MS-4004 Finance Use Case</a:t>
            </a:r>
          </a:p>
        </p:txBody>
      </p:sp>
      <p:sp>
        <p:nvSpPr>
          <p:cNvPr id="8" name="TextBox 7"/>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4.png"/>
          <p:cNvPicPr>
            <a:picLocks noChangeAspect="1"/>
          </p:cNvPicPr>
          <p:nvPr/>
        </p:nvPicPr>
        <p:blipFill>
          <a:blip r:embed="rId2"/>
          <a:stretch>
            <a:fillRect/>
          </a:stretch>
        </p:blipFill>
        <p:spPr>
          <a:xfrm>
            <a:off x="0" y="0"/>
            <a:ext cx="4800600" cy="6437376"/>
          </a:xfrm>
          <a:prstGeom prst="rect">
            <a:avLst/>
          </a:prstGeom>
        </p:spPr>
      </p:pic>
      <p:sp>
        <p:nvSpPr>
          <p:cNvPr id="3" name="Rectangle 2"/>
          <p:cNvSpPr/>
          <p:nvPr/>
        </p:nvSpPr>
        <p:spPr>
          <a:xfrm>
            <a:off x="4800600" y="0"/>
            <a:ext cx="45720"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49240" y="603504"/>
            <a:ext cx="6385255" cy="274320"/>
          </a:xfrm>
          <a:prstGeom prst="rect">
            <a:avLst/>
          </a:prstGeom>
          <a:noFill/>
        </p:spPr>
        <p:txBody>
          <a:bodyPr wrap="square" anchor="t">
            <a:spAutoFit/>
          </a:bodyPr>
          <a:lstStyle/>
          <a:p>
            <a:pPr algn="l">
              <a:lnSpc>
                <a:spcPct val="100000"/>
              </a:lnSpc>
              <a:spcBef>
                <a:spcPts val="0"/>
              </a:spcBef>
              <a:spcAft>
                <a:spcPts val="200"/>
              </a:spcAft>
            </a:pPr>
            <a:r>
              <a:rPr sz="1300" b="1" spc="160">
                <a:solidFill>
                  <a:srgbClr val="8B8B93"/>
                </a:solidFill>
                <a:latin typeface="Instrument Sans"/>
              </a:rPr>
              <a:t>ANALYST AGENT</a:t>
            </a:r>
          </a:p>
        </p:txBody>
      </p:sp>
      <p:sp>
        <p:nvSpPr>
          <p:cNvPr id="5" name="TextBox 4"/>
          <p:cNvSpPr txBox="1"/>
          <p:nvPr/>
        </p:nvSpPr>
        <p:spPr>
          <a:xfrm>
            <a:off x="5349240" y="969264"/>
            <a:ext cx="6385255" cy="1143000"/>
          </a:xfrm>
          <a:prstGeom prst="rect">
            <a:avLst/>
          </a:prstGeom>
          <a:noFill/>
        </p:spPr>
        <p:txBody>
          <a:bodyPr wrap="square" anchor="t">
            <a:spAutoFit/>
          </a:bodyPr>
          <a:lstStyle/>
          <a:p>
            <a:pPr algn="l">
              <a:lnSpc>
                <a:spcPct val="105000"/>
              </a:lnSpc>
              <a:spcBef>
                <a:spcPts val="0"/>
              </a:spcBef>
              <a:spcAft>
                <a:spcPts val="200"/>
              </a:spcAft>
            </a:pPr>
            <a:r>
              <a:rPr sz="2700" b="1">
                <a:solidFill>
                  <a:srgbClr val="F5F5F6"/>
                </a:solidFill>
                <a:latin typeface="Instrument Sans"/>
              </a:rPr>
              <a:t>Use Analyst when the work earns depth</a:t>
            </a:r>
          </a:p>
        </p:txBody>
      </p:sp>
      <p:sp>
        <p:nvSpPr>
          <p:cNvPr id="6" name="TextBox 5"/>
          <p:cNvSpPr txBox="1"/>
          <p:nvPr/>
        </p:nvSpPr>
        <p:spPr>
          <a:xfrm>
            <a:off x="5349240" y="2286000"/>
            <a:ext cx="6385255" cy="1097280"/>
          </a:xfrm>
          <a:prstGeom prst="rect">
            <a:avLst/>
          </a:prstGeom>
          <a:noFill/>
        </p:spPr>
        <p:txBody>
          <a:bodyPr wrap="square" anchor="t">
            <a:spAutoFit/>
          </a:bodyPr>
          <a:lstStyle/>
          <a:p>
            <a:pPr algn="l">
              <a:lnSpc>
                <a:spcPct val="125000"/>
              </a:lnSpc>
              <a:spcBef>
                <a:spcPts val="0"/>
              </a:spcBef>
              <a:spcAft>
                <a:spcPts val="200"/>
              </a:spcAft>
            </a:pPr>
            <a:r>
              <a:rPr sz="1500" b="0">
                <a:solidFill>
                  <a:srgbClr val="ACACB4"/>
                </a:solidFill>
                <a:latin typeface="Instrument Sans"/>
              </a:rPr>
              <a:t>A deeper report is useful only when the question and verification plan are clear.</a:t>
            </a:r>
          </a:p>
        </p:txBody>
      </p:sp>
      <p:sp>
        <p:nvSpPr>
          <p:cNvPr id="7" name="Rounded Rectangle 6"/>
          <p:cNvSpPr/>
          <p:nvPr/>
        </p:nvSpPr>
        <p:spPr>
          <a:xfrm>
            <a:off x="5349240" y="3474720"/>
            <a:ext cx="6385255" cy="60350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23559" y="3611879"/>
            <a:ext cx="329184" cy="329184"/>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pps_2A2A30.png"/>
          <p:cNvPicPr>
            <a:picLocks noChangeAspect="1"/>
          </p:cNvPicPr>
          <p:nvPr/>
        </p:nvPicPr>
        <p:blipFill>
          <a:blip r:embed="rId3"/>
          <a:stretch>
            <a:fillRect/>
          </a:stretch>
        </p:blipFill>
        <p:spPr>
          <a:xfrm>
            <a:off x="5712439" y="3700759"/>
            <a:ext cx="151424" cy="151424"/>
          </a:xfrm>
          <a:prstGeom prst="rect">
            <a:avLst/>
          </a:prstGeom>
        </p:spPr>
      </p:pic>
      <p:sp>
        <p:nvSpPr>
          <p:cNvPr id="10" name="TextBox 9"/>
          <p:cNvSpPr txBox="1"/>
          <p:nvPr/>
        </p:nvSpPr>
        <p:spPr>
          <a:xfrm>
            <a:off x="6227064" y="3474720"/>
            <a:ext cx="5278831" cy="603504"/>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Multiple files</a:t>
            </a:r>
            <a:r>
              <a:rPr sz="1400" b="0">
                <a:solidFill>
                  <a:srgbClr val="ACACB4"/>
                </a:solidFill>
                <a:latin typeface="Instrument Sans"/>
              </a:rPr>
              <a:t>  -  analyze structured data across files and formats</a:t>
            </a:r>
          </a:p>
        </p:txBody>
      </p:sp>
      <p:sp>
        <p:nvSpPr>
          <p:cNvPr id="11" name="Rounded Rectangle 10"/>
          <p:cNvSpPr/>
          <p:nvPr/>
        </p:nvSpPr>
        <p:spPr>
          <a:xfrm>
            <a:off x="5349240" y="4224528"/>
            <a:ext cx="6385255" cy="60350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23559" y="4361688"/>
            <a:ext cx="329184" cy="329184"/>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art_2A2A30.png"/>
          <p:cNvPicPr>
            <a:picLocks noChangeAspect="1"/>
          </p:cNvPicPr>
          <p:nvPr/>
        </p:nvPicPr>
        <p:blipFill>
          <a:blip r:embed="rId4"/>
          <a:stretch>
            <a:fillRect/>
          </a:stretch>
        </p:blipFill>
        <p:spPr>
          <a:xfrm>
            <a:off x="5712439" y="4450567"/>
            <a:ext cx="151424" cy="151424"/>
          </a:xfrm>
          <a:prstGeom prst="rect">
            <a:avLst/>
          </a:prstGeom>
        </p:spPr>
      </p:pic>
      <p:sp>
        <p:nvSpPr>
          <p:cNvPr id="14" name="TextBox 13"/>
          <p:cNvSpPr txBox="1"/>
          <p:nvPr/>
        </p:nvSpPr>
        <p:spPr>
          <a:xfrm>
            <a:off x="6227064" y="4224528"/>
            <a:ext cx="5278831" cy="603504"/>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Deeper methods</a:t>
            </a:r>
            <a:r>
              <a:rPr sz="1400" b="0">
                <a:solidFill>
                  <a:srgbClr val="ACACB4"/>
                </a:solidFill>
                <a:latin typeface="Instrument Sans"/>
              </a:rPr>
              <a:t>  -  statistics, trends, outliers, and visual reporting</a:t>
            </a:r>
          </a:p>
        </p:txBody>
      </p:sp>
      <p:sp>
        <p:nvSpPr>
          <p:cNvPr id="15" name="Rounded Rectangle 14"/>
          <p:cNvSpPr/>
          <p:nvPr/>
        </p:nvSpPr>
        <p:spPr>
          <a:xfrm>
            <a:off x="5349240" y="4974336"/>
            <a:ext cx="6385255" cy="60350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623559" y="5111496"/>
            <a:ext cx="329184" cy="329184"/>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doc_2A2A30.png"/>
          <p:cNvPicPr>
            <a:picLocks noChangeAspect="1"/>
          </p:cNvPicPr>
          <p:nvPr/>
        </p:nvPicPr>
        <p:blipFill>
          <a:blip r:embed="rId5"/>
          <a:stretch>
            <a:fillRect/>
          </a:stretch>
        </p:blipFill>
        <p:spPr>
          <a:xfrm>
            <a:off x="5712439" y="5200375"/>
            <a:ext cx="151424" cy="151424"/>
          </a:xfrm>
          <a:prstGeom prst="rect">
            <a:avLst/>
          </a:prstGeom>
        </p:spPr>
      </p:pic>
      <p:sp>
        <p:nvSpPr>
          <p:cNvPr id="18" name="TextBox 17"/>
          <p:cNvSpPr txBox="1"/>
          <p:nvPr/>
        </p:nvSpPr>
        <p:spPr>
          <a:xfrm>
            <a:off x="6227064" y="4974336"/>
            <a:ext cx="5278831" cy="603504"/>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Report output</a:t>
            </a:r>
            <a:r>
              <a:rPr sz="1400" b="0">
                <a:solidFill>
                  <a:srgbClr val="ACACB4"/>
                </a:solidFill>
                <a:latin typeface="Instrument Sans"/>
              </a:rPr>
              <a:t>  -  chat-first analytical narrative with tables and visuals</a:t>
            </a:r>
          </a:p>
        </p:txBody>
      </p:sp>
      <p:sp>
        <p:nvSpPr>
          <p:cNvPr id="19" name="Rounded Rectangle 18"/>
          <p:cNvSpPr/>
          <p:nvPr/>
        </p:nvSpPr>
        <p:spPr>
          <a:xfrm>
            <a:off x="5349240" y="5724144"/>
            <a:ext cx="6385255" cy="60350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623559" y="5861304"/>
            <a:ext cx="329184" cy="329184"/>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heck_2A2A30.png"/>
          <p:cNvPicPr>
            <a:picLocks noChangeAspect="1"/>
          </p:cNvPicPr>
          <p:nvPr/>
        </p:nvPicPr>
        <p:blipFill>
          <a:blip r:embed="rId6"/>
          <a:stretch>
            <a:fillRect/>
          </a:stretch>
        </p:blipFill>
        <p:spPr>
          <a:xfrm>
            <a:off x="5712439" y="5950183"/>
            <a:ext cx="151424" cy="151424"/>
          </a:xfrm>
          <a:prstGeom prst="rect">
            <a:avLst/>
          </a:prstGeom>
        </p:spPr>
      </p:pic>
      <p:sp>
        <p:nvSpPr>
          <p:cNvPr id="22" name="TextBox 21"/>
          <p:cNvSpPr txBox="1"/>
          <p:nvPr/>
        </p:nvSpPr>
        <p:spPr>
          <a:xfrm>
            <a:off x="6227064" y="5724144"/>
            <a:ext cx="5278831" cy="603504"/>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Independent check</a:t>
            </a:r>
            <a:r>
              <a:rPr sz="1400" b="0">
                <a:solidFill>
                  <a:srgbClr val="ACACB4"/>
                </a:solidFill>
                <a:latin typeface="Instrument Sans"/>
              </a:rPr>
              <a:t>  -  reconcile one material result outside the report</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MAX Training · MS-4004 Finance Use Case</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GUIDED FOLLOW-ALONG - ANALYST AGENT</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Run the deeper pass in Analyst</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ATTACH THIS FILE</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USE · Northstar_Life_Finance_Starter.xlsx</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The question spans one or more data files</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You need deeper, Python-powered analysis</a:t>
            </a:r>
          </a:p>
        </p:txBody>
      </p:sp>
      <p:sp>
        <p:nvSpPr>
          <p:cNvPr id="12" name="Rectangle 11"/>
          <p:cNvSpPr/>
          <p:nvPr/>
        </p:nvSpPr>
        <p:spPr>
          <a:xfrm>
            <a:off x="914400" y="4553712"/>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07008" y="4443984"/>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A report and visualization are the output</a:t>
            </a:r>
          </a:p>
        </p:txBody>
      </p:sp>
      <p:sp>
        <p:nvSpPr>
          <p:cNvPr id="14" name="TextBox 13"/>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PROMPT SUMMARY</a:t>
            </a:r>
          </a:p>
        </p:txBody>
      </p:sp>
      <p:sp>
        <p:nvSpPr>
          <p:cNvPr id="15" name="Rounded Rectangle 14"/>
          <p:cNvSpPr/>
          <p:nvPr/>
        </p:nvSpPr>
        <p:spPr>
          <a:xfrm>
            <a:off x="7040880" y="2286000"/>
            <a:ext cx="4507992" cy="13030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8" name="TextBox 17"/>
          <p:cNvSpPr txBox="1"/>
          <p:nvPr/>
        </p:nvSpPr>
        <p:spPr>
          <a:xfrm>
            <a:off x="7699248" y="2670048"/>
            <a:ext cx="3593591" cy="864108"/>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Rank five unfavorable dollar variances.
Show calculations and one visual.
Flag data limits. Do not infer causes.</a:t>
            </a:r>
          </a:p>
        </p:txBody>
      </p:sp>
      <p:sp>
        <p:nvSpPr>
          <p:cNvPr id="19" name="Rectangle 18"/>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MAX Training · MS-4004 Finance Use Case</a:t>
            </a:r>
          </a:p>
        </p:txBody>
      </p:sp>
      <p:sp>
        <p:nvSpPr>
          <p:cNvPr id="21" name="TextBox 20"/>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FOLLOW ALONG - PASTE THIS</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Begin with an analysis contract</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OPEN THIS WORKBOOK</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USE · Northstar_Life_Finance_Starter.xlsx</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Name the table and period</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Ask for materiality and ranking</a:t>
            </a:r>
          </a:p>
        </p:txBody>
      </p:sp>
      <p:sp>
        <p:nvSpPr>
          <p:cNvPr id="12" name="Rectangle 11"/>
          <p:cNvSpPr/>
          <p:nvPr/>
        </p:nvSpPr>
        <p:spPr>
          <a:xfrm>
            <a:off x="914400" y="4553712"/>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07008" y="4443984"/>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Separate facts from causes</a:t>
            </a:r>
          </a:p>
        </p:txBody>
      </p:sp>
      <p:sp>
        <p:nvSpPr>
          <p:cNvPr id="14" name="TextBox 13"/>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PASTE THIS</a:t>
            </a:r>
          </a:p>
        </p:txBody>
      </p:sp>
      <p:sp>
        <p:nvSpPr>
          <p:cNvPr id="15" name="Rounded Rectangle 14"/>
          <p:cNvSpPr/>
          <p:nvPr/>
        </p:nvSpPr>
        <p:spPr>
          <a:xfrm>
            <a:off x="7040880" y="2286000"/>
            <a:ext cx="4507992" cy="2039112"/>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8" name="TextBox 17"/>
          <p:cNvSpPr txBox="1"/>
          <p:nvPr/>
        </p:nvSpPr>
        <p:spPr>
          <a:xfrm>
            <a:off x="7699248" y="2670048"/>
            <a:ext cx="3593591" cy="1600200"/>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Using PerformanceData, rank the five largest unfavorable variances by absolute dollars. Revenue below plan and Claims or Expense above plan are unfavorable. Show amount, percentage, month, and category. Do not infer causes.</a:t>
            </a:r>
          </a:p>
        </p:txBody>
      </p:sp>
      <p:sp>
        <p:nvSpPr>
          <p:cNvPr id="19" name="Rounded Rectangle 18"/>
          <p:cNvSpPr/>
          <p:nvPr/>
        </p:nvSpPr>
        <p:spPr>
          <a:xfrm>
            <a:off x="7040880" y="4471416"/>
            <a:ext cx="4507992" cy="13030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242048" y="4636008"/>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42048" y="4617720"/>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2</a:t>
            </a:r>
          </a:p>
        </p:txBody>
      </p:sp>
      <p:sp>
        <p:nvSpPr>
          <p:cNvPr id="22" name="TextBox 21"/>
          <p:cNvSpPr txBox="1"/>
          <p:nvPr/>
        </p:nvSpPr>
        <p:spPr>
          <a:xfrm>
            <a:off x="7699248" y="4855464"/>
            <a:ext cx="3593591" cy="864108"/>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For each finding, cite the exact row or formula and flag any data-quality issue that could change the result.</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MAX Training · MS-4004 Finance Use Case</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GUIDED FOLLOW-ALONG</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100" b="1">
                <a:solidFill>
                  <a:srgbClr val="F5F5F6"/>
                </a:solidFill>
                <a:latin typeface="Instrument Sans"/>
              </a:rPr>
              <a:t>Reproduce and verify the Analyst ranking in Excel</a:t>
            </a:r>
          </a:p>
        </p:txBody>
      </p:sp>
      <p:pic>
        <p:nvPicPr>
          <p:cNvPr id="4" name="Picture 3" descr="bg_5.png"/>
          <p:cNvPicPr>
            <a:picLocks noChangeAspect="1"/>
          </p:cNvPicPr>
          <p:nvPr/>
        </p:nvPicPr>
        <p:blipFill>
          <a:blip r:embed="rId2"/>
          <a:stretch>
            <a:fillRect/>
          </a:stretch>
        </p:blipFill>
        <p:spPr>
          <a:xfrm>
            <a:off x="640080" y="1920240"/>
            <a:ext cx="4480560" cy="4206240"/>
          </a:xfrm>
          <a:prstGeom prst="rect">
            <a:avLst/>
          </a:prstGeom>
        </p:spPr>
      </p:pic>
      <p:sp>
        <p:nvSpPr>
          <p:cNvPr id="5" name="TextBox 4"/>
          <p:cNvSpPr txBox="1"/>
          <p:nvPr/>
        </p:nvSpPr>
        <p:spPr>
          <a:xfrm>
            <a:off x="5394960" y="1828800"/>
            <a:ext cx="6126480"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GUIDED CHECK</a:t>
            </a:r>
          </a:p>
        </p:txBody>
      </p:sp>
      <p:sp>
        <p:nvSpPr>
          <p:cNvPr id="6" name="TextBox 5"/>
          <p:cNvSpPr txBox="1"/>
          <p:nvPr/>
        </p:nvSpPr>
        <p:spPr>
          <a:xfrm>
            <a:off x="5394960" y="2395728"/>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1</a:t>
            </a:r>
          </a:p>
        </p:txBody>
      </p:sp>
      <p:sp>
        <p:nvSpPr>
          <p:cNvPr id="7" name="TextBox 6"/>
          <p:cNvSpPr txBox="1"/>
          <p:nvPr/>
        </p:nvSpPr>
        <p:spPr>
          <a:xfrm>
            <a:off x="5961888" y="2395728"/>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Open PerformanceData in Northstar_Life_Finance_Starter.xlsx</a:t>
            </a:r>
          </a:p>
        </p:txBody>
      </p:sp>
      <p:sp>
        <p:nvSpPr>
          <p:cNvPr id="8" name="TextBox 7"/>
          <p:cNvSpPr txBox="1"/>
          <p:nvPr/>
        </p:nvSpPr>
        <p:spPr>
          <a:xfrm>
            <a:off x="5394960" y="3145536"/>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2</a:t>
            </a:r>
          </a:p>
        </p:txBody>
      </p:sp>
      <p:sp>
        <p:nvSpPr>
          <p:cNvPr id="9" name="TextBox 8"/>
          <p:cNvSpPr txBox="1"/>
          <p:nvPr/>
        </p:nvSpPr>
        <p:spPr>
          <a:xfrm>
            <a:off x="5961888" y="3145536"/>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Run the ranked-variance contract prompt</a:t>
            </a:r>
          </a:p>
        </p:txBody>
      </p:sp>
      <p:sp>
        <p:nvSpPr>
          <p:cNvPr id="10" name="TextBox 9"/>
          <p:cNvSpPr txBox="1"/>
          <p:nvPr/>
        </p:nvSpPr>
        <p:spPr>
          <a:xfrm>
            <a:off x="5394960" y="3895344"/>
            <a:ext cx="411480" cy="457200"/>
          </a:xfrm>
          <a:prstGeom prst="rect">
            <a:avLst/>
          </a:prstGeom>
          <a:noFill/>
        </p:spPr>
        <p:txBody>
          <a:bodyPr wrap="square" anchor="t">
            <a:spAutoFit/>
          </a:bodyPr>
          <a:lstStyle/>
          <a:p>
            <a:pPr algn="l">
              <a:lnSpc>
                <a:spcPct val="100000"/>
              </a:lnSpc>
              <a:spcBef>
                <a:spcPts val="0"/>
              </a:spcBef>
              <a:spcAft>
                <a:spcPts val="200"/>
              </a:spcAft>
            </a:pPr>
            <a:r>
              <a:rPr sz="1600" b="1">
                <a:solidFill>
                  <a:srgbClr val="4C8DF0"/>
                </a:solidFill>
                <a:latin typeface="Instrument Sans"/>
              </a:rPr>
              <a:t>3</a:t>
            </a:r>
          </a:p>
        </p:txBody>
      </p:sp>
      <p:sp>
        <p:nvSpPr>
          <p:cNvPr id="11" name="TextBox 10"/>
          <p:cNvSpPr txBox="1"/>
          <p:nvPr/>
        </p:nvSpPr>
        <p:spPr>
          <a:xfrm>
            <a:off x="5961888" y="3895344"/>
            <a:ext cx="5486400" cy="640080"/>
          </a:xfrm>
          <a:prstGeom prst="rect">
            <a:avLst/>
          </a:prstGeom>
          <a:noFill/>
        </p:spPr>
        <p:txBody>
          <a:bodyPr wrap="square" anchor="t">
            <a:spAutoFit/>
          </a:bodyPr>
          <a:lstStyle/>
          <a:p>
            <a:pPr algn="l">
              <a:lnSpc>
                <a:spcPct val="110000"/>
              </a:lnSpc>
              <a:spcBef>
                <a:spcPts val="0"/>
              </a:spcBef>
              <a:spcAft>
                <a:spcPts val="200"/>
              </a:spcAft>
            </a:pPr>
            <a:r>
              <a:rPr sz="1600" b="0">
                <a:solidFill>
                  <a:srgbClr val="ACACB4"/>
                </a:solidFill>
                <a:latin typeface="Instrument Sans"/>
              </a:rPr>
              <a:t>Recalculate the top row in Excel</a:t>
            </a:r>
          </a:p>
        </p:txBody>
      </p:sp>
      <p:sp>
        <p:nvSpPr>
          <p:cNvPr id="12" name="Rectangle 11"/>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MAX Training · MS-4004 Finance Use Case</a:t>
            </a:r>
          </a:p>
        </p:txBody>
      </p:sp>
      <p:sp>
        <p:nvSpPr>
          <p:cNvPr id="14" name="TextBox 13"/>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FOLLOW ALONG - PASTE THIS</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Refine for management attention</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OPEN THESE FILES</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USE · Northstar_Life_Finance_Starter.xlsx</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USE · Northstar_Monthly_Review_Notes.docx</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Rank by materiality</a:t>
            </a:r>
          </a:p>
        </p:txBody>
      </p:sp>
      <p:sp>
        <p:nvSpPr>
          <p:cNvPr id="12" name="Rectangle 11"/>
          <p:cNvSpPr/>
          <p:nvPr/>
        </p:nvSpPr>
        <p:spPr>
          <a:xfrm>
            <a:off x="914400" y="4553712"/>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07008" y="4443984"/>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Use finance language precisely</a:t>
            </a:r>
          </a:p>
        </p:txBody>
      </p:sp>
      <p:sp>
        <p:nvSpPr>
          <p:cNvPr id="14" name="TextBox 13"/>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PASTE THIS</a:t>
            </a:r>
          </a:p>
        </p:txBody>
      </p:sp>
      <p:sp>
        <p:nvSpPr>
          <p:cNvPr id="15" name="Rounded Rectangle 14"/>
          <p:cNvSpPr/>
          <p:nvPr/>
        </p:nvSpPr>
        <p:spPr>
          <a:xfrm>
            <a:off x="7040880" y="2286000"/>
            <a:ext cx="4507992" cy="154838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8" name="TextBox 17"/>
          <p:cNvSpPr txBox="1"/>
          <p:nvPr/>
        </p:nvSpPr>
        <p:spPr>
          <a:xfrm>
            <a:off x="7699248" y="2670048"/>
            <a:ext cx="3593591" cy="1109472"/>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Reframe the analysis for a finance director. Lead with the three material findings, quantify each, and separate supported explanations from hypotheses.</a:t>
            </a:r>
          </a:p>
        </p:txBody>
      </p:sp>
      <p:sp>
        <p:nvSpPr>
          <p:cNvPr id="19" name="Rounded Rectangle 18"/>
          <p:cNvSpPr/>
          <p:nvPr/>
        </p:nvSpPr>
        <p:spPr>
          <a:xfrm>
            <a:off x="7040880" y="3980688"/>
            <a:ext cx="4507992" cy="154838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242048" y="4145280"/>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42048" y="4126992"/>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2</a:t>
            </a:r>
          </a:p>
        </p:txBody>
      </p:sp>
      <p:sp>
        <p:nvSpPr>
          <p:cNvPr id="22" name="TextBox 21"/>
          <p:cNvSpPr txBox="1"/>
          <p:nvPr/>
        </p:nvSpPr>
        <p:spPr>
          <a:xfrm>
            <a:off x="7699248" y="4364736"/>
            <a:ext cx="3593591" cy="1109472"/>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After opening the review notes, state which hypotheses the notes support, contradict, or leave unresolved. Do not upgrade a hypothesis to fact without direct evidence.</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MAX Training · MS-4004 Finance Use Case</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6.png"/>
          <p:cNvPicPr>
            <a:picLocks noChangeAspect="1"/>
          </p:cNvPicPr>
          <p:nvPr/>
        </p:nvPicPr>
        <p:blipFill>
          <a:blip r:embed="rId2"/>
          <a:stretch>
            <a:fillRect/>
          </a:stretch>
        </p:blipFill>
        <p:spPr>
          <a:xfrm>
            <a:off x="0" y="0"/>
            <a:ext cx="4800600" cy="6437376"/>
          </a:xfrm>
          <a:prstGeom prst="rect">
            <a:avLst/>
          </a:prstGeom>
        </p:spPr>
      </p:pic>
      <p:sp>
        <p:nvSpPr>
          <p:cNvPr id="3" name="Rectangle 2"/>
          <p:cNvSpPr/>
          <p:nvPr/>
        </p:nvSpPr>
        <p:spPr>
          <a:xfrm>
            <a:off x="4800600" y="0"/>
            <a:ext cx="45720"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49240" y="603504"/>
            <a:ext cx="6385255" cy="274320"/>
          </a:xfrm>
          <a:prstGeom prst="rect">
            <a:avLst/>
          </a:prstGeom>
          <a:noFill/>
        </p:spPr>
        <p:txBody>
          <a:bodyPr wrap="square" anchor="t">
            <a:spAutoFit/>
          </a:bodyPr>
          <a:lstStyle/>
          <a:p>
            <a:pPr algn="l">
              <a:lnSpc>
                <a:spcPct val="100000"/>
              </a:lnSpc>
              <a:spcBef>
                <a:spcPts val="0"/>
              </a:spcBef>
              <a:spcAft>
                <a:spcPts val="200"/>
              </a:spcAft>
            </a:pPr>
            <a:r>
              <a:rPr sz="1300" b="1" spc="160">
                <a:solidFill>
                  <a:srgbClr val="8B8B93"/>
                </a:solidFill>
                <a:latin typeface="Instrument Sans"/>
              </a:rPr>
              <a:t>KEY CONCEPT</a:t>
            </a:r>
          </a:p>
        </p:txBody>
      </p:sp>
      <p:sp>
        <p:nvSpPr>
          <p:cNvPr id="5" name="TextBox 4"/>
          <p:cNvSpPr txBox="1"/>
          <p:nvPr/>
        </p:nvSpPr>
        <p:spPr>
          <a:xfrm>
            <a:off x="5349240" y="969264"/>
            <a:ext cx="6385255" cy="1143000"/>
          </a:xfrm>
          <a:prstGeom prst="rect">
            <a:avLst/>
          </a:prstGeom>
          <a:noFill/>
        </p:spPr>
        <p:txBody>
          <a:bodyPr wrap="square" anchor="t">
            <a:spAutoFit/>
          </a:bodyPr>
          <a:lstStyle/>
          <a:p>
            <a:pPr algn="l">
              <a:lnSpc>
                <a:spcPct val="105000"/>
              </a:lnSpc>
              <a:spcBef>
                <a:spcPts val="0"/>
              </a:spcBef>
              <a:spcAft>
                <a:spcPts val="200"/>
              </a:spcAft>
            </a:pPr>
            <a:r>
              <a:rPr sz="2700" b="1">
                <a:solidFill>
                  <a:srgbClr val="F5F5F6"/>
                </a:solidFill>
                <a:latin typeface="Instrument Sans"/>
              </a:rPr>
              <a:t>The claim-verification chain</a:t>
            </a:r>
          </a:p>
        </p:txBody>
      </p:sp>
      <p:sp>
        <p:nvSpPr>
          <p:cNvPr id="6" name="TextBox 5"/>
          <p:cNvSpPr txBox="1"/>
          <p:nvPr/>
        </p:nvSpPr>
        <p:spPr>
          <a:xfrm>
            <a:off x="5349240" y="2286000"/>
            <a:ext cx="6385255" cy="1097280"/>
          </a:xfrm>
          <a:prstGeom prst="rect">
            <a:avLst/>
          </a:prstGeom>
          <a:noFill/>
        </p:spPr>
        <p:txBody>
          <a:bodyPr wrap="square" anchor="t">
            <a:spAutoFit/>
          </a:bodyPr>
          <a:lstStyle/>
          <a:p>
            <a:pPr algn="l">
              <a:lnSpc>
                <a:spcPct val="125000"/>
              </a:lnSpc>
              <a:spcBef>
                <a:spcPts val="0"/>
              </a:spcBef>
              <a:spcAft>
                <a:spcPts val="200"/>
              </a:spcAft>
            </a:pPr>
            <a:r>
              <a:rPr sz="1500" b="0">
                <a:solidFill>
                  <a:srgbClr val="ACACB4"/>
                </a:solidFill>
                <a:latin typeface="Instrument Sans"/>
              </a:rPr>
              <a:t>Every consequential sentence earns a status.</a:t>
            </a:r>
          </a:p>
        </p:txBody>
      </p:sp>
      <p:sp>
        <p:nvSpPr>
          <p:cNvPr id="7" name="Rounded Rectangle 6"/>
          <p:cNvSpPr/>
          <p:nvPr/>
        </p:nvSpPr>
        <p:spPr>
          <a:xfrm>
            <a:off x="5349240" y="3474720"/>
            <a:ext cx="6385255" cy="60350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23559" y="3611879"/>
            <a:ext cx="329184" cy="329184"/>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oc_2A2A30.png"/>
          <p:cNvPicPr>
            <a:picLocks noChangeAspect="1"/>
          </p:cNvPicPr>
          <p:nvPr/>
        </p:nvPicPr>
        <p:blipFill>
          <a:blip r:embed="rId3"/>
          <a:stretch>
            <a:fillRect/>
          </a:stretch>
        </p:blipFill>
        <p:spPr>
          <a:xfrm>
            <a:off x="5712439" y="3700759"/>
            <a:ext cx="151424" cy="151424"/>
          </a:xfrm>
          <a:prstGeom prst="rect">
            <a:avLst/>
          </a:prstGeom>
        </p:spPr>
      </p:pic>
      <p:sp>
        <p:nvSpPr>
          <p:cNvPr id="10" name="TextBox 9"/>
          <p:cNvSpPr txBox="1"/>
          <p:nvPr/>
        </p:nvSpPr>
        <p:spPr>
          <a:xfrm>
            <a:off x="6227064" y="3474720"/>
            <a:ext cx="5278831" cy="603504"/>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Claim</a:t>
            </a:r>
            <a:r>
              <a:rPr sz="1400" b="0">
                <a:solidFill>
                  <a:srgbClr val="ACACB4"/>
                </a:solidFill>
                <a:latin typeface="Instrument Sans"/>
              </a:rPr>
              <a:t>  -  exact sentence proposed for the brief</a:t>
            </a:r>
          </a:p>
        </p:txBody>
      </p:sp>
      <p:sp>
        <p:nvSpPr>
          <p:cNvPr id="11" name="Rounded Rectangle 10"/>
          <p:cNvSpPr/>
          <p:nvPr/>
        </p:nvSpPr>
        <p:spPr>
          <a:xfrm>
            <a:off x="5349240" y="4224528"/>
            <a:ext cx="6385255" cy="60350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23559" y="4361688"/>
            <a:ext cx="329184" cy="329184"/>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art_2A2A30.png"/>
          <p:cNvPicPr>
            <a:picLocks noChangeAspect="1"/>
          </p:cNvPicPr>
          <p:nvPr/>
        </p:nvPicPr>
        <p:blipFill>
          <a:blip r:embed="rId4"/>
          <a:stretch>
            <a:fillRect/>
          </a:stretch>
        </p:blipFill>
        <p:spPr>
          <a:xfrm>
            <a:off x="5712439" y="4450567"/>
            <a:ext cx="151424" cy="151424"/>
          </a:xfrm>
          <a:prstGeom prst="rect">
            <a:avLst/>
          </a:prstGeom>
        </p:spPr>
      </p:pic>
      <p:sp>
        <p:nvSpPr>
          <p:cNvPr id="14" name="TextBox 13"/>
          <p:cNvSpPr txBox="1"/>
          <p:nvPr/>
        </p:nvSpPr>
        <p:spPr>
          <a:xfrm>
            <a:off x="6227064" y="4224528"/>
            <a:ext cx="5278831" cy="603504"/>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Source</a:t>
            </a:r>
            <a:r>
              <a:rPr sz="1400" b="0">
                <a:solidFill>
                  <a:srgbClr val="ACACB4"/>
                </a:solidFill>
                <a:latin typeface="Instrument Sans"/>
              </a:rPr>
              <a:t>  -  table, row, formula, or approved note</a:t>
            </a:r>
          </a:p>
        </p:txBody>
      </p:sp>
      <p:sp>
        <p:nvSpPr>
          <p:cNvPr id="15" name="Rounded Rectangle 14"/>
          <p:cNvSpPr/>
          <p:nvPr/>
        </p:nvSpPr>
        <p:spPr>
          <a:xfrm>
            <a:off x="5349240" y="4974336"/>
            <a:ext cx="6385255" cy="60350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623559" y="5111496"/>
            <a:ext cx="329184" cy="329184"/>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2A2A30.png"/>
          <p:cNvPicPr>
            <a:picLocks noChangeAspect="1"/>
          </p:cNvPicPr>
          <p:nvPr/>
        </p:nvPicPr>
        <p:blipFill>
          <a:blip r:embed="rId5"/>
          <a:stretch>
            <a:fillRect/>
          </a:stretch>
        </p:blipFill>
        <p:spPr>
          <a:xfrm>
            <a:off x="5712439" y="5200375"/>
            <a:ext cx="151424" cy="151424"/>
          </a:xfrm>
          <a:prstGeom prst="rect">
            <a:avLst/>
          </a:prstGeom>
        </p:spPr>
      </p:pic>
      <p:sp>
        <p:nvSpPr>
          <p:cNvPr id="18" name="TextBox 17"/>
          <p:cNvSpPr txBox="1"/>
          <p:nvPr/>
        </p:nvSpPr>
        <p:spPr>
          <a:xfrm>
            <a:off x="6227064" y="4974336"/>
            <a:ext cx="5278831" cy="603504"/>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Check</a:t>
            </a:r>
            <a:r>
              <a:rPr sz="1400" b="0">
                <a:solidFill>
                  <a:srgbClr val="ACACB4"/>
                </a:solidFill>
                <a:latin typeface="Instrument Sans"/>
              </a:rPr>
              <a:t>  -  recalculate or reconcile</a:t>
            </a:r>
          </a:p>
        </p:txBody>
      </p:sp>
      <p:sp>
        <p:nvSpPr>
          <p:cNvPr id="19" name="Rounded Rectangle 18"/>
          <p:cNvSpPr/>
          <p:nvPr/>
        </p:nvSpPr>
        <p:spPr>
          <a:xfrm>
            <a:off x="5349240" y="5724144"/>
            <a:ext cx="6385255" cy="60350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623559" y="5861304"/>
            <a:ext cx="329184" cy="329184"/>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people_2A2A30.png"/>
          <p:cNvPicPr>
            <a:picLocks noChangeAspect="1"/>
          </p:cNvPicPr>
          <p:nvPr/>
        </p:nvPicPr>
        <p:blipFill>
          <a:blip r:embed="rId6"/>
          <a:stretch>
            <a:fillRect/>
          </a:stretch>
        </p:blipFill>
        <p:spPr>
          <a:xfrm>
            <a:off x="5712439" y="5950183"/>
            <a:ext cx="151424" cy="151424"/>
          </a:xfrm>
          <a:prstGeom prst="rect">
            <a:avLst/>
          </a:prstGeom>
        </p:spPr>
      </p:pic>
      <p:sp>
        <p:nvSpPr>
          <p:cNvPr id="22" name="TextBox 21"/>
          <p:cNvSpPr txBox="1"/>
          <p:nvPr/>
        </p:nvSpPr>
        <p:spPr>
          <a:xfrm>
            <a:off x="6227064" y="5724144"/>
            <a:ext cx="5278831" cy="603504"/>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Owner</a:t>
            </a:r>
            <a:r>
              <a:rPr sz="1400" b="0">
                <a:solidFill>
                  <a:srgbClr val="ACACB4"/>
                </a:solidFill>
                <a:latin typeface="Instrument Sans"/>
              </a:rPr>
              <a:t>  -  person who approves or resolves</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MAX Training · MS-4004 Finance Use Case</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CLAIM LEDGER</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Four statuses, no ambiguity</a:t>
            </a:r>
          </a:p>
        </p:txBody>
      </p:sp>
      <p:sp>
        <p:nvSpPr>
          <p:cNvPr id="4" name="Rectangle 3"/>
          <p:cNvSpPr/>
          <p:nvPr/>
        </p:nvSpPr>
        <p:spPr>
          <a:xfrm>
            <a:off x="640080" y="1874519"/>
            <a:ext cx="10908792" cy="548640"/>
          </a:xfrm>
          <a:prstGeom prst="rect">
            <a:avLst/>
          </a:prstGeom>
          <a:solidFill>
            <a:srgbClr val="30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74519"/>
            <a:ext cx="2468880" cy="548640"/>
          </a:xfrm>
          <a:prstGeom prst="rect">
            <a:avLst/>
          </a:prstGeom>
          <a:noFill/>
        </p:spPr>
        <p:txBody>
          <a:bodyPr wrap="square" anchor="ctr">
            <a:spAutoFit/>
          </a:bodyPr>
          <a:lstStyle/>
          <a:p>
            <a:pPr algn="l">
              <a:lnSpc>
                <a:spcPct val="100000"/>
              </a:lnSpc>
              <a:spcBef>
                <a:spcPts val="0"/>
              </a:spcBef>
              <a:spcAft>
                <a:spcPts val="200"/>
              </a:spcAft>
            </a:pPr>
            <a:r>
              <a:rPr sz="1400" b="1" spc="120">
                <a:solidFill>
                  <a:srgbClr val="7E7E86"/>
                </a:solidFill>
                <a:latin typeface="Instrument Sans"/>
              </a:rPr>
              <a:t>STATUS</a:t>
            </a:r>
          </a:p>
        </p:txBody>
      </p:sp>
      <p:sp>
        <p:nvSpPr>
          <p:cNvPr id="6" name="TextBox 5"/>
          <p:cNvSpPr txBox="1"/>
          <p:nvPr/>
        </p:nvSpPr>
        <p:spPr>
          <a:xfrm>
            <a:off x="3383280" y="1874519"/>
            <a:ext cx="7982712" cy="548640"/>
          </a:xfrm>
          <a:prstGeom prst="rect">
            <a:avLst/>
          </a:prstGeom>
          <a:noFill/>
        </p:spPr>
        <p:txBody>
          <a:bodyPr wrap="square" anchor="ctr">
            <a:spAutoFit/>
          </a:bodyPr>
          <a:lstStyle/>
          <a:p>
            <a:pPr algn="l">
              <a:lnSpc>
                <a:spcPct val="100000"/>
              </a:lnSpc>
              <a:spcBef>
                <a:spcPts val="0"/>
              </a:spcBef>
              <a:spcAft>
                <a:spcPts val="200"/>
              </a:spcAft>
            </a:pPr>
            <a:r>
              <a:rPr sz="1400" b="1" spc="120">
                <a:solidFill>
                  <a:srgbClr val="7E7E86"/>
                </a:solidFill>
                <a:latin typeface="Instrument Sans"/>
              </a:rPr>
              <a:t>MEANING</a:t>
            </a:r>
          </a:p>
        </p:txBody>
      </p:sp>
      <p:sp>
        <p:nvSpPr>
          <p:cNvPr id="7" name="Rectangle 6"/>
          <p:cNvSpPr/>
          <p:nvPr/>
        </p:nvSpPr>
        <p:spPr>
          <a:xfrm>
            <a:off x="640080" y="2423160"/>
            <a:ext cx="10908792" cy="960119"/>
          </a:xfrm>
          <a:prstGeom prst="rect">
            <a:avLst/>
          </a:prstGeom>
          <a:solidFill>
            <a:srgbClr val="28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423160"/>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23160"/>
            <a:ext cx="24688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Verified</a:t>
            </a:r>
          </a:p>
        </p:txBody>
      </p:sp>
      <p:sp>
        <p:nvSpPr>
          <p:cNvPr id="10" name="TextBox 9"/>
          <p:cNvSpPr txBox="1"/>
          <p:nvPr/>
        </p:nvSpPr>
        <p:spPr>
          <a:xfrm>
            <a:off x="3383280" y="2423160"/>
            <a:ext cx="79827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Source and calculation support the claim</a:t>
            </a:r>
          </a:p>
        </p:txBody>
      </p:sp>
      <p:sp>
        <p:nvSpPr>
          <p:cNvPr id="11" name="Rectangle 10"/>
          <p:cNvSpPr/>
          <p:nvPr/>
        </p:nvSpPr>
        <p:spPr>
          <a:xfrm>
            <a:off x="640080" y="3383279"/>
            <a:ext cx="10908792" cy="960119"/>
          </a:xfrm>
          <a:prstGeom prst="rect">
            <a:avLst/>
          </a:prstGeom>
          <a:solidFill>
            <a:srgbClr val="34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3383279"/>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383279"/>
            <a:ext cx="24688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Supported</a:t>
            </a:r>
          </a:p>
        </p:txBody>
      </p:sp>
      <p:sp>
        <p:nvSpPr>
          <p:cNvPr id="14" name="TextBox 13"/>
          <p:cNvSpPr txBox="1"/>
          <p:nvPr/>
        </p:nvSpPr>
        <p:spPr>
          <a:xfrm>
            <a:off x="3383280" y="3383279"/>
            <a:ext cx="79827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Evidence points the same way; limits remain</a:t>
            </a:r>
          </a:p>
        </p:txBody>
      </p:sp>
      <p:sp>
        <p:nvSpPr>
          <p:cNvPr id="15" name="Rectangle 14"/>
          <p:cNvSpPr/>
          <p:nvPr/>
        </p:nvSpPr>
        <p:spPr>
          <a:xfrm>
            <a:off x="640080" y="4343400"/>
            <a:ext cx="10908792" cy="960119"/>
          </a:xfrm>
          <a:prstGeom prst="rect">
            <a:avLst/>
          </a:prstGeom>
          <a:solidFill>
            <a:srgbClr val="282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343400"/>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343400"/>
            <a:ext cx="24688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Hypothesis</a:t>
            </a:r>
          </a:p>
        </p:txBody>
      </p:sp>
      <p:sp>
        <p:nvSpPr>
          <p:cNvPr id="18" name="TextBox 17"/>
          <p:cNvSpPr txBox="1"/>
          <p:nvPr/>
        </p:nvSpPr>
        <p:spPr>
          <a:xfrm>
            <a:off x="3383280" y="4343400"/>
            <a:ext cx="79827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Plausible but not evidenced enough</a:t>
            </a:r>
          </a:p>
        </p:txBody>
      </p:sp>
      <p:sp>
        <p:nvSpPr>
          <p:cNvPr id="19" name="Rectangle 18"/>
          <p:cNvSpPr/>
          <p:nvPr/>
        </p:nvSpPr>
        <p:spPr>
          <a:xfrm>
            <a:off x="640080" y="5303519"/>
            <a:ext cx="10908792" cy="960119"/>
          </a:xfrm>
          <a:prstGeom prst="rect">
            <a:avLst/>
          </a:prstGeom>
          <a:solidFill>
            <a:srgbClr val="343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5303519"/>
            <a:ext cx="10908792" cy="9144"/>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303519"/>
            <a:ext cx="2468880" cy="960119"/>
          </a:xfrm>
          <a:prstGeom prst="rect">
            <a:avLst/>
          </a:prstGeom>
          <a:noFill/>
        </p:spPr>
        <p:txBody>
          <a:bodyPr wrap="square" anchor="ctr">
            <a:spAutoFit/>
          </a:bodyPr>
          <a:lstStyle/>
          <a:p>
            <a:pPr algn="l">
              <a:lnSpc>
                <a:spcPct val="100000"/>
              </a:lnSpc>
              <a:spcBef>
                <a:spcPts val="0"/>
              </a:spcBef>
              <a:spcAft>
                <a:spcPts val="200"/>
              </a:spcAft>
            </a:pPr>
            <a:r>
              <a:rPr sz="1700" b="1">
                <a:solidFill>
                  <a:srgbClr val="F5F5F6"/>
                </a:solidFill>
                <a:latin typeface="Instrument Sans"/>
              </a:rPr>
              <a:t>Blocked</a:t>
            </a:r>
          </a:p>
        </p:txBody>
      </p:sp>
      <p:sp>
        <p:nvSpPr>
          <p:cNvPr id="22" name="TextBox 21"/>
          <p:cNvSpPr txBox="1"/>
          <p:nvPr/>
        </p:nvSpPr>
        <p:spPr>
          <a:xfrm>
            <a:off x="3383280" y="5303519"/>
            <a:ext cx="7982712" cy="960119"/>
          </a:xfrm>
          <a:prstGeom prst="rect">
            <a:avLst/>
          </a:prstGeom>
          <a:noFill/>
        </p:spPr>
        <p:txBody>
          <a:bodyPr wrap="square" anchor="ctr">
            <a:spAutoFit/>
          </a:bodyPr>
          <a:lstStyle/>
          <a:p>
            <a:pPr algn="l">
              <a:lnSpc>
                <a:spcPct val="105000"/>
              </a:lnSpc>
              <a:spcBef>
                <a:spcPts val="0"/>
              </a:spcBef>
              <a:spcAft>
                <a:spcPts val="200"/>
              </a:spcAft>
            </a:pPr>
            <a:r>
              <a:rPr sz="1500" b="0">
                <a:solidFill>
                  <a:srgbClr val="ACACB4"/>
                </a:solidFill>
                <a:latin typeface="Instrument Sans"/>
              </a:rPr>
              <a:t>Data or approval is missing</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MAX Training · MS-4004 Finance Use Case</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FOLLOW ALONG - PASTE THIS</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100" b="1">
                <a:solidFill>
                  <a:srgbClr val="F5F5F6"/>
                </a:solidFill>
                <a:latin typeface="Instrument Sans"/>
              </a:rPr>
              <a:t>Make Copilot help you challenge Copilot</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OPEN THIS FILE</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USE · Finance_Claim_Ledger.xlsx</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Extract exact claims</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Demand source and calculation</a:t>
            </a:r>
          </a:p>
        </p:txBody>
      </p:sp>
      <p:sp>
        <p:nvSpPr>
          <p:cNvPr id="12" name="Rectangle 11"/>
          <p:cNvSpPr/>
          <p:nvPr/>
        </p:nvSpPr>
        <p:spPr>
          <a:xfrm>
            <a:off x="914400" y="4553712"/>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07008" y="4443984"/>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Ask what would falsify the claim</a:t>
            </a:r>
          </a:p>
        </p:txBody>
      </p:sp>
      <p:sp>
        <p:nvSpPr>
          <p:cNvPr id="14" name="TextBox 13"/>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PASTE THIS</a:t>
            </a:r>
          </a:p>
        </p:txBody>
      </p:sp>
      <p:sp>
        <p:nvSpPr>
          <p:cNvPr id="15" name="Rounded Rectangle 14"/>
          <p:cNvSpPr/>
          <p:nvPr/>
        </p:nvSpPr>
        <p:spPr>
          <a:xfrm>
            <a:off x="7040880" y="2286000"/>
            <a:ext cx="4507992" cy="154838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8" name="TextBox 17"/>
          <p:cNvSpPr txBox="1"/>
          <p:nvPr/>
        </p:nvSpPr>
        <p:spPr>
          <a:xfrm>
            <a:off x="7699248" y="2670048"/>
            <a:ext cx="3593591" cy="1109472"/>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Create a claim-verification ledger with columns: claim, source, calculation/check, status, uncertainty, owner. Include only material findings.</a:t>
            </a:r>
          </a:p>
        </p:txBody>
      </p:sp>
      <p:sp>
        <p:nvSpPr>
          <p:cNvPr id="19" name="Rounded Rectangle 18"/>
          <p:cNvSpPr/>
          <p:nvPr/>
        </p:nvSpPr>
        <p:spPr>
          <a:xfrm>
            <a:off x="7040880" y="3980688"/>
            <a:ext cx="4507992" cy="1057656"/>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242048" y="4145280"/>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42048" y="4126992"/>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2</a:t>
            </a:r>
          </a:p>
        </p:txBody>
      </p:sp>
      <p:sp>
        <p:nvSpPr>
          <p:cNvPr id="22" name="TextBox 21"/>
          <p:cNvSpPr txBox="1"/>
          <p:nvPr/>
        </p:nvSpPr>
        <p:spPr>
          <a:xfrm>
            <a:off x="7699248" y="4364736"/>
            <a:ext cx="3593591" cy="618744"/>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For each claim, explain what evidence would contradict it or lower confidence.</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MAX Training · MS-4004 Finance Use Case</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7.png"/>
          <p:cNvPicPr>
            <a:picLocks noChangeAspect="1"/>
          </p:cNvPicPr>
          <p:nvPr/>
        </p:nvPicPr>
        <p:blipFill>
          <a:blip r:embed="rId2"/>
          <a:stretch>
            <a:fillRect/>
          </a:stretch>
        </p:blipFill>
        <p:spPr>
          <a:xfrm>
            <a:off x="0" y="0"/>
            <a:ext cx="4800600" cy="6437376"/>
          </a:xfrm>
          <a:prstGeom prst="rect">
            <a:avLst/>
          </a:prstGeom>
        </p:spPr>
      </p:pic>
      <p:sp>
        <p:nvSpPr>
          <p:cNvPr id="3" name="Rectangle 2"/>
          <p:cNvSpPr/>
          <p:nvPr/>
        </p:nvSpPr>
        <p:spPr>
          <a:xfrm>
            <a:off x="4800600" y="0"/>
            <a:ext cx="45720"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49240" y="603504"/>
            <a:ext cx="6385255" cy="274320"/>
          </a:xfrm>
          <a:prstGeom prst="rect">
            <a:avLst/>
          </a:prstGeom>
          <a:noFill/>
        </p:spPr>
        <p:txBody>
          <a:bodyPr wrap="square" anchor="t">
            <a:spAutoFit/>
          </a:bodyPr>
          <a:lstStyle/>
          <a:p>
            <a:pPr algn="l">
              <a:lnSpc>
                <a:spcPct val="100000"/>
              </a:lnSpc>
              <a:spcBef>
                <a:spcPts val="0"/>
              </a:spcBef>
              <a:spcAft>
                <a:spcPts val="200"/>
              </a:spcAft>
            </a:pPr>
            <a:r>
              <a:rPr sz="1300" b="1" spc="160">
                <a:solidFill>
                  <a:srgbClr val="8B8B93"/>
                </a:solidFill>
                <a:latin typeface="Instrument Sans"/>
              </a:rPr>
              <a:t>KEY CONCEPT</a:t>
            </a:r>
          </a:p>
        </p:txBody>
      </p:sp>
      <p:sp>
        <p:nvSpPr>
          <p:cNvPr id="5" name="TextBox 4"/>
          <p:cNvSpPr txBox="1"/>
          <p:nvPr/>
        </p:nvSpPr>
        <p:spPr>
          <a:xfrm>
            <a:off x="5349240" y="969264"/>
            <a:ext cx="6385255" cy="1143000"/>
          </a:xfrm>
          <a:prstGeom prst="rect">
            <a:avLst/>
          </a:prstGeom>
          <a:noFill/>
        </p:spPr>
        <p:txBody>
          <a:bodyPr wrap="square" anchor="t">
            <a:spAutoFit/>
          </a:bodyPr>
          <a:lstStyle/>
          <a:p>
            <a:pPr algn="l">
              <a:lnSpc>
                <a:spcPct val="105000"/>
              </a:lnSpc>
              <a:spcBef>
                <a:spcPts val="0"/>
              </a:spcBef>
              <a:spcAft>
                <a:spcPts val="200"/>
              </a:spcAft>
            </a:pPr>
            <a:r>
              <a:rPr sz="2700" b="1">
                <a:solidFill>
                  <a:srgbClr val="F5F5F6"/>
                </a:solidFill>
                <a:latin typeface="Instrument Sans"/>
              </a:rPr>
              <a:t>The management narrative</a:t>
            </a:r>
          </a:p>
        </p:txBody>
      </p:sp>
      <p:sp>
        <p:nvSpPr>
          <p:cNvPr id="6" name="TextBox 5"/>
          <p:cNvSpPr txBox="1"/>
          <p:nvPr/>
        </p:nvSpPr>
        <p:spPr>
          <a:xfrm>
            <a:off x="5349240" y="2286000"/>
            <a:ext cx="6385255" cy="1097280"/>
          </a:xfrm>
          <a:prstGeom prst="rect">
            <a:avLst/>
          </a:prstGeom>
          <a:noFill/>
        </p:spPr>
        <p:txBody>
          <a:bodyPr wrap="square" anchor="t">
            <a:spAutoFit/>
          </a:bodyPr>
          <a:lstStyle/>
          <a:p>
            <a:pPr algn="l">
              <a:lnSpc>
                <a:spcPct val="125000"/>
              </a:lnSpc>
              <a:spcBef>
                <a:spcPts val="0"/>
              </a:spcBef>
              <a:spcAft>
                <a:spcPts val="200"/>
              </a:spcAft>
            </a:pPr>
            <a:r>
              <a:rPr sz="1500" b="0">
                <a:solidFill>
                  <a:srgbClr val="ACACB4"/>
                </a:solidFill>
                <a:latin typeface="Instrument Sans"/>
              </a:rPr>
              <a:t>Short because the evidence work is already done.</a:t>
            </a:r>
          </a:p>
        </p:txBody>
      </p:sp>
      <p:sp>
        <p:nvSpPr>
          <p:cNvPr id="7" name="Rounded Rectangle 6"/>
          <p:cNvSpPr/>
          <p:nvPr/>
        </p:nvSpPr>
        <p:spPr>
          <a:xfrm>
            <a:off x="5349240" y="3474720"/>
            <a:ext cx="6385255" cy="60350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23559" y="3611879"/>
            <a:ext cx="329184" cy="329184"/>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arget_2A2A30.png"/>
          <p:cNvPicPr>
            <a:picLocks noChangeAspect="1"/>
          </p:cNvPicPr>
          <p:nvPr/>
        </p:nvPicPr>
        <p:blipFill>
          <a:blip r:embed="rId3"/>
          <a:stretch>
            <a:fillRect/>
          </a:stretch>
        </p:blipFill>
        <p:spPr>
          <a:xfrm>
            <a:off x="5712439" y="3700759"/>
            <a:ext cx="151424" cy="151424"/>
          </a:xfrm>
          <a:prstGeom prst="rect">
            <a:avLst/>
          </a:prstGeom>
        </p:spPr>
      </p:pic>
      <p:sp>
        <p:nvSpPr>
          <p:cNvPr id="10" name="TextBox 9"/>
          <p:cNvSpPr txBox="1"/>
          <p:nvPr/>
        </p:nvSpPr>
        <p:spPr>
          <a:xfrm>
            <a:off x="6227064" y="3474720"/>
            <a:ext cx="5278831" cy="603504"/>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Headline</a:t>
            </a:r>
            <a:r>
              <a:rPr sz="1400" b="0">
                <a:solidFill>
                  <a:srgbClr val="ACACB4"/>
                </a:solidFill>
                <a:latin typeface="Instrument Sans"/>
              </a:rPr>
              <a:t>  -  what changed and why it matters</a:t>
            </a:r>
          </a:p>
        </p:txBody>
      </p:sp>
      <p:sp>
        <p:nvSpPr>
          <p:cNvPr id="11" name="Rounded Rectangle 10"/>
          <p:cNvSpPr/>
          <p:nvPr/>
        </p:nvSpPr>
        <p:spPr>
          <a:xfrm>
            <a:off x="5349240" y="4224528"/>
            <a:ext cx="6385255" cy="60350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23559" y="4361688"/>
            <a:ext cx="329184" cy="329184"/>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art_2A2A30.png"/>
          <p:cNvPicPr>
            <a:picLocks noChangeAspect="1"/>
          </p:cNvPicPr>
          <p:nvPr/>
        </p:nvPicPr>
        <p:blipFill>
          <a:blip r:embed="rId4"/>
          <a:stretch>
            <a:fillRect/>
          </a:stretch>
        </p:blipFill>
        <p:spPr>
          <a:xfrm>
            <a:off x="5712439" y="4450567"/>
            <a:ext cx="151424" cy="151424"/>
          </a:xfrm>
          <a:prstGeom prst="rect">
            <a:avLst/>
          </a:prstGeom>
        </p:spPr>
      </p:pic>
      <p:sp>
        <p:nvSpPr>
          <p:cNvPr id="14" name="TextBox 13"/>
          <p:cNvSpPr txBox="1"/>
          <p:nvPr/>
        </p:nvSpPr>
        <p:spPr>
          <a:xfrm>
            <a:off x="6227064" y="4224528"/>
            <a:ext cx="5278831" cy="603504"/>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Three facts</a:t>
            </a:r>
            <a:r>
              <a:rPr sz="1400" b="0">
                <a:solidFill>
                  <a:srgbClr val="ACACB4"/>
                </a:solidFill>
                <a:latin typeface="Instrument Sans"/>
              </a:rPr>
              <a:t>  -  material, quantified, verified</a:t>
            </a:r>
          </a:p>
        </p:txBody>
      </p:sp>
      <p:sp>
        <p:nvSpPr>
          <p:cNvPr id="15" name="Rounded Rectangle 14"/>
          <p:cNvSpPr/>
          <p:nvPr/>
        </p:nvSpPr>
        <p:spPr>
          <a:xfrm>
            <a:off x="5349240" y="4974336"/>
            <a:ext cx="6385255" cy="60350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623559" y="5111496"/>
            <a:ext cx="329184" cy="329184"/>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warn_2A2A30.png"/>
          <p:cNvPicPr>
            <a:picLocks noChangeAspect="1"/>
          </p:cNvPicPr>
          <p:nvPr/>
        </p:nvPicPr>
        <p:blipFill>
          <a:blip r:embed="rId5"/>
          <a:stretch>
            <a:fillRect/>
          </a:stretch>
        </p:blipFill>
        <p:spPr>
          <a:xfrm>
            <a:off x="5712439" y="5200375"/>
            <a:ext cx="151424" cy="151424"/>
          </a:xfrm>
          <a:prstGeom prst="rect">
            <a:avLst/>
          </a:prstGeom>
        </p:spPr>
      </p:pic>
      <p:sp>
        <p:nvSpPr>
          <p:cNvPr id="18" name="TextBox 17"/>
          <p:cNvSpPr txBox="1"/>
          <p:nvPr/>
        </p:nvSpPr>
        <p:spPr>
          <a:xfrm>
            <a:off x="6227064" y="4974336"/>
            <a:ext cx="5278831" cy="603504"/>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Open questions</a:t>
            </a:r>
            <a:r>
              <a:rPr sz="1400" b="0">
                <a:solidFill>
                  <a:srgbClr val="ACACB4"/>
                </a:solidFill>
                <a:latin typeface="Instrument Sans"/>
              </a:rPr>
              <a:t>  -  hypotheses and missing evidence</a:t>
            </a:r>
          </a:p>
        </p:txBody>
      </p:sp>
      <p:sp>
        <p:nvSpPr>
          <p:cNvPr id="19" name="Rounded Rectangle 18"/>
          <p:cNvSpPr/>
          <p:nvPr/>
        </p:nvSpPr>
        <p:spPr>
          <a:xfrm>
            <a:off x="5349240" y="5724144"/>
            <a:ext cx="6385255" cy="603504"/>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623559" y="5861304"/>
            <a:ext cx="329184" cy="329184"/>
          </a:xfrm>
          <a:prstGeom prst="ellipse">
            <a:avLst/>
          </a:prstGeom>
          <a:solidFill>
            <a:srgbClr val="E6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rocket_2A2A30.png"/>
          <p:cNvPicPr>
            <a:picLocks noChangeAspect="1"/>
          </p:cNvPicPr>
          <p:nvPr/>
        </p:nvPicPr>
        <p:blipFill>
          <a:blip r:embed="rId6"/>
          <a:stretch>
            <a:fillRect/>
          </a:stretch>
        </p:blipFill>
        <p:spPr>
          <a:xfrm>
            <a:off x="5712439" y="5950183"/>
            <a:ext cx="151424" cy="151424"/>
          </a:xfrm>
          <a:prstGeom prst="rect">
            <a:avLst/>
          </a:prstGeom>
        </p:spPr>
      </p:pic>
      <p:sp>
        <p:nvSpPr>
          <p:cNvPr id="22" name="TextBox 21"/>
          <p:cNvSpPr txBox="1"/>
          <p:nvPr/>
        </p:nvSpPr>
        <p:spPr>
          <a:xfrm>
            <a:off x="6227064" y="5724144"/>
            <a:ext cx="5278831" cy="603504"/>
          </a:xfrm>
          <a:prstGeom prst="rect">
            <a:avLst/>
          </a:prstGeom>
          <a:noFill/>
        </p:spPr>
        <p:txBody>
          <a:bodyPr wrap="square" anchor="ctr">
            <a:spAutoFit/>
          </a:bodyPr>
          <a:lstStyle/>
          <a:p>
            <a:pPr algn="l">
              <a:lnSpc>
                <a:spcPct val="108000"/>
              </a:lnSpc>
              <a:spcBef>
                <a:spcPts val="0"/>
              </a:spcBef>
              <a:spcAft>
                <a:spcPts val="200"/>
              </a:spcAft>
            </a:pPr>
            <a:r>
              <a:rPr sz="1550" b="1">
                <a:solidFill>
                  <a:srgbClr val="F5F5F6"/>
                </a:solidFill>
                <a:latin typeface="Instrument Sans"/>
              </a:rPr>
              <a:t>Decision</a:t>
            </a:r>
            <a:r>
              <a:rPr sz="1400" b="0">
                <a:solidFill>
                  <a:srgbClr val="ACACB4"/>
                </a:solidFill>
                <a:latin typeface="Instrument Sans"/>
              </a:rPr>
              <a:t>  -  what management must decide or assign</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MAX Training · MS-4004 Finance Use Case</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GUIDED FOLLOW-ALONG - PASTE THIS</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Draft from the verified ledger</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OPEN THIS FILE</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USE · Finance_Claim_Ledger.xlsx</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Use only Verified or Supported claims</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Keep hypotheses labelled</a:t>
            </a:r>
          </a:p>
        </p:txBody>
      </p:sp>
      <p:sp>
        <p:nvSpPr>
          <p:cNvPr id="12" name="Rectangle 11"/>
          <p:cNvSpPr/>
          <p:nvPr/>
        </p:nvSpPr>
        <p:spPr>
          <a:xfrm>
            <a:off x="914400" y="4553712"/>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07008" y="4443984"/>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Name decisions and owners</a:t>
            </a:r>
          </a:p>
        </p:txBody>
      </p:sp>
      <p:sp>
        <p:nvSpPr>
          <p:cNvPr id="14" name="TextBox 13"/>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PASTE THIS</a:t>
            </a:r>
          </a:p>
        </p:txBody>
      </p:sp>
      <p:sp>
        <p:nvSpPr>
          <p:cNvPr id="15" name="Rounded Rectangle 14"/>
          <p:cNvSpPr/>
          <p:nvPr/>
        </p:nvSpPr>
        <p:spPr>
          <a:xfrm>
            <a:off x="7040880" y="2286000"/>
            <a:ext cx="4507992" cy="1793748"/>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8" name="TextBox 17"/>
          <p:cNvSpPr txBox="1"/>
          <p:nvPr/>
        </p:nvSpPr>
        <p:spPr>
          <a:xfrm>
            <a:off x="7699248" y="2670048"/>
            <a:ext cx="3593591" cy="1354836"/>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Using only claims marked Verified or Supported in the attached ledger, draft a one-page finance director brief: headline, three material findings, risks, open questions, and decisions needed.</a:t>
            </a:r>
          </a:p>
        </p:txBody>
      </p:sp>
      <p:sp>
        <p:nvSpPr>
          <p:cNvPr id="19" name="Rounded Rectangle 18"/>
          <p:cNvSpPr/>
          <p:nvPr/>
        </p:nvSpPr>
        <p:spPr>
          <a:xfrm>
            <a:off x="7040880" y="4226051"/>
            <a:ext cx="4507992" cy="13030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242048" y="4390643"/>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42048" y="4372356"/>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2</a:t>
            </a:r>
          </a:p>
        </p:txBody>
      </p:sp>
      <p:sp>
        <p:nvSpPr>
          <p:cNvPr id="22" name="TextBox 21"/>
          <p:cNvSpPr txBox="1"/>
          <p:nvPr/>
        </p:nvSpPr>
        <p:spPr>
          <a:xfrm>
            <a:off x="7699248" y="4610099"/>
            <a:ext cx="3593591" cy="864108"/>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Audit the draft against the ledger. Quote any sentence that overstates the evidence and propose a corrected version.</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MAX Training · MS-4004 Finance Use Case</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bg_8.png"/>
          <p:cNvPicPr>
            <a:picLocks noChangeAspect="1"/>
          </p:cNvPicPr>
          <p:nvPr/>
        </p:nvPicPr>
        <p:blipFill>
          <a:blip r:embed="rId2"/>
          <a:stretch>
            <a:fillRect/>
          </a:stretch>
        </p:blipFill>
        <p:spPr>
          <a:xfrm>
            <a:off x="6355080" y="0"/>
            <a:ext cx="5833872" cy="6858000"/>
          </a:xfrm>
          <a:prstGeom prst="rect">
            <a:avLst/>
          </a:prstGeom>
        </p:spPr>
      </p:pic>
      <p:sp>
        <p:nvSpPr>
          <p:cNvPr id="3" name="Rectangle 2"/>
          <p:cNvSpPr/>
          <p:nvPr/>
        </p:nvSpPr>
        <p:spPr>
          <a:xfrm>
            <a:off x="635508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2542032"/>
            <a:ext cx="548640" cy="54864"/>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706624"/>
            <a:ext cx="5486400" cy="365760"/>
          </a:xfrm>
          <a:prstGeom prst="rect">
            <a:avLst/>
          </a:prstGeom>
          <a:noFill/>
        </p:spPr>
        <p:txBody>
          <a:bodyPr wrap="square" anchor="t">
            <a:spAutoFit/>
          </a:bodyPr>
          <a:lstStyle/>
          <a:p>
            <a:pPr algn="l">
              <a:lnSpc>
                <a:spcPct val="100000"/>
              </a:lnSpc>
              <a:spcBef>
                <a:spcPts val="0"/>
              </a:spcBef>
              <a:spcAft>
                <a:spcPts val="200"/>
              </a:spcAft>
            </a:pPr>
            <a:r>
              <a:rPr sz="1300" b="1" spc="200">
                <a:solidFill>
                  <a:srgbClr val="8B8B93"/>
                </a:solidFill>
                <a:latin typeface="Instrument Sans"/>
              </a:rPr>
              <a:t>AGENT BUILDER - 15 MIN</a:t>
            </a:r>
          </a:p>
        </p:txBody>
      </p:sp>
      <p:sp>
        <p:nvSpPr>
          <p:cNvPr id="6" name="TextBox 5"/>
          <p:cNvSpPr txBox="1"/>
          <p:nvPr/>
        </p:nvSpPr>
        <p:spPr>
          <a:xfrm>
            <a:off x="658368" y="3054096"/>
            <a:ext cx="5532120" cy="1783080"/>
          </a:xfrm>
          <a:prstGeom prst="rect">
            <a:avLst/>
          </a:prstGeom>
          <a:noFill/>
        </p:spPr>
        <p:txBody>
          <a:bodyPr wrap="square" anchor="t">
            <a:spAutoFit/>
          </a:bodyPr>
          <a:lstStyle/>
          <a:p>
            <a:pPr algn="l">
              <a:lnSpc>
                <a:spcPct val="102000"/>
              </a:lnSpc>
              <a:spcBef>
                <a:spcPts val="0"/>
              </a:spcBef>
              <a:spcAft>
                <a:spcPts val="200"/>
              </a:spcAft>
            </a:pPr>
            <a:r>
              <a:rPr sz="3400" b="1">
                <a:solidFill>
                  <a:srgbClr val="F5F5F6"/>
                </a:solidFill>
                <a:latin typeface="Instrument Sans"/>
              </a:rPr>
              <a:t>Turn repeated guidance into a finance agent</a:t>
            </a:r>
          </a:p>
        </p:txBody>
      </p:sp>
      <p:sp>
        <p:nvSpPr>
          <p:cNvPr id="7" name="TextBox 6"/>
          <p:cNvSpPr txBox="1"/>
          <p:nvPr/>
        </p:nvSpPr>
        <p:spPr>
          <a:xfrm>
            <a:off x="685800" y="4864608"/>
            <a:ext cx="5440680" cy="420624"/>
          </a:xfrm>
          <a:prstGeom prst="rect">
            <a:avLst/>
          </a:prstGeom>
          <a:noFill/>
        </p:spPr>
        <p:txBody>
          <a:bodyPr wrap="square" anchor="t">
            <a:normAutofit/>
          </a:bodyPr>
          <a:lstStyle/>
          <a:p>
            <a:pPr algn="l">
              <a:lnSpc>
                <a:spcPct val="105000"/>
              </a:lnSpc>
              <a:spcBef>
                <a:spcPts val="0"/>
              </a:spcBef>
              <a:spcAft>
                <a:spcPts val="200"/>
              </a:spcAft>
            </a:pPr>
            <a:r>
              <a:rPr sz="1700" b="0">
                <a:solidFill>
                  <a:srgbClr val="ACACB4"/>
                </a:solidFill>
                <a:latin typeface="Instrument Sans"/>
              </a:rPr>
              <a:t>Build a bounded Finance Review Coach.</a:t>
            </a:r>
          </a:p>
        </p:txBody>
      </p:sp>
      <p:sp>
        <p:nvSpPr>
          <p:cNvPr id="8" name="TextBox 7"/>
          <p:cNvSpPr txBox="1"/>
          <p:nvPr/>
        </p:nvSpPr>
        <p:spPr>
          <a:xfrm>
            <a:off x="685800" y="5513832"/>
            <a:ext cx="5440680" cy="603504"/>
          </a:xfrm>
          <a:prstGeom prst="rect">
            <a:avLst/>
          </a:prstGeom>
          <a:noFill/>
        </p:spPr>
        <p:txBody>
          <a:bodyPr wrap="square" anchor="t">
            <a:normAutofit/>
          </a:bodyPr>
          <a:lstStyle/>
          <a:p>
            <a:pPr algn="l">
              <a:lnSpc>
                <a:spcPct val="102000"/>
              </a:lnSpc>
              <a:spcBef>
                <a:spcPts val="0"/>
              </a:spcBef>
              <a:spcAft>
                <a:spcPts val="200"/>
              </a:spcAft>
            </a:pPr>
            <a:r>
              <a:rPr sz="1200" b="1" spc="120">
                <a:solidFill>
                  <a:srgbClr val="8B8B93"/>
                </a:solidFill>
                <a:latin typeface="Instrument Sans"/>
              </a:rPr>
              <a:t>OBJECTIVE · </a:t>
            </a:r>
            <a:r>
              <a:rPr sz="1250" b="0">
                <a:solidFill>
                  <a:srgbClr val="ACACB4"/>
                </a:solidFill>
                <a:latin typeface="Instrument Sans"/>
              </a:rPr>
              <a:t>Use Agent Builder to create and test a grounded finance-review role</a:t>
            </a:r>
          </a:p>
        </p:txBody>
      </p:sp>
      <p:sp>
        <p:nvSpPr>
          <p:cNvPr id="9" name="Rectangle 8"/>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MAX Training · MS-4004 Finance Use Case</a:t>
            </a:r>
          </a:p>
        </p:txBody>
      </p:sp>
      <p:sp>
        <p:nvSpPr>
          <p:cNvPr id="11" name="TextBox 10"/>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AGENT BUILDER - MECHANISM CHOICE</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100" b="1">
                <a:solidFill>
                  <a:srgbClr val="F5F5F6"/>
                </a:solidFill>
                <a:latin typeface="Instrument Sans"/>
              </a:rPr>
              <a:t>Build an agent only for a repeatable role</a:t>
            </a:r>
          </a:p>
        </p:txBody>
      </p:sp>
      <p:sp>
        <p:nvSpPr>
          <p:cNvPr id="4" name="Rounded Rectangle 3"/>
          <p:cNvSpPr/>
          <p:nvPr/>
        </p:nvSpPr>
        <p:spPr>
          <a:xfrm>
            <a:off x="640080" y="1874519"/>
            <a:ext cx="5285232" cy="3063240"/>
          </a:xfrm>
          <a:prstGeom prst="roundRect">
            <a:avLst>
              <a:gd name="adj" fmla="val 6000"/>
            </a:avLst>
          </a:prstGeom>
          <a:solidFill>
            <a:srgbClr val="34343A"/>
          </a:solidFill>
          <a:ln w="19050">
            <a:solidFill>
              <a:srgbClr val="2E6E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refresh_46B17A.png"/>
          <p:cNvPicPr>
            <a:picLocks noChangeAspect="1"/>
          </p:cNvPicPr>
          <p:nvPr/>
        </p:nvPicPr>
        <p:blipFill>
          <a:blip r:embed="rId2"/>
          <a:stretch>
            <a:fillRect/>
          </a:stretch>
        </p:blipFill>
        <p:spPr>
          <a:xfrm>
            <a:off x="914400" y="2167127"/>
            <a:ext cx="384048" cy="384048"/>
          </a:xfrm>
          <a:prstGeom prst="rect">
            <a:avLst/>
          </a:prstGeom>
        </p:spPr>
      </p:pic>
      <p:sp>
        <p:nvSpPr>
          <p:cNvPr id="6" name="TextBox 5"/>
          <p:cNvSpPr txBox="1"/>
          <p:nvPr/>
        </p:nvSpPr>
        <p:spPr>
          <a:xfrm>
            <a:off x="1417319"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Good agent candidate</a:t>
            </a:r>
          </a:p>
        </p:txBody>
      </p:sp>
      <p:sp>
        <p:nvSpPr>
          <p:cNvPr id="7" name="Rectangle 6"/>
          <p:cNvSpPr/>
          <p:nvPr/>
        </p:nvSpPr>
        <p:spPr>
          <a:xfrm>
            <a:off x="932688" y="3291839"/>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43584"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Same review process repeats</a:t>
            </a:r>
          </a:p>
        </p:txBody>
      </p:sp>
      <p:sp>
        <p:nvSpPr>
          <p:cNvPr id="9" name="Rectangle 8"/>
          <p:cNvSpPr/>
          <p:nvPr/>
        </p:nvSpPr>
        <p:spPr>
          <a:xfrm>
            <a:off x="932688" y="3858768"/>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43584"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Approved knowledge can be named</a:t>
            </a:r>
          </a:p>
        </p:txBody>
      </p:sp>
      <p:sp>
        <p:nvSpPr>
          <p:cNvPr id="11" name="Rectangle 10"/>
          <p:cNvSpPr/>
          <p:nvPr/>
        </p:nvSpPr>
        <p:spPr>
          <a:xfrm>
            <a:off x="932688" y="4425696"/>
            <a:ext cx="164592" cy="18288"/>
          </a:xfrm>
          <a:prstGeom prst="rect">
            <a:avLst/>
          </a:prstGeom>
          <a:solidFill>
            <a:srgbClr val="46B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43584"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Expected response and boundaries are testable</a:t>
            </a:r>
          </a:p>
        </p:txBody>
      </p:sp>
      <p:sp>
        <p:nvSpPr>
          <p:cNvPr id="13" name="Rounded Rectangle 12"/>
          <p:cNvSpPr/>
          <p:nvPr/>
        </p:nvSpPr>
        <p:spPr>
          <a:xfrm>
            <a:off x="6199632" y="1874519"/>
            <a:ext cx="5285232" cy="3063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warn_ACACB4.png"/>
          <p:cNvPicPr>
            <a:picLocks noChangeAspect="1"/>
          </p:cNvPicPr>
          <p:nvPr/>
        </p:nvPicPr>
        <p:blipFill>
          <a:blip r:embed="rId3"/>
          <a:stretch>
            <a:fillRect/>
          </a:stretch>
        </p:blipFill>
        <p:spPr>
          <a:xfrm>
            <a:off x="6473952" y="2167127"/>
            <a:ext cx="384048" cy="384048"/>
          </a:xfrm>
          <a:prstGeom prst="rect">
            <a:avLst/>
          </a:prstGeom>
        </p:spPr>
      </p:pic>
      <p:sp>
        <p:nvSpPr>
          <p:cNvPr id="15" name="TextBox 14"/>
          <p:cNvSpPr txBox="1"/>
          <p:nvPr/>
        </p:nvSpPr>
        <p:spPr>
          <a:xfrm>
            <a:off x="6976872" y="2148839"/>
            <a:ext cx="4370832" cy="457200"/>
          </a:xfrm>
          <a:prstGeom prst="rect">
            <a:avLst/>
          </a:prstGeom>
          <a:noFill/>
        </p:spPr>
        <p:txBody>
          <a:bodyPr wrap="square" anchor="t">
            <a:spAutoFit/>
          </a:bodyPr>
          <a:lstStyle/>
          <a:p>
            <a:pPr algn="l">
              <a:lnSpc>
                <a:spcPct val="100000"/>
              </a:lnSpc>
              <a:spcBef>
                <a:spcPts val="0"/>
              </a:spcBef>
              <a:spcAft>
                <a:spcPts val="200"/>
              </a:spcAft>
            </a:pPr>
            <a:r>
              <a:rPr sz="2100" b="1">
                <a:solidFill>
                  <a:srgbClr val="F5F5F6"/>
                </a:solidFill>
                <a:latin typeface="Instrument Sans"/>
              </a:rPr>
              <a:t>Keep it as a prompt</a:t>
            </a:r>
          </a:p>
        </p:txBody>
      </p:sp>
      <p:sp>
        <p:nvSpPr>
          <p:cNvPr id="16" name="Rectangle 15"/>
          <p:cNvSpPr/>
          <p:nvPr/>
        </p:nvSpPr>
        <p:spPr>
          <a:xfrm>
            <a:off x="6492240" y="3291839"/>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03136" y="3017520"/>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One-off analysis</a:t>
            </a:r>
          </a:p>
        </p:txBody>
      </p:sp>
      <p:sp>
        <p:nvSpPr>
          <p:cNvPr id="18" name="Rectangle 17"/>
          <p:cNvSpPr/>
          <p:nvPr/>
        </p:nvSpPr>
        <p:spPr>
          <a:xfrm>
            <a:off x="6492240" y="3858768"/>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03136" y="3584448"/>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Sources or business rule change every time</a:t>
            </a:r>
          </a:p>
        </p:txBody>
      </p:sp>
      <p:sp>
        <p:nvSpPr>
          <p:cNvPr id="20" name="Rectangle 19"/>
          <p:cNvSpPr/>
          <p:nvPr/>
        </p:nvSpPr>
        <p:spPr>
          <a:xfrm>
            <a:off x="6492240" y="4425696"/>
            <a:ext cx="164592" cy="18288"/>
          </a:xfrm>
          <a:prstGeom prst="rect">
            <a:avLst/>
          </a:prstGeom>
          <a:solidFill>
            <a:srgbClr val="ACAC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03136" y="4151376"/>
            <a:ext cx="4187952" cy="457200"/>
          </a:xfrm>
          <a:prstGeom prst="rect">
            <a:avLst/>
          </a:prstGeom>
          <a:noFill/>
        </p:spPr>
        <p:txBody>
          <a:bodyPr wrap="square" anchor="t">
            <a:spAutoFit/>
          </a:bodyPr>
          <a:lstStyle/>
          <a:p>
            <a:pPr algn="l">
              <a:lnSpc>
                <a:spcPct val="100000"/>
              </a:lnSpc>
              <a:spcBef>
                <a:spcPts val="0"/>
              </a:spcBef>
              <a:spcAft>
                <a:spcPts val="200"/>
              </a:spcAft>
            </a:pPr>
            <a:r>
              <a:rPr sz="1600" b="0">
                <a:solidFill>
                  <a:srgbClr val="ACACB4"/>
                </a:solidFill>
                <a:latin typeface="Instrument Sans"/>
              </a:rPr>
              <a:t>No stable owner or review standard</a:t>
            </a:r>
          </a:p>
        </p:txBody>
      </p:sp>
      <p:sp>
        <p:nvSpPr>
          <p:cNvPr id="22" name="Rounded Rectangle 21"/>
          <p:cNvSpPr/>
          <p:nvPr/>
        </p:nvSpPr>
        <p:spPr>
          <a:xfrm>
            <a:off x="640080" y="5138928"/>
            <a:ext cx="10908792" cy="713232"/>
          </a:xfrm>
          <a:prstGeom prst="roundRect">
            <a:avLst>
              <a:gd name="adj" fmla="val 16000"/>
            </a:avLst>
          </a:prstGeom>
          <a:solidFill>
            <a:srgbClr val="3A2F0A"/>
          </a:solidFill>
          <a:ln w="9525">
            <a:solidFill>
              <a:srgbClr val="8A6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warn_E0A93A.png"/>
          <p:cNvPicPr>
            <a:picLocks noChangeAspect="1"/>
          </p:cNvPicPr>
          <p:nvPr/>
        </p:nvPicPr>
        <p:blipFill>
          <a:blip r:embed="rId4"/>
          <a:stretch>
            <a:fillRect/>
          </a:stretch>
        </p:blipFill>
        <p:spPr>
          <a:xfrm>
            <a:off x="877824" y="5312664"/>
            <a:ext cx="365760" cy="365760"/>
          </a:xfrm>
          <a:prstGeom prst="rect">
            <a:avLst/>
          </a:prstGeom>
        </p:spPr>
      </p:pic>
      <p:sp>
        <p:nvSpPr>
          <p:cNvPr id="24" name="TextBox 23"/>
          <p:cNvSpPr txBox="1"/>
          <p:nvPr/>
        </p:nvSpPr>
        <p:spPr>
          <a:xfrm>
            <a:off x="1371600" y="5138928"/>
            <a:ext cx="9994392" cy="713232"/>
          </a:xfrm>
          <a:prstGeom prst="rect">
            <a:avLst/>
          </a:prstGeom>
          <a:noFill/>
        </p:spPr>
        <p:txBody>
          <a:bodyPr wrap="square" anchor="ctr">
            <a:spAutoFit/>
          </a:bodyPr>
          <a:lstStyle/>
          <a:p>
            <a:pPr algn="l">
              <a:lnSpc>
                <a:spcPct val="100000"/>
              </a:lnSpc>
              <a:spcBef>
                <a:spcPts val="0"/>
              </a:spcBef>
              <a:spcAft>
                <a:spcPts val="200"/>
              </a:spcAft>
            </a:pPr>
            <a:r>
              <a:rPr sz="1500" b="0">
                <a:solidFill>
                  <a:srgbClr val="F0D9A6"/>
                </a:solidFill>
                <a:latin typeface="Instrument Sans"/>
              </a:rPr>
              <a:t>Agent Builder packages instructions and knowledge. It does not grant approval authority.</a:t>
            </a:r>
          </a:p>
        </p:txBody>
      </p:sp>
      <p:sp>
        <p:nvSpPr>
          <p:cNvPr id="25" name="Rectangle 24"/>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MAX Training · MS-4004 Finance Use Case</a:t>
            </a:r>
          </a:p>
        </p:txBody>
      </p:sp>
      <p:sp>
        <p:nvSpPr>
          <p:cNvPr id="27" name="TextBox 26"/>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GUIDED FOLLOW-ALONG - AGENT BUILDER</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Build the Finance Review Coach</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ATTACH THESE FILES</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USE · Finance_Verification_Checklist.pdf</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USE · Northstar_Monthly_Review_Notes.docx</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Role and audience</a:t>
            </a:r>
          </a:p>
        </p:txBody>
      </p:sp>
      <p:sp>
        <p:nvSpPr>
          <p:cNvPr id="12" name="Rectangle 11"/>
          <p:cNvSpPr/>
          <p:nvPr/>
        </p:nvSpPr>
        <p:spPr>
          <a:xfrm>
            <a:off x="914400" y="4553712"/>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07008" y="4443984"/>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Approved knowledge</a:t>
            </a:r>
          </a:p>
        </p:txBody>
      </p:sp>
      <p:sp>
        <p:nvSpPr>
          <p:cNvPr id="14" name="TextBox 13"/>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AGENT INSTRUCTION SUMMARY</a:t>
            </a:r>
          </a:p>
        </p:txBody>
      </p:sp>
      <p:sp>
        <p:nvSpPr>
          <p:cNvPr id="15" name="Rounded Rectangle 14"/>
          <p:cNvSpPr/>
          <p:nvPr/>
        </p:nvSpPr>
        <p:spPr>
          <a:xfrm>
            <a:off x="7040880" y="2286000"/>
            <a:ext cx="4507992" cy="2039112"/>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8" name="TextBox 17"/>
          <p:cNvSpPr txBox="1"/>
          <p:nvPr/>
        </p:nvSpPr>
        <p:spPr>
          <a:xfrm>
            <a:off x="7699248" y="2670048"/>
            <a:ext cx="3593591" cy="1600200"/>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Create a Finance Review Coach.
Knowledge: attached checklist and notes
Process: require source, calculation, status, uncertainty, and owner
Boundary: separate facts from explanations; never approve accounting treatment</a:t>
            </a:r>
          </a:p>
        </p:txBody>
      </p:sp>
      <p:sp>
        <p:nvSpPr>
          <p:cNvPr id="19" name="Rectangle 18"/>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MAX Training · MS-4004 Finance Use Case</a:t>
            </a:r>
          </a:p>
        </p:txBody>
      </p:sp>
      <p:sp>
        <p:nvSpPr>
          <p:cNvPr id="21" name="TextBox 20"/>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GUIDED FOLLOW-ALONG - TEST BEFORE USE</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100" b="1">
                <a:solidFill>
                  <a:srgbClr val="F5F5F6"/>
                </a:solidFill>
                <a:latin typeface="Instrument Sans"/>
              </a:rPr>
              <a:t>Test usefulness and authority boundaries</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AGENT KNOWLEDGE FILES</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USE · Finance_Verification_Checklist.pdf</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USE · Northstar_Monthly_Review_Notes.docx</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Normal: challenge a mixed fact-and-cause claim</a:t>
            </a:r>
          </a:p>
        </p:txBody>
      </p:sp>
      <p:sp>
        <p:nvSpPr>
          <p:cNvPr id="12" name="Rectangle 11"/>
          <p:cNvSpPr/>
          <p:nvPr/>
        </p:nvSpPr>
        <p:spPr>
          <a:xfrm>
            <a:off x="914400" y="4553712"/>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07008" y="4443984"/>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Boundary: ask it to approve a journal entry</a:t>
            </a:r>
          </a:p>
        </p:txBody>
      </p:sp>
      <p:sp>
        <p:nvSpPr>
          <p:cNvPr id="14" name="TextBox 13"/>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TEST PROMPTS</a:t>
            </a:r>
          </a:p>
        </p:txBody>
      </p:sp>
      <p:sp>
        <p:nvSpPr>
          <p:cNvPr id="15" name="Rounded Rectangle 14"/>
          <p:cNvSpPr/>
          <p:nvPr/>
        </p:nvSpPr>
        <p:spPr>
          <a:xfrm>
            <a:off x="7040880" y="2286000"/>
            <a:ext cx="4507992" cy="2039112"/>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8" name="TextBox 17"/>
          <p:cNvSpPr txBox="1"/>
          <p:nvPr/>
        </p:nvSpPr>
        <p:spPr>
          <a:xfrm>
            <a:off x="7699248" y="2670048"/>
            <a:ext cx="3593591" cy="1600200"/>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Review this claim: “June Paid Claims were $68,000 unfavorable because claims experience deteriorated.” Separate verified from unsupported, identify missing evidence, and name the owner of the next check.</a:t>
            </a:r>
          </a:p>
        </p:txBody>
      </p:sp>
      <p:sp>
        <p:nvSpPr>
          <p:cNvPr id="19" name="Rounded Rectangle 18"/>
          <p:cNvSpPr/>
          <p:nvPr/>
        </p:nvSpPr>
        <p:spPr>
          <a:xfrm>
            <a:off x="7040880" y="4471416"/>
            <a:ext cx="4507992" cy="1057656"/>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242048" y="4636008"/>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42048" y="4617720"/>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2</a:t>
            </a:r>
          </a:p>
        </p:txBody>
      </p:sp>
      <p:sp>
        <p:nvSpPr>
          <p:cNvPr id="22" name="TextBox 21"/>
          <p:cNvSpPr txBox="1"/>
          <p:nvPr/>
        </p:nvSpPr>
        <p:spPr>
          <a:xfrm>
            <a:off x="7699248" y="4855464"/>
            <a:ext cx="3593591" cy="618744"/>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Approve the journal entry and tell the team it is ready to post.</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MAX Training · MS-4004 Finance Use Case</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GUIDED FOLLOW-ALONG - DASHBOARD</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100" b="1">
                <a:solidFill>
                  <a:srgbClr val="F5F5F6"/>
                </a:solidFill>
                <a:latin typeface="Instrument Sans"/>
              </a:rPr>
              <a:t>Turn verified work into the dashboard</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OPEN THIS WORKBOOK</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USE · Northstar_Life_Finance_Starter.xlsx</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Core actual-versus-plan KPIs</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Loss ratio and trend visual</a:t>
            </a:r>
          </a:p>
        </p:txBody>
      </p:sp>
      <p:sp>
        <p:nvSpPr>
          <p:cNvPr id="12" name="Rectangle 11"/>
          <p:cNvSpPr/>
          <p:nvPr/>
        </p:nvSpPr>
        <p:spPr>
          <a:xfrm>
            <a:off x="914400" y="4553712"/>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07008" y="4443984"/>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Top unfavorable variances</a:t>
            </a:r>
          </a:p>
        </p:txBody>
      </p:sp>
      <p:sp>
        <p:nvSpPr>
          <p:cNvPr id="14" name="TextBox 13"/>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PASTE THIS</a:t>
            </a:r>
          </a:p>
        </p:txBody>
      </p:sp>
      <p:sp>
        <p:nvSpPr>
          <p:cNvPr id="15" name="Rounded Rectangle 14"/>
          <p:cNvSpPr/>
          <p:nvPr/>
        </p:nvSpPr>
        <p:spPr>
          <a:xfrm>
            <a:off x="7040880" y="2286000"/>
            <a:ext cx="4507992" cy="3265932"/>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8" name="TextBox 17"/>
          <p:cNvSpPr txBox="1"/>
          <p:nvPr/>
        </p:nvSpPr>
        <p:spPr>
          <a:xfrm>
            <a:off x="7699248" y="2670048"/>
            <a:ext cx="3593591" cy="2827020"/>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Using only cleaned and reconciled tables, complete the Dashboard sheet with: actual versus plan for Premium Revenue, Paid Claims, and Operating Expense; current loss ratio; the three largest unfavorable variances; one useful trend chart; reconciliation exceptions; and a five-sentence management summary. Cite the source tables, keep unresolved items visible, and label the narrative Draft until a finance owner approves it.</a:t>
            </a:r>
          </a:p>
        </p:txBody>
      </p:sp>
      <p:sp>
        <p:nvSpPr>
          <p:cNvPr id="19" name="Rectangle 18"/>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MAX Training · MS-4004 Finance Use Case</a:t>
            </a:r>
          </a:p>
        </p:txBody>
      </p:sp>
      <p:sp>
        <p:nvSpPr>
          <p:cNvPr id="21" name="TextBox 20"/>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TAKE THESE WITH YOU</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100" b="1">
                <a:solidFill>
                  <a:srgbClr val="F5F5F6"/>
                </a:solidFill>
                <a:latin typeface="Instrument Sans"/>
              </a:rPr>
              <a:t>Choose the lightest capable route</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Four reusable decisions</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Chat for source-bounded synthesis</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Excel when the workbook is the work product</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Analyst when the question earns deeper analysis</a:t>
            </a:r>
          </a:p>
        </p:txBody>
      </p:sp>
      <p:sp>
        <p:nvSpPr>
          <p:cNvPr id="12" name="Rectangle 11"/>
          <p:cNvSpPr/>
          <p:nvPr/>
        </p:nvSpPr>
        <p:spPr>
          <a:xfrm>
            <a:off x="914400" y="4553712"/>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07008" y="4443984"/>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Agent Builder when the role repeats</a:t>
            </a:r>
          </a:p>
        </p:txBody>
      </p:sp>
      <p:sp>
        <p:nvSpPr>
          <p:cNvPr id="14" name="TextBox 13"/>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KEEP THIS PRINCIPLE</a:t>
            </a:r>
          </a:p>
        </p:txBody>
      </p:sp>
      <p:sp>
        <p:nvSpPr>
          <p:cNvPr id="15" name="Rounded Rectangle 14"/>
          <p:cNvSpPr/>
          <p:nvPr/>
        </p:nvSpPr>
        <p:spPr>
          <a:xfrm>
            <a:off x="7040880" y="2286000"/>
            <a:ext cx="4507992" cy="812292"/>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8" name="TextBox 17"/>
          <p:cNvSpPr txBox="1"/>
          <p:nvPr/>
        </p:nvSpPr>
        <p:spPr>
          <a:xfrm>
            <a:off x="7699248" y="2670048"/>
            <a:ext cx="3593591" cy="373380"/>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Quality in. Vetted out.</a:t>
            </a:r>
          </a:p>
        </p:txBody>
      </p:sp>
      <p:sp>
        <p:nvSpPr>
          <p:cNvPr id="19" name="Rounded Rectangle 18"/>
          <p:cNvSpPr/>
          <p:nvPr/>
        </p:nvSpPr>
        <p:spPr>
          <a:xfrm>
            <a:off x="7040880" y="3244596"/>
            <a:ext cx="4507992" cy="1057656"/>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242048" y="3409188"/>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42048" y="3390900"/>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2</a:t>
            </a:r>
          </a:p>
        </p:txBody>
      </p:sp>
      <p:sp>
        <p:nvSpPr>
          <p:cNvPr id="22" name="TextBox 21"/>
          <p:cNvSpPr txBox="1"/>
          <p:nvPr/>
        </p:nvSpPr>
        <p:spPr>
          <a:xfrm>
            <a:off x="7699248" y="3628644"/>
            <a:ext cx="3593591" cy="618744"/>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Use the lightest capable route, then verify the consequential result.</a:t>
            </a:r>
          </a:p>
        </p:txBody>
      </p:sp>
      <p:sp>
        <p:nvSpPr>
          <p:cNvPr id="23" name="Rectangle 22"/>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MAX Training · MS-4004 Finance Use Case</a:t>
            </a:r>
          </a:p>
        </p:txBody>
      </p:sp>
      <p:sp>
        <p:nvSpPr>
          <p:cNvPr id="25" name="TextBox 24"/>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sp>
        <p:nvSpPr>
          <p:cNvPr id="2" name="TextBox 1"/>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GUIDED FOLLOW-ALONG - INSPECT AND RECOVER</a:t>
            </a:r>
          </a:p>
        </p:txBody>
      </p:sp>
      <p:sp>
        <p:nvSpPr>
          <p:cNvPr id="3" name="TextBox 2"/>
          <p:cNvSpPr txBox="1"/>
          <p:nvPr/>
        </p:nvSpPr>
        <p:spPr>
          <a:xfrm>
            <a:off x="621792" y="896112"/>
            <a:ext cx="10927080" cy="713232"/>
          </a:xfrm>
          <a:prstGeom prst="rect">
            <a:avLst/>
          </a:prstGeom>
          <a:noFill/>
        </p:spPr>
        <p:txBody>
          <a:bodyPr wrap="square" anchor="t">
            <a:spAutoFit/>
          </a:bodyPr>
          <a:lstStyle/>
          <a:p>
            <a:pPr algn="l">
              <a:lnSpc>
                <a:spcPct val="100000"/>
              </a:lnSpc>
              <a:spcBef>
                <a:spcPts val="0"/>
              </a:spcBef>
              <a:spcAft>
                <a:spcPts val="200"/>
              </a:spcAft>
            </a:pPr>
            <a:r>
              <a:rPr sz="3600" b="1">
                <a:solidFill>
                  <a:srgbClr val="F5F5F6"/>
                </a:solidFill>
                <a:latin typeface="Instrument Sans"/>
              </a:rPr>
              <a:t>Make Copilot explain its work</a:t>
            </a:r>
          </a:p>
        </p:txBody>
      </p:sp>
      <p:sp>
        <p:nvSpPr>
          <p:cNvPr id="4" name="Rounded Rectangle 3"/>
          <p:cNvSpPr/>
          <p:nvPr/>
        </p:nvSpPr>
        <p:spPr>
          <a:xfrm>
            <a:off x="640080" y="1828800"/>
            <a:ext cx="6126480" cy="4206240"/>
          </a:xfrm>
          <a:prstGeom prst="roundRect">
            <a:avLst>
              <a:gd name="adj" fmla="val 6000"/>
            </a:avLst>
          </a:prstGeom>
          <a:solidFill>
            <a:srgbClr val="34343A"/>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84832"/>
            <a:ext cx="5577840" cy="457200"/>
          </a:xfrm>
          <a:prstGeom prst="rect">
            <a:avLst/>
          </a:prstGeom>
          <a:noFill/>
        </p:spPr>
        <p:txBody>
          <a:bodyPr wrap="square" anchor="t">
            <a:spAutoFit/>
          </a:bodyPr>
          <a:lstStyle/>
          <a:p>
            <a:pPr algn="l">
              <a:lnSpc>
                <a:spcPct val="100000"/>
              </a:lnSpc>
              <a:spcBef>
                <a:spcPts val="0"/>
              </a:spcBef>
              <a:spcAft>
                <a:spcPts val="200"/>
              </a:spcAft>
            </a:pPr>
            <a:r>
              <a:rPr sz="1850" b="1">
                <a:solidFill>
                  <a:srgbClr val="F5F5F6"/>
                </a:solidFill>
                <a:latin typeface="Instrument Sans"/>
              </a:rPr>
              <a:t>OPEN THIS WORKBOOK</a:t>
            </a:r>
          </a:p>
        </p:txBody>
      </p:sp>
      <p:sp>
        <p:nvSpPr>
          <p:cNvPr id="6" name="Rectangle 5"/>
          <p:cNvSpPr/>
          <p:nvPr/>
        </p:nvSpPr>
        <p:spPr>
          <a:xfrm>
            <a:off x="914400" y="2852928"/>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8" y="2743200"/>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USE · Northstar_Life_Finance_Starter.xlsx</a:t>
            </a:r>
          </a:p>
        </p:txBody>
      </p:sp>
      <p:sp>
        <p:nvSpPr>
          <p:cNvPr id="8" name="Rectangle 7"/>
          <p:cNvSpPr/>
          <p:nvPr/>
        </p:nvSpPr>
        <p:spPr>
          <a:xfrm>
            <a:off x="914400" y="3419856"/>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3310128"/>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Use the cloud-saved class copy</a:t>
            </a:r>
          </a:p>
        </p:txBody>
      </p:sp>
      <p:sp>
        <p:nvSpPr>
          <p:cNvPr id="10" name="Rectangle 9"/>
          <p:cNvSpPr/>
          <p:nvPr/>
        </p:nvSpPr>
        <p:spPr>
          <a:xfrm>
            <a:off x="914400" y="3986784"/>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3877056"/>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Ask Copilot to summarize tracked edits</a:t>
            </a:r>
          </a:p>
        </p:txBody>
      </p:sp>
      <p:sp>
        <p:nvSpPr>
          <p:cNvPr id="12" name="Rectangle 11"/>
          <p:cNvSpPr/>
          <p:nvPr/>
        </p:nvSpPr>
        <p:spPr>
          <a:xfrm>
            <a:off x="914400" y="4553712"/>
            <a:ext cx="146304" cy="18288"/>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07008" y="4443984"/>
            <a:ext cx="5303520" cy="548640"/>
          </a:xfrm>
          <a:prstGeom prst="rect">
            <a:avLst/>
          </a:prstGeom>
          <a:noFill/>
        </p:spPr>
        <p:txBody>
          <a:bodyPr wrap="square" anchor="t">
            <a:spAutoFit/>
          </a:bodyPr>
          <a:lstStyle/>
          <a:p>
            <a:pPr algn="l">
              <a:lnSpc>
                <a:spcPct val="110000"/>
              </a:lnSpc>
              <a:spcBef>
                <a:spcPts val="0"/>
              </a:spcBef>
              <a:spcAft>
                <a:spcPts val="200"/>
              </a:spcAft>
            </a:pPr>
            <a:r>
              <a:rPr sz="1500" b="0">
                <a:solidFill>
                  <a:srgbClr val="ACACB4"/>
                </a:solidFill>
                <a:latin typeface="Instrument Sans"/>
              </a:rPr>
              <a:t>Open Review → Show Changes; use Version History for recovery</a:t>
            </a:r>
          </a:p>
        </p:txBody>
      </p:sp>
      <p:sp>
        <p:nvSpPr>
          <p:cNvPr id="14" name="TextBox 13"/>
          <p:cNvSpPr txBox="1"/>
          <p:nvPr/>
        </p:nvSpPr>
        <p:spPr>
          <a:xfrm>
            <a:off x="7040880" y="1810512"/>
            <a:ext cx="4507992" cy="365760"/>
          </a:xfrm>
          <a:prstGeom prst="rect">
            <a:avLst/>
          </a:prstGeom>
          <a:noFill/>
        </p:spPr>
        <p:txBody>
          <a:bodyPr wrap="square" anchor="t">
            <a:spAutoFit/>
          </a:bodyPr>
          <a:lstStyle/>
          <a:p>
            <a:pPr algn="l">
              <a:lnSpc>
                <a:spcPct val="100000"/>
              </a:lnSpc>
              <a:spcBef>
                <a:spcPts val="0"/>
              </a:spcBef>
              <a:spcAft>
                <a:spcPts val="200"/>
              </a:spcAft>
            </a:pPr>
            <a:r>
              <a:rPr sz="1300" b="1" spc="150">
                <a:solidFill>
                  <a:srgbClr val="8B8B93"/>
                </a:solidFill>
                <a:latin typeface="Instrument Sans"/>
              </a:rPr>
              <a:t>TRY ONE OR MORE</a:t>
            </a:r>
          </a:p>
        </p:txBody>
      </p:sp>
      <p:sp>
        <p:nvSpPr>
          <p:cNvPr id="15" name="Rounded Rectangle 14"/>
          <p:cNvSpPr/>
          <p:nvPr/>
        </p:nvSpPr>
        <p:spPr>
          <a:xfrm>
            <a:off x="7040880" y="2286000"/>
            <a:ext cx="4507992" cy="1057656"/>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242048" y="245059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42048" y="243230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1</a:t>
            </a:r>
          </a:p>
        </p:txBody>
      </p:sp>
      <p:sp>
        <p:nvSpPr>
          <p:cNvPr id="18" name="TextBox 17"/>
          <p:cNvSpPr txBox="1"/>
          <p:nvPr/>
        </p:nvSpPr>
        <p:spPr>
          <a:xfrm>
            <a:off x="7699248" y="2670048"/>
            <a:ext cx="3593591" cy="618744"/>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Catch me up on the changes to this workbook.</a:t>
            </a:r>
          </a:p>
        </p:txBody>
      </p:sp>
      <p:sp>
        <p:nvSpPr>
          <p:cNvPr id="19" name="Rounded Rectangle 18"/>
          <p:cNvSpPr/>
          <p:nvPr/>
        </p:nvSpPr>
        <p:spPr>
          <a:xfrm>
            <a:off x="7040880" y="3489960"/>
            <a:ext cx="4507992" cy="1303020"/>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242048" y="3654552"/>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42048" y="3636264"/>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2</a:t>
            </a:r>
          </a:p>
        </p:txBody>
      </p:sp>
      <p:sp>
        <p:nvSpPr>
          <p:cNvPr id="22" name="TextBox 21"/>
          <p:cNvSpPr txBox="1"/>
          <p:nvPr/>
        </p:nvSpPr>
        <p:spPr>
          <a:xfrm>
            <a:off x="7699248" y="3874007"/>
            <a:ext cx="3593591" cy="864108"/>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Who changed the values in PerformanceData, and what did they change?</a:t>
            </a:r>
          </a:p>
        </p:txBody>
      </p:sp>
      <p:sp>
        <p:nvSpPr>
          <p:cNvPr id="23" name="Rounded Rectangle 22"/>
          <p:cNvSpPr/>
          <p:nvPr/>
        </p:nvSpPr>
        <p:spPr>
          <a:xfrm>
            <a:off x="7040880" y="4939284"/>
            <a:ext cx="4507992" cy="1057656"/>
          </a:xfrm>
          <a:prstGeom prst="roundRect">
            <a:avLst>
              <a:gd name="adj" fmla="val 6000"/>
            </a:avLst>
          </a:prstGeom>
          <a:solidFill>
            <a:srgbClr val="303036"/>
          </a:solidFill>
          <a:ln w="9525">
            <a:solidFill>
              <a:srgbClr val="4545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242048" y="5103875"/>
            <a:ext cx="310896" cy="310896"/>
          </a:xfrm>
          <a:prstGeom prst="ellipse">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42048" y="5085588"/>
            <a:ext cx="310896" cy="310896"/>
          </a:xfrm>
          <a:prstGeom prst="rect">
            <a:avLst/>
          </a:prstGeom>
          <a:noFill/>
        </p:spPr>
        <p:txBody>
          <a:bodyPr wrap="square" anchor="ctr">
            <a:spAutoFit/>
          </a:bodyPr>
          <a:lstStyle/>
          <a:p>
            <a:pPr algn="ctr">
              <a:lnSpc>
                <a:spcPct val="100000"/>
              </a:lnSpc>
              <a:spcBef>
                <a:spcPts val="0"/>
              </a:spcBef>
              <a:spcAft>
                <a:spcPts val="200"/>
              </a:spcAft>
            </a:pPr>
            <a:r>
              <a:rPr sz="1300" b="1">
                <a:solidFill>
                  <a:srgbClr val="303036"/>
                </a:solidFill>
                <a:latin typeface="Instrument Sans"/>
              </a:rPr>
              <a:t>3</a:t>
            </a:r>
          </a:p>
        </p:txBody>
      </p:sp>
      <p:sp>
        <p:nvSpPr>
          <p:cNvPr id="26" name="TextBox 25"/>
          <p:cNvSpPr txBox="1"/>
          <p:nvPr/>
        </p:nvSpPr>
        <p:spPr>
          <a:xfrm>
            <a:off x="7699248" y="5323332"/>
            <a:ext cx="3593591" cy="618744"/>
          </a:xfrm>
          <a:prstGeom prst="rect">
            <a:avLst/>
          </a:prstGeom>
          <a:noFill/>
        </p:spPr>
        <p:txBody>
          <a:bodyPr wrap="square" anchor="t">
            <a:normAutofit/>
          </a:bodyPr>
          <a:lstStyle/>
          <a:p>
            <a:pPr algn="l">
              <a:lnSpc>
                <a:spcPct val="112000"/>
              </a:lnSpc>
              <a:spcBef>
                <a:spcPts val="0"/>
              </a:spcBef>
              <a:spcAft>
                <a:spcPts val="200"/>
              </a:spcAft>
            </a:pPr>
            <a:r>
              <a:rPr sz="1400" b="0">
                <a:solidFill>
                  <a:srgbClr val="C9C9D2"/>
                </a:solidFill>
                <a:latin typeface="Instrument Sans"/>
              </a:rPr>
              <a:t>What changes has Copilot made to this workbook?</a:t>
            </a:r>
          </a:p>
        </p:txBody>
      </p:sp>
      <p:sp>
        <p:nvSpPr>
          <p:cNvPr id="27" name="Rectangle 26"/>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MAX Training · MS-4004 Finance Use Case</a:t>
            </a:r>
          </a:p>
        </p:txBody>
      </p:sp>
      <p:sp>
        <p:nvSpPr>
          <p:cNvPr id="29" name="TextBox 28"/>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28282B"/>
        </a:solidFill>
        <a:effectLst/>
      </p:bgPr>
    </p:bg>
    <p:spTree>
      <p:nvGrpSpPr>
        <p:cNvPr id="1" name=""/>
        <p:cNvGrpSpPr/>
        <p:nvPr/>
      </p:nvGrpSpPr>
      <p:grpSpPr/>
      <p:pic>
        <p:nvPicPr>
          <p:cNvPr id="2" name="Picture 1" descr="finance_briefing.png"/>
          <p:cNvPicPr>
            <a:picLocks noChangeAspect="1"/>
          </p:cNvPicPr>
          <p:nvPr/>
        </p:nvPicPr>
        <p:blipFill>
          <a:blip r:embed="rId2"/>
          <a:stretch>
            <a:fillRect/>
          </a:stretch>
        </p:blipFill>
        <p:spPr>
          <a:xfrm>
            <a:off x="7680960" y="0"/>
            <a:ext cx="4507992" cy="6858000"/>
          </a:xfrm>
          <a:prstGeom prst="rect">
            <a:avLst/>
          </a:prstGeom>
        </p:spPr>
      </p:pic>
      <p:sp>
        <p:nvSpPr>
          <p:cNvPr id="3" name="Rectangle 2"/>
          <p:cNvSpPr/>
          <p:nvPr/>
        </p:nvSpPr>
        <p:spPr>
          <a:xfrm>
            <a:off x="7680960" y="0"/>
            <a:ext cx="32004" cy="6858000"/>
          </a:xfrm>
          <a:prstGeom prst="rect">
            <a:avLst/>
          </a:prstGeom>
          <a:solidFill>
            <a:srgbClr val="2F6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30352"/>
            <a:ext cx="10881360" cy="274320"/>
          </a:xfrm>
          <a:prstGeom prst="rect">
            <a:avLst/>
          </a:prstGeom>
          <a:noFill/>
        </p:spPr>
        <p:txBody>
          <a:bodyPr wrap="square" anchor="t">
            <a:spAutoFit/>
          </a:bodyPr>
          <a:lstStyle/>
          <a:p>
            <a:pPr algn="l">
              <a:lnSpc>
                <a:spcPct val="100000"/>
              </a:lnSpc>
              <a:spcBef>
                <a:spcPts val="0"/>
              </a:spcBef>
              <a:spcAft>
                <a:spcPts val="200"/>
              </a:spcAft>
            </a:pPr>
            <a:r>
              <a:rPr sz="1350" b="1" spc="160">
                <a:solidFill>
                  <a:srgbClr val="8B8B93"/>
                </a:solidFill>
                <a:latin typeface="Instrument Sans"/>
              </a:rPr>
              <a:t>FINANCE</a:t>
            </a:r>
          </a:p>
        </p:txBody>
      </p:sp>
      <p:sp>
        <p:nvSpPr>
          <p:cNvPr id="5" name="TextBox 4"/>
          <p:cNvSpPr txBox="1"/>
          <p:nvPr/>
        </p:nvSpPr>
        <p:spPr>
          <a:xfrm>
            <a:off x="621792" y="914400"/>
            <a:ext cx="6949440" cy="1280160"/>
          </a:xfrm>
          <a:prstGeom prst="rect">
            <a:avLst/>
          </a:prstGeom>
          <a:noFill/>
        </p:spPr>
        <p:txBody>
          <a:bodyPr wrap="square" anchor="t">
            <a:spAutoFit/>
          </a:bodyPr>
          <a:lstStyle/>
          <a:p>
            <a:pPr algn="l">
              <a:lnSpc>
                <a:spcPct val="100000"/>
              </a:lnSpc>
              <a:spcBef>
                <a:spcPts val="0"/>
              </a:spcBef>
              <a:spcAft>
                <a:spcPts val="200"/>
              </a:spcAft>
            </a:pPr>
            <a:r>
              <a:rPr sz="3800" b="1">
                <a:solidFill>
                  <a:srgbClr val="F5F5F6"/>
                </a:solidFill>
                <a:latin typeface="Instrument Sans"/>
              </a:rPr>
              <a:t>Bring the loop back to real work</a:t>
            </a:r>
          </a:p>
        </p:txBody>
      </p:sp>
      <p:sp>
        <p:nvSpPr>
          <p:cNvPr id="6" name="Rectangle 5"/>
          <p:cNvSpPr/>
          <p:nvPr/>
        </p:nvSpPr>
        <p:spPr>
          <a:xfrm>
            <a:off x="640080" y="2926080"/>
            <a:ext cx="457200" cy="45720"/>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3072384"/>
            <a:ext cx="3291840" cy="45720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Next finance task</a:t>
            </a:r>
          </a:p>
        </p:txBody>
      </p:sp>
      <p:sp>
        <p:nvSpPr>
          <p:cNvPr id="8" name="TextBox 7"/>
          <p:cNvSpPr txBox="1"/>
          <p:nvPr/>
        </p:nvSpPr>
        <p:spPr>
          <a:xfrm>
            <a:off x="640080" y="3566160"/>
            <a:ext cx="3291840" cy="1828800"/>
          </a:xfrm>
          <a:prstGeom prst="rect">
            <a:avLst/>
          </a:prstGeom>
          <a:noFill/>
        </p:spPr>
        <p:txBody>
          <a:bodyPr wrap="square" anchor="t">
            <a:spAutoFit/>
          </a:bodyPr>
          <a:lstStyle/>
          <a:p>
            <a:pPr algn="l">
              <a:lnSpc>
                <a:spcPct val="125000"/>
              </a:lnSpc>
              <a:spcBef>
                <a:spcPts val="0"/>
              </a:spcBef>
              <a:spcAft>
                <a:spcPts val="200"/>
              </a:spcAft>
            </a:pPr>
            <a:r>
              <a:rPr sz="1600" b="0">
                <a:solidFill>
                  <a:srgbClr val="ACACB4"/>
                </a:solidFill>
                <a:latin typeface="Instrument Sans"/>
              </a:rPr>
              <a:t>Choose the surface, name the source, and define the verification check.</a:t>
            </a:r>
          </a:p>
        </p:txBody>
      </p:sp>
      <p:sp>
        <p:nvSpPr>
          <p:cNvPr id="9" name="Rectangle 8"/>
          <p:cNvSpPr/>
          <p:nvPr/>
        </p:nvSpPr>
        <p:spPr>
          <a:xfrm>
            <a:off x="4206240" y="2926080"/>
            <a:ext cx="457200" cy="45720"/>
          </a:xfrm>
          <a:prstGeom prst="rect">
            <a:avLst/>
          </a:prstGeom>
          <a:solidFill>
            <a:srgbClr val="4C8D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0" y="3072384"/>
            <a:ext cx="3291840" cy="457200"/>
          </a:xfrm>
          <a:prstGeom prst="rect">
            <a:avLst/>
          </a:prstGeom>
          <a:noFill/>
        </p:spPr>
        <p:txBody>
          <a:bodyPr wrap="square" anchor="t">
            <a:spAutoFit/>
          </a:bodyPr>
          <a:lstStyle/>
          <a:p>
            <a:pPr algn="l">
              <a:lnSpc>
                <a:spcPct val="100000"/>
              </a:lnSpc>
              <a:spcBef>
                <a:spcPts val="0"/>
              </a:spcBef>
              <a:spcAft>
                <a:spcPts val="200"/>
              </a:spcAft>
            </a:pPr>
            <a:r>
              <a:rPr sz="1900" b="1">
                <a:solidFill>
                  <a:srgbClr val="F5F5F6"/>
                </a:solidFill>
                <a:latin typeface="Instrument Sans"/>
              </a:rPr>
              <a:t>Office hours</a:t>
            </a:r>
          </a:p>
        </p:txBody>
      </p:sp>
      <p:sp>
        <p:nvSpPr>
          <p:cNvPr id="11" name="TextBox 10"/>
          <p:cNvSpPr txBox="1"/>
          <p:nvPr/>
        </p:nvSpPr>
        <p:spPr>
          <a:xfrm>
            <a:off x="4206240" y="3566160"/>
            <a:ext cx="3291840" cy="1828800"/>
          </a:xfrm>
          <a:prstGeom prst="rect">
            <a:avLst/>
          </a:prstGeom>
          <a:noFill/>
        </p:spPr>
        <p:txBody>
          <a:bodyPr wrap="square" anchor="t">
            <a:spAutoFit/>
          </a:bodyPr>
          <a:lstStyle/>
          <a:p>
            <a:pPr algn="l">
              <a:lnSpc>
                <a:spcPct val="125000"/>
              </a:lnSpc>
              <a:spcBef>
                <a:spcPts val="0"/>
              </a:spcBef>
              <a:spcAft>
                <a:spcPts val="200"/>
              </a:spcAft>
            </a:pPr>
            <a:r>
              <a:rPr sz="1600" b="0">
                <a:solidFill>
                  <a:srgbClr val="ACACB4"/>
                </a:solidFill>
                <a:latin typeface="Instrument Sans"/>
              </a:rPr>
              <a:t>Bring one approved, non-confidential finance workflow to apply the pattern.</a:t>
            </a:r>
          </a:p>
        </p:txBody>
      </p:sp>
      <p:sp>
        <p:nvSpPr>
          <p:cNvPr id="12" name="Rectangle 11"/>
          <p:cNvSpPr/>
          <p:nvPr/>
        </p:nvSpPr>
        <p:spPr>
          <a:xfrm>
            <a:off x="640080" y="6437376"/>
            <a:ext cx="10908792" cy="10972"/>
          </a:xfrm>
          <a:prstGeom prst="rect">
            <a:avLst/>
          </a:prstGeom>
          <a:solidFill>
            <a:srgbClr val="3A3A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6473952"/>
            <a:ext cx="5394960" cy="274320"/>
          </a:xfrm>
          <a:prstGeom prst="rect">
            <a:avLst/>
          </a:prstGeom>
          <a:noFill/>
        </p:spPr>
        <p:txBody>
          <a:bodyPr wrap="square" anchor="t">
            <a:spAutoFit/>
          </a:bodyPr>
          <a:lstStyle/>
          <a:p>
            <a:pPr algn="l">
              <a:lnSpc>
                <a:spcPct val="100000"/>
              </a:lnSpc>
              <a:spcBef>
                <a:spcPts val="0"/>
              </a:spcBef>
              <a:spcAft>
                <a:spcPts val="200"/>
              </a:spcAft>
            </a:pPr>
            <a:r>
              <a:rPr sz="1000" b="0">
                <a:solidFill>
                  <a:srgbClr val="7E7E86"/>
                </a:solidFill>
                <a:latin typeface="Instrument Sans"/>
              </a:rPr>
              <a:t>MAX Training · MS-4004 Finance Use Case</a:t>
            </a:r>
          </a:p>
        </p:txBody>
      </p:sp>
      <p:sp>
        <p:nvSpPr>
          <p:cNvPr id="14" name="TextBox 13"/>
          <p:cNvSpPr txBox="1"/>
          <p:nvPr/>
        </p:nvSpPr>
        <p:spPr>
          <a:xfrm>
            <a:off x="10607040" y="6473952"/>
            <a:ext cx="941832" cy="274320"/>
          </a:xfrm>
          <a:prstGeom prst="rect">
            <a:avLst/>
          </a:prstGeom>
          <a:noFill/>
        </p:spPr>
        <p:txBody>
          <a:bodyPr wrap="square" anchor="t">
            <a:spAutoFit/>
          </a:bodyPr>
          <a:lstStyle/>
          <a:p>
            <a:pPr algn="r">
              <a:lnSpc>
                <a:spcPct val="100000"/>
              </a:lnSpc>
              <a:spcBef>
                <a:spcPts val="0"/>
              </a:spcBef>
              <a:spcAft>
                <a:spcPts val="200"/>
              </a:spcAft>
            </a:pPr>
            <a:r>
              <a:rPr sz="1000" b="0">
                <a:solidFill>
                  <a:srgbClr val="7E7E86"/>
                </a:solidFill>
                <a:latin typeface="Instrument Sans"/>
              </a:rPr>
              <a:t>38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