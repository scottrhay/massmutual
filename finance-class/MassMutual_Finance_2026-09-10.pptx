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0" d="100"/>
          <a:sy n="90" d="100"/>
        </p:scale>
        <p:origin x="37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ott Hay" userId="e95d3f44-f6c0-414c-b281-41a9346c1b81" providerId="ADAL" clId="{4D76341F-F64C-4A8E-A4EF-1A11730F38E9}"/>
    <pc:docChg chg="delSld">
      <pc:chgData name="Scott Hay" userId="e95d3f44-f6c0-414c-b281-41a9346c1b81" providerId="ADAL" clId="{4D76341F-F64C-4A8E-A4EF-1A11730F38E9}" dt="2026-09-08T15:55:10.372" v="0" actId="47"/>
      <pc:docMkLst>
        <pc:docMk/>
      </pc:docMkLst>
      <pc:sldChg chg="del">
        <pc:chgData name="Scott Hay" userId="e95d3f44-f6c0-414c-b281-41a9346c1b81" providerId="ADAL" clId="{4D76341F-F64C-4A8E-A4EF-1A11730F38E9}" dt="2026-09-08T15:55:10.372" v="0" actId="47"/>
        <pc:sldMkLst>
          <pc:docMk/>
          <pc:sldMk cId="0" sldId="259"/>
        </pc:sldMkLst>
      </pc:sldChg>
    </pc:docChg>
  </pc:docChgLst>
  <pc:docChgLst>
    <pc:chgData name="Scott Hay" userId="e95d3f44-f6c0-414c-b281-41a9346c1b81" providerId="ADAL" clId="{844FE0EC-1ACE-457A-A062-606521DBE677}"/>
    <pc:docChg chg="custSel modSld">
      <pc:chgData name="Scott Hay" userId="e95d3f44-f6c0-414c-b281-41a9346c1b81" providerId="ADAL" clId="{844FE0EC-1ACE-457A-A062-606521DBE677}" dt="2026-09-09T20:21:41.311" v="243" actId="478"/>
      <pc:docMkLst>
        <pc:docMk/>
      </pc:docMkLst>
      <pc:sldChg chg="delSp modSp mod">
        <pc:chgData name="Scott Hay" userId="e95d3f44-f6c0-414c-b281-41a9346c1b81" providerId="ADAL" clId="{844FE0EC-1ACE-457A-A062-606521DBE677}" dt="2026-09-09T20:21:41.311" v="243" actId="478"/>
        <pc:sldMkLst>
          <pc:docMk/>
          <pc:sldMk cId="0" sldId="258"/>
        </pc:sldMkLst>
        <pc:spChg chg="mod">
          <ac:chgData name="Scott Hay" userId="e95d3f44-f6c0-414c-b281-41a9346c1b81" providerId="ADAL" clId="{844FE0EC-1ACE-457A-A062-606521DBE677}" dt="2026-09-09T20:21:31.230" v="242" actId="20577"/>
          <ac:spMkLst>
            <pc:docMk/>
            <pc:sldMk cId="0" sldId="258"/>
            <ac:spMk id="3" creationId="{00000000-0000-0000-0000-000000000000}"/>
          </ac:spMkLst>
        </pc:spChg>
        <pc:spChg chg="mod">
          <ac:chgData name="Scott Hay" userId="e95d3f44-f6c0-414c-b281-41a9346c1b81" providerId="ADAL" clId="{844FE0EC-1ACE-457A-A062-606521DBE677}" dt="2026-09-09T20:21:17.927" v="160" actId="20577"/>
          <ac:spMkLst>
            <pc:docMk/>
            <pc:sldMk cId="0" sldId="258"/>
            <ac:spMk id="4" creationId="{00000000-0000-0000-0000-000000000000}"/>
          </ac:spMkLst>
        </pc:spChg>
        <pc:spChg chg="del">
          <ac:chgData name="Scott Hay" userId="e95d3f44-f6c0-414c-b281-41a9346c1b81" providerId="ADAL" clId="{844FE0EC-1ACE-457A-A062-606521DBE677}" dt="2026-09-09T20:21:41.311" v="243" actId="478"/>
          <ac:spMkLst>
            <pc:docMk/>
            <pc:sldMk cId="0" sldId="258"/>
            <ac:spMk id="15" creationId="{00000000-0000-0000-0000-000000000000}"/>
          </ac:spMkLst>
        </pc:spChg>
        <pc:spChg chg="del">
          <ac:chgData name="Scott Hay" userId="e95d3f44-f6c0-414c-b281-41a9346c1b81" providerId="ADAL" clId="{844FE0EC-1ACE-457A-A062-606521DBE677}" dt="2026-09-09T20:21:41.311" v="243" actId="478"/>
          <ac:spMkLst>
            <pc:docMk/>
            <pc:sldMk cId="0" sldId="258"/>
            <ac:spMk id="16" creationId="{00000000-0000-0000-0000-000000000000}"/>
          </ac:spMkLst>
        </pc:spChg>
        <pc:spChg chg="del">
          <ac:chgData name="Scott Hay" userId="e95d3f44-f6c0-414c-b281-41a9346c1b81" providerId="ADAL" clId="{844FE0EC-1ACE-457A-A062-606521DBE677}" dt="2026-09-09T20:21:41.311" v="243" actId="478"/>
          <ac:spMkLst>
            <pc:docMk/>
            <pc:sldMk cId="0" sldId="258"/>
            <ac:spMk id="18" creationId="{00000000-0000-0000-0000-000000000000}"/>
          </ac:spMkLst>
        </pc:spChg>
        <pc:spChg chg="del">
          <ac:chgData name="Scott Hay" userId="e95d3f44-f6c0-414c-b281-41a9346c1b81" providerId="ADAL" clId="{844FE0EC-1ACE-457A-A062-606521DBE677}" dt="2026-09-09T20:21:41.311" v="243" actId="478"/>
          <ac:spMkLst>
            <pc:docMk/>
            <pc:sldMk cId="0" sldId="258"/>
            <ac:spMk id="19" creationId="{00000000-0000-0000-0000-000000000000}"/>
          </ac:spMkLst>
        </pc:spChg>
        <pc:picChg chg="del">
          <ac:chgData name="Scott Hay" userId="e95d3f44-f6c0-414c-b281-41a9346c1b81" providerId="ADAL" clId="{844FE0EC-1ACE-457A-A062-606521DBE677}" dt="2026-09-09T20:21:41.311" v="243" actId="478"/>
          <ac:picMkLst>
            <pc:docMk/>
            <pc:sldMk cId="0" sldId="258"/>
            <ac:picMk id="17"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1033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"This morning is one complete workflow: from workbook to management narrative, with every consequential claim checked."</a:t>
            </a:r>
          </a:p>
          <a:p>
            <a:r>
              <a:t>(3 min)</a:t>
            </a:r>
          </a:p>
          <a:p>
            <a:r>
              <a:t>TIME: 9:00-9:03 AM</a:t>
            </a:r>
          </a:p>
          <a:p>
            <a:r>
              <a:t>• Welcome the room, no long housekeeping - the clock starts on real work at 9:15.</a:t>
            </a:r>
          </a:p>
          <a:p>
            <a:r>
              <a:t>• Name the artifact they leave with: a Verified Finance Review Pack, not a feature tour.</a:t>
            </a:r>
          </a:p>
          <a:p>
            <a:r>
              <a:t>• Disclose the fiction once, out loud: Northstar Life is a made-up insurer; no MassMutual numbers appear anywhere today.</a:t>
            </a:r>
          </a:p>
          <a:p>
            <a:r>
              <a:t>• Point at the handout short link and QR on this slide frame - deck PDF, labs, prompt packet, ledger template.</a:t>
            </a:r>
          </a:p>
          <a:p>
            <a:r>
              <a:t>ASK: 'What would make today useful in your real work?' -&gt; expect: a repeatable workflow, better prompts, confidence, something to show a colleague. [CRESCENDO L2]</a:t>
            </a:r>
          </a:p>
          <a:p>
            <a:r>
              <a:t>NEXT: "Here is the route through the three hours."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"We are not touring Finance features today - we are building one artifact, and the first half hour is spent getting your hands on Copilot inside Excel."</a:t>
            </a:r>
          </a:p>
          <a:p>
            <a:r>
              <a:t>(2 min)</a:t>
            </a:r>
          </a:p>
          <a:p>
            <a:r>
              <a:t>TIME: 9:03-9:05 AM</a:t>
            </a:r>
          </a:p>
          <a:p>
            <a:r>
              <a:t>• The first block is new and it is guided: everyone runs the same five prompts on the same workbook.</a:t>
            </a:r>
          </a:p>
          <a:p>
            <a:r>
              <a:t>• The four stages after it are the loop - Create, Refine, Verify claims, Prepare to present.</a:t>
            </a:r>
          </a:p>
          <a:p>
            <a:r>
              <a:t>• The expected findings are deterministic; there is an answer key and I will hold myself to it.</a:t>
            </a:r>
          </a:p>
          <a:p>
            <a:r>
              <a:t>ASK: 'Which stage is most likely to be skipped under time pressure?' -&gt; expect: Verify claims. [CRESCENDO L3]</a:t>
            </a:r>
          </a:p>
          <a:p>
            <a:r>
              <a:t>NEXT: "Before we touch the file, three rules that run everything we do today."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"If you were not in the room yesterday, you have missed nothing you need - these three rules are the whole operating system for the next three hours."</a:t>
            </a:r>
          </a:p>
          <a:p>
            <a:r>
              <a:t>(5 min)</a:t>
            </a:r>
          </a:p>
          <a:p>
            <a:r>
              <a:t>TIME: 9:05-9:10 AM</a:t>
            </a:r>
          </a:p>
          <a:p>
            <a:r>
              <a:t>• Quality in: GCSE in one line - Goal, Context, Source, Expectations. Say it once, point at the card, move on. Every prompt on today's slides is built that way and you will start to see the four parts.</a:t>
            </a:r>
          </a:p>
          <a:p>
            <a:r>
              <a:t>• Vetted out: the traffic light is a release decision, not a writing score. Green means it ships as is; yellow means one fix and re-read; red means the source or the ask was wrong, start over.</a:t>
            </a:r>
          </a:p>
          <a:p>
            <a:r>
              <a:t>• True North: Operation TRUE NORTH is the story we are inside. Northstar Life's Q3 board pre-read is due Friday, June Paid Claims ran unfavorable, and nobody has yet proven why. Say the sentence out loud: the pre-read is due Friday - today we earn the numbers.</a:t>
            </a:r>
          </a:p>
          <a:p>
            <a:r>
              <a:t>• Northstar Life is fiction (Contoso rule). Say it once here and do not repeat it every slide.</a:t>
            </a:r>
          </a:p>
          <a:p>
            <a:r>
              <a:t>ASK: 'Which of the three is hardest to hold when the deadline is Friday?' -&gt; expect: vetted out - verification is the first thing squeezed. [CRESCENDO L3]</a:t>
            </a:r>
          </a:p>
          <a:p>
            <a:r>
              <a:t>NEXT: "Rules set. Now confirm you can actually open the evidence."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"For the next half hour nobody is analyzing anything - we are learning to drive the tool, and we do it together on one workbook."</a:t>
            </a:r>
          </a:p>
          <a:p>
            <a:r>
              <a:t>(2 min)</a:t>
            </a:r>
          </a:p>
          <a:p>
            <a:r>
              <a:t>TIME: 9:15-9:17 AM</a:t>
            </a:r>
          </a:p>
          <a:p>
            <a:r>
              <a:t>• This block is guided, not demo-then-mirror: I run it, you run it, we move as one room.</a:t>
            </a:r>
          </a:p>
          <a:p>
            <a:r>
              <a:t>• Five prompts, five capabilities. Each one is checkable against the workbook in front of you.</a:t>
            </a:r>
          </a:p>
          <a:p>
            <a:r>
              <a:t>• Every one of these is arithmetic or description. That is deliberate - it is the safe end of the pool.</a:t>
            </a:r>
          </a:p>
          <a:p>
            <a:r>
              <a:t>ASK: 'Thumbs up if the workbook is open on your screen right now.' -&gt; expect: a full room of thumbs; anyone without one gets paired before we start. [CRESCENDO L1]</a:t>
            </a:r>
          </a:p>
          <a:p>
            <a:r>
              <a:t>NEXT: "Here is the whole shelf of what this thing does inside a workbook."</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"Five things, and you will do all five in the next twenty-five minutes - none of them are magic and all of them are checkable."</a:t>
            </a:r>
          </a:p>
          <a:p>
            <a:r>
              <a:t>(3 min)</a:t>
            </a:r>
          </a:p>
          <a:p>
            <a:r>
              <a:t>TIME: 9:17-9:20 AM</a:t>
            </a:r>
          </a:p>
          <a:p>
            <a:r>
              <a:t>• Walk the rows. Ask returns insights as summaries, trends, outliers, charts or PivotTables - Microsoft's own guidance is: name the columns you want analyzed and you get a better answer.</a:t>
            </a:r>
          </a:p>
          <a:p>
            <a:r>
              <a:t>• Add a column and Explain a formula are two halves of the same skill: one writes arithmetic you can check, the other reads back arithmetic somebody else wrote. In a finance team the second one is worth more.</a:t>
            </a:r>
          </a:p>
          <a:p>
            <a:r>
              <a:t>• Highlight and sort is the one people miss: Copilot describes the change in the pane and you press Apply. Nothing moves in your sheet until you say so.</a:t>
            </a:r>
          </a:p>
          <a:p>
            <a:r>
              <a:t>• Say the strip out loud - Automatic calculation and a modern .xlsx. Those two are the real prerequisites; the old OneDrive-and-AutoSave rule is retired.</a:t>
            </a:r>
          </a:p>
          <a:p>
            <a:r>
              <a:t>ASK: 'Which of these five would save you the most time this week?' -&gt; expect: explain-a-formula or add-a-column; both are right, keep it to one word. [CRESCENDO L2]</a:t>
            </a:r>
          </a:p>
          <a:p>
            <a:r>
              <a:t>NEXT: "Start with the cheapest one - ask the workbook what it is holding."</a:t>
            </a:r>
          </a:p>
          <a:p>
            <a:r>
              <a:t>TENANT HEDGE (verbal only): edit, plan and chat modes exist in current builds; name whichever ones appear this morning and demonstrate only those. Three more controls - Personalization, workbook rules and skills - get their own beats at 9:38; do not pre-announce a label you have not seen on this tenant.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"Everyone paste prompt one - we are going to make Copilot tell us what is in the table before we ask it a single interesting question."</a:t>
            </a:r>
          </a:p>
          <a:p>
            <a:r>
              <a:t>(7 min)</a:t>
            </a:r>
          </a:p>
          <a:p>
            <a:r>
              <a:t>TIME: 9:20-9:27 AM</a:t>
            </a:r>
          </a:p>
          <a:p>
            <a:r>
              <a:t>• Prompt 1 is the orientation move. It is quick, not weak - a fast, cheap way to confirm Copilot is reading the table you think it is reading.</a:t>
            </a:r>
          </a:p>
          <a:p>
            <a:r>
              <a:t>• EXPECTED on prompt 1: PerformanceData holds Month, Category, Plan, Actual, Variance, Variance %, Owner and a data-quality flag; 18 data rows; January through June; three categories - Premium Revenue, Paid Claims, Operating Expense. If Copilot describes a different period or count, it is on the wrong range - stop and fix it now.</a:t>
            </a:r>
          </a:p>
          <a:p>
            <a:r>
              <a:t>• Prompt 2 makes Copilot do arithmetic you can grade. It writes a formula column and explains the formula. EXPECTED: the new column reproduces the existing Variance column exactly - the June Paid Claims row reads 68,000 (858,000 minus 790,000).</a:t>
            </a:r>
          </a:p>
          <a:p>
            <a:r>
              <a:t>• That equality is the whole point: you now have an independent second calculation of the number the entire pre-read will hang on. Say it plainly - we just verified the anchor before anyone tried to explain it.</a:t>
            </a:r>
          </a:p>
          <a:p>
            <a:r>
              <a:t>ASK: 'One number in chat - what did your new column show for June Paid Claims?' -&gt; expect: 68,000. [CRESCENDO L3]</a:t>
            </a:r>
          </a:p>
          <a:p>
            <a:r>
              <a:t>IF IT STALLS for one seat: leave it. Their neighbor's screen shows the same thing and the file is theirs tonight.</a:t>
            </a:r>
          </a:p>
          <a:p>
            <a:r>
              <a:t>PACING CHECK: after prompt 2, hold 15-20 seconds, scan faces, take a thumbs-up before you advance.</a:t>
            </a:r>
          </a:p>
          <a:p>
            <a:r>
              <a:t>NEXT: "Numbers confirmed. Now let us see the shape of the year."</a:t>
            </a:r>
          </a:p>
          <a:p>
            <a:r>
              <a:t>IF FAILS for the room: project `Instructor/Baked_Cake/F0_Excel_Fundamentals.pdf`; disclose it as a prepared text example, not a live Copilot result.</a:t>
            </a:r>
          </a:p>
          <a:p>
            <a:endParaRPr/>
          </a:p>
          <a:p>
            <a:r>
              <a:t>PROMPTS ON THIS SLIDE:</a:t>
            </a:r>
          </a:p>
          <a:p>
            <a:endParaRPr/>
          </a:p>
          <a:p>
            <a:r>
              <a:t>What does the PerformanceData table contain? Describe the columns and the period covered.</a:t>
            </a:r>
          </a:p>
          <a:p>
            <a:endParaRPr/>
          </a:p>
          <a:p>
            <a:r>
              <a:t>Add a column to PerformanceData showing Actual minus Plan for each row.</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"Now the interesting one - we are going to ask Copilot what looks odd, and then we are going to be very careful about what that answer is and is not."</a:t>
            </a:r>
          </a:p>
          <a:p>
            <a:r>
              <a:t>(6 min)</a:t>
            </a:r>
          </a:p>
          <a:p>
            <a:r>
              <a:t>TIME: 9:27-9:33 AM</a:t>
            </a:r>
          </a:p>
          <a:p>
            <a:r>
              <a:t>• Prompt 3 is a documented capability: Copilot surfaces outliers and anomalies. Note the second sentence of the prompt - explain why you flagged each one. Never accept a flag without its reason.</a:t>
            </a:r>
          </a:p>
          <a:p>
            <a:r>
              <a:t>• EXPECTED on prompt 3: the flagged set includes at least one Paid Claims row from February, March, May or June. June Paid Claims (row 18) is the largest single unfavorable gap in the table at 68,000, or 8.6% over plan; March Paid Claims (row 9) is second at 62,000. Outlier detection is not deterministic - grade the reason, not the list.</a:t>
            </a:r>
          </a:p>
          <a:p>
            <a:r>
              <a:t>• Watch for the trap live: if Copilot says a row is unusual 'because claims experience deteriorated', that is a cause and it came from nowhere. Circle it on screen. That is the moment this whole morning turns on.</a:t>
            </a:r>
          </a:p>
          <a:p>
            <a:r>
              <a:t>• Prompt 4 gives the room a picture: six months, Actual against Plan. EXPECTED: June shows the widest gap - Actual 858,000 against Plan 790,000. The chart is linked to the source data, so it moves if the data moves.</a:t>
            </a:r>
          </a:p>
          <a:p>
            <a:r>
              <a:t>ASK: 'Did Copilot give you a reason, or a cause?' -&gt; expect: a reason describes the data; a cause invents a story. [CRESCENDO L3]</a:t>
            </a:r>
          </a:p>
          <a:p>
            <a:r>
              <a:t>PACING CHECK: hold 15-20 seconds after the chart appears; thumbs-up gate before the demo.</a:t>
            </a:r>
          </a:p>
          <a:p>
            <a:r>
              <a:t>NEXT: "One more capability - and it is the one you will use every Monday."</a:t>
            </a:r>
          </a:p>
          <a:p>
            <a:r>
              <a:t>IF FAILS for the room: project `Instructor/Baked_Cake/F0_Excel_Fundamentals.pdf`; disclose it as a prepared text example, not a live Copilot result.</a:t>
            </a:r>
          </a:p>
          <a:p>
            <a:endParaRPr/>
          </a:p>
          <a:p>
            <a:r>
              <a:t>PROMPTS ON THIS SLIDE:</a:t>
            </a:r>
          </a:p>
          <a:p>
            <a:endParaRPr/>
          </a:p>
          <a:p>
            <a:r>
              <a:t>Which rows in PerformanceData look unusual compared to the rest of the year? Explain why you flagged each one.</a:t>
            </a:r>
          </a:p>
          <a:p>
            <a:endParaRPr/>
          </a:p>
          <a:p>
            <a:r>
              <a:t>Create a chart of Paid Claims by month, Actual versus Plan.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"Everybody click into one cell in the Variance column - I want Copilot to read somebody else's arithmetic back to us in English."</a:t>
            </a:r>
          </a:p>
          <a:p>
            <a:r>
              <a:t>(5 min)</a:t>
            </a:r>
          </a:p>
          <a:p>
            <a:r>
              <a:t>TIME: 9:33-9:38 AM</a:t>
            </a:r>
          </a:p>
          <a:p>
            <a:r>
              <a:t>SETUP: Northstar_Life_Monthly_Performance.xlsx open, PerformanceData active, Calculation Options set to Automatic, Copilot pane open from the lower-right icon.</a:t>
            </a:r>
          </a:p>
          <a:p>
            <a:r>
              <a:t>1. Click a single cell in the Variance column - use the June Paid Claims row (row 18) so the whole room is on the same number.</a:t>
            </a:r>
          </a:p>
          <a:p>
            <a:r>
              <a:t>2. With that cell still selected, run:</a:t>
            </a:r>
          </a:p>
          <a:p>
            <a:r>
              <a:t>PROMPT:</a:t>
            </a:r>
          </a:p>
          <a:p>
            <a:r>
              <a:t>Explain the formula in the selected cell in plain language.</a:t>
            </a:r>
          </a:p>
          <a:p>
            <a:r>
              <a:t>3. Read the answer against the formula bar. Do not let Copilot's fluency stand in for your eyes.</a:t>
            </a:r>
          </a:p>
          <a:p>
            <a:r>
              <a:t>EXPECTED: Copilot describes the Variance formula as Actual minus Plan for the row. On row 18 (Jun, Paid Claims) that is 858,000 minus 790,000 = 68,000, which matches the answer key's largest unfavorable variance and the column you built two slides ago.</a:t>
            </a:r>
          </a:p>
          <a:p>
            <a:r>
              <a:t>IF FAILS: read the formula out of the formula bar yourself and narrate it; the same 68,000 anchor appears in Instructor/Baked_Cake/F1_Create_Output.pdf - open it, disclose that it is a prepared output, and keep moving. If Copilot cannot see the selection at all, the file is likely checked out in SharePoint - reopen it in Excel for the web.</a:t>
            </a:r>
          </a:p>
          <a:p>
            <a:r>
              <a:t>DEBRIEF: ASK: 'What did Copilot just do - and what did it carefully not do?' -&gt; expect: it described and calculated; it never said why claims were high. [CRESCENDO L3]</a:t>
            </a:r>
          </a:p>
          <a:p>
            <a:r>
              <a:t>NEXT: "Hold that thought - before we leave the workbook, three places where you teach Copilot how you work."</a:t>
            </a:r>
          </a:p>
          <a:p>
            <a:r>
              <a:t>PACING CHECK: 15-20 second hold, thumbs-up gate, then advance.</a:t>
            </a:r>
          </a:p>
          <a:p>
            <a:endParaRPr/>
          </a:p>
          <a:p>
            <a:r>
              <a:t>PROMPTS ON THIS SLIDE:</a:t>
            </a:r>
          </a:p>
          <a:p>
            <a:endParaRPr/>
          </a:p>
          <a:p>
            <a:r>
              <a:t>Explain the formula in the selected cell in plain language.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"You just let Copilot write a column and a chart into that workbook - so before we go further, here is the switch that decides whether it can do that at all."</a:t>
            </a:r>
          </a:p>
          <a:p>
            <a:r>
              <a:t>(3 min)</a:t>
            </a:r>
          </a:p>
          <a:p>
            <a:r>
              <a:t>TIME: 9:38-9:41 AM</a:t>
            </a:r>
          </a:p>
          <a:p>
            <a:r>
              <a:t>• The control sits above the prompt box in the Copilot pane. Microsoft documents three modes - Allow editing, Plan, and Chat only - and the pane opens in edit mode by default. Point at whichever ones appear on screen this morning and name only those.</a:t>
            </a:r>
          </a:p>
          <a:p>
            <a:r>
              <a:t>• Allow editing is the mode you have been in since the add-a-column prompt. Its changes go straight into the file, they save as they happen, and anyone with access to that workbook sees them. Microsoft's own guidance is to work on a copy of anything critical.</a:t>
            </a:r>
          </a:p>
          <a:p>
            <a:r>
              <a:t>• Chat only answers in the pane and moves nothing. That is the mode for a month-end file you are not allowed to touch, and for the first five minutes with any workbook somebody else owns.</a:t>
            </a:r>
          </a:p>
          <a:p>
            <a:r>
              <a:t>• Plan mode, where your build has it, writes out the approach before it acts so you can read the plan and stop it. Same instinct as Chat only - see it before it lands.</a:t>
            </a:r>
          </a:p>
          <a:p>
            <a:r>
              <a:t>• Editing needs Calculation Options set to Automatic. Same prerequisite as Lab 0, and it is the one that quietly breaks a demo.</a:t>
            </a:r>
          </a:p>
          <a:p>
            <a:r>
              <a:t>ASK: 'Which mode should you be in the first time you open a workbook somebody else owns?' -&gt; expect: chat only - look before you touch. [CRESCENDO L2]</a:t>
            </a:r>
          </a:p>
          <a:p>
            <a:r>
              <a:t>NEXT: "Now the three places where you can teach Copilot how you work."</a:t>
            </a:r>
          </a:p>
          <a:p>
            <a:r>
              <a:t>TENANT HEDGE (verbal only, never on a slide): mode names and the number of modes vary by build, license and rollout. 'Edit with Copilot' is the current name for what shipped as Agent Mode. Name what is on your screen; promise nothing else.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"Everybody open the three-dot menu at the top of the Copilot pane - there is a box in there most people never find, and it is the highest-leverage thirty seconds of your morning."</a:t>
            </a:r>
          </a:p>
          <a:p>
            <a:r>
              <a:t>(4 min)</a:t>
            </a:r>
          </a:p>
          <a:p>
            <a:r>
              <a:t>TIME: 9:41-9:45 AM</a:t>
            </a:r>
          </a:p>
          <a:p>
            <a:r>
              <a:t>• Click path, say it out loud while they do it: Copilot pane, the ... menu in the upper right, Personalization, type your preferences, Save.</a:t>
            </a:r>
          </a:p>
          <a:p>
            <a:r>
              <a:t>• What it stores: free-text preferences saved to your account and applied across every workbook you open. Microsoft is explicit that they are not shared with other people and they are not written into the workbook file.</a:t>
            </a:r>
          </a:p>
          <a:p>
            <a:r>
              <a:t>• Paste prompt one into that box and save it. Close the box, then run prompt two in the pane. The summary should come back in dollars, using favorable and unfavorable, naming the row - and you restated none of it. That is the whole demonstration.</a:t>
            </a:r>
          </a:p>
          <a:p>
            <a:r>
              <a:t>• Two facts worth saying out loud while it saves: it follows your account, so it is there on any device you sign in to - and a specific instruction in a prompt beats the box. Microsoft's wording is that a specific instruction in your prompt supersedes personalization settings. So it is a default, not a cage: when this one report needs decimals, you just ask for decimals.</a:t>
            </a:r>
          </a:p>
          <a:p>
            <a:r>
              <a:t>• Say this plainly: this is YOUR box, not your team's. Ten analysts, ten boxes. The team-wide answer is the next slide.</a:t>
            </a:r>
          </a:p>
          <a:p>
            <a:r>
              <a:t>• The other Personalization: Microsoft 365 Copilot has its own Settings &gt; Personalization for chat custom instructions and memory, governed by your tenant. Two boxes, two scopes - do not promise the room that setting one sets the other.</a:t>
            </a:r>
          </a:p>
          <a:p>
            <a:r>
              <a:t>• If you were in the room yesterday, this is rung 3 - Personalize - living inside Excel. If you were not, you have missed nothing: everything on this slide stands on its own.</a:t>
            </a:r>
          </a:p>
          <a:p>
            <a:r>
              <a:t>ASK: 'What is one formatting or wording convention you re-type into every finance ask?' -&gt; expect: currency and decimals, favorable versus unfavorable, cite the row, no causes. That answer IS their box. [CRESCENDO L2]</a:t>
            </a:r>
          </a:p>
          <a:p>
            <a:r>
              <a:t>IF BEHIND: it is prompt-for-prompt in the packet - tell them to set it at lunch and keep moving.</a:t>
            </a:r>
          </a:p>
          <a:p>
            <a:r>
              <a:t>PACING CHECK: hold 15-20 seconds after Save, take a thumbs-up from every table, then advance.</a:t>
            </a:r>
          </a:p>
          <a:p>
            <a:r>
              <a:t>NEXT: "That one travels with you. Now the one that travels with the file."</a:t>
            </a:r>
          </a:p>
          <a:p>
            <a:r>
              <a:t>IF FAILS for the room: project `Instructor/Baked_Cake/F0_Excel_Fundamentals.pdf`; disclose it as a prepared text example, not a live Copilot result.</a:t>
            </a:r>
          </a:p>
          <a:p>
            <a:endParaRPr/>
          </a:p>
          <a:p>
            <a:r>
              <a:t>PROMPTS ON THIS SLIDE:</a:t>
            </a:r>
          </a:p>
          <a:p>
            <a:endParaRPr/>
          </a:p>
          <a:p>
            <a:r>
              <a:t>Format currency as US dollars with thousand separators and no decimals. Call variances favorable or unfavorable, never positive or negative. When you state a number, name the sheet and the row it came from.</a:t>
            </a:r>
          </a:p>
          <a:p>
            <a:endParaRPr/>
          </a:p>
          <a:p>
            <a:r>
              <a:t>Summarize the June rows in PerformanceData.</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"Here is the move that makes this stick - the sentence you have been re-typing into every prompt becomes a standing rule that lives in the workbook."</a:t>
            </a:r>
          </a:p>
          <a:p>
            <a:r>
              <a:t>(3 min)</a:t>
            </a:r>
          </a:p>
          <a:p>
            <a:r>
              <a:t>TIME: 9:45-9:48 AM</a:t>
            </a:r>
          </a:p>
          <a:p>
            <a:r>
              <a:t>• Click path: in the Copilot pane open the plus menu in the prompt field - Add work content - and choose Create workbook rules. Copilot writes a worksheet named .Rules into the file with a starter template. Rules go one per cell down column A, and the sheet must stay visible; a hidden .Rules sheet is ignored.</a:t>
            </a:r>
          </a:p>
          <a:p>
            <a:r>
              <a:t>• Run prompt one, then prompt two. Notice what is missing from prompt two - the favorability clause. You did not drop it, you promoted it. The rule is carrying it now.</a:t>
            </a:r>
          </a:p>
          <a:p>
            <a:r>
              <a:t>• Say the promotion rule out loud: today's repeated prompt clause is tomorrow's workbook rule. In fifteen minutes you meet the analysis contract, and that same favorability sentence is sitting inside it. Once it is a rule, the contract gets shorter and the convention stops being optional.</a:t>
            </a:r>
          </a:p>
          <a:p>
            <a:r>
              <a:t>• The part that matters for a finance team: the rules sheet travels with the file. Send the workbook to a colleague and the convention rides along - they set nothing up. That is the closest thing on this shelf to a team standard.</a:t>
            </a:r>
          </a:p>
          <a:p>
            <a:r>
              <a:t>• Honest boundary, verbal: a rule is a standing instruction, not a control. It locks nothing and enforces nothing, and Copilot can still be wrong. It removes an argument; it does not remove the ledger.</a:t>
            </a:r>
          </a:p>
          <a:p>
            <a:r>
              <a:t>ASK: 'What is the one sentence your team re-types into every variance discussion?' -&gt; expect: the favorability convention, the materiality threshold, or the ranking basis - any of the three is a rule. [CRESCENDO L3]</a:t>
            </a:r>
          </a:p>
          <a:p>
            <a:r>
              <a:t>NEXT: "Two places set. One more shelf you should know exists."</a:t>
            </a:r>
          </a:p>
          <a:p>
            <a:r>
              <a:t>TENANT HEDGE (verbal only): rules are documented as fully supported in English only, and menu labels vary by build. If Create workbook rules is not in your plus menu this morning, add a visible sheet named .Rules by hand and put the same sentence in A1 - that is the documented equivalent.</a:t>
            </a:r>
          </a:p>
          <a:p>
            <a:r>
              <a:t>IF FAILS for the room: project `Instructor/Baked_Cake/F0_Excel_Fundamentals.pdf`; disclose it as a prepared text example, not a live Copilot result.</a:t>
            </a:r>
          </a:p>
          <a:p>
            <a:endParaRPr/>
          </a:p>
          <a:p>
            <a:r>
              <a:t>PROMPTS ON THIS SLIDE:</a:t>
            </a:r>
          </a:p>
          <a:p>
            <a:endParaRPr/>
          </a:p>
          <a:p>
            <a:r>
              <a:t>Add a workbook rule: revenue below plan is unfavorable, and claims or operating expense above plan is unfavorable.</a:t>
            </a:r>
          </a:p>
          <a:p>
            <a:endParaRPr/>
          </a:p>
          <a:p>
            <a:r>
              <a:t>Rank the five largest unfavorable variances in PerformanceData.</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"Last shelf, and this one is awareness only - I want you to know it exists and know who to ask, not to build anything before lunch."</a:t>
            </a:r>
          </a:p>
          <a:p>
            <a:r>
              <a:t>(2 min)</a:t>
            </a:r>
          </a:p>
          <a:p>
            <a:r>
              <a:t>TIME: 9:48-9:50 AM</a:t>
            </a:r>
          </a:p>
          <a:p>
            <a:r>
              <a:t>• What it is, in one line: a skill is a set of saved instructions - a name, a description, and a body of guidance - that Copilot applies to a repeatable task. The two Microsoft-provided examples in the pane today are @brandkit and @theme-design.</a:t>
            </a:r>
          </a:p>
          <a:p>
            <a:r>
              <a:t>• The finance shape, so it is not abstract: Microsoft's own launch write-up describes skills for exactly our work - preparing a variance analysis, refreshing a monthly reporting model, closing the books. Picture the variance sequence you run every month written down once and called by name. Describe the shape; do not promise the name - what is on the shelf this morning is what we teach.</a:t>
            </a:r>
          </a:p>
          <a:p>
            <a:r>
              <a:t>• Two click paths, both worth writing down. To see and choose: the plus menu in the prompt field, then the skills list - your build may label it All Skills or Choose skills. To turn them on and off: the ... menu, Manage skills.</a:t>
            </a:r>
          </a:p>
          <a:p>
            <a:r>
              <a:t>• Read the strip out loud, it is the governance point: switching a skill off only stops it firing on its own. Anyone can still invoke it by name. Off is not a control.</a:t>
            </a:r>
          </a:p>
          <a:p>
            <a:r>
              <a:t>• Where custom skills live today: a skills folder in an individual user's OneDrive. A skill is a file somebody owns, in a location your policies already cover - which is exactly why the publishing question belongs to IT and not to us. Escalate it; do not solve it in the room.</a:t>
            </a:r>
          </a:p>
          <a:p>
            <a:r>
              <a:t>• Rollout is live and moving - custom skills reached Insider builds first with general availability rolling out after, and partner-built skills later in the year. Whatever is on your screen this morning is what we teach.</a:t>
            </a:r>
          </a:p>
          <a:p>
            <a:r>
              <a:t>ASK: 'Open the plus menu and read out one skill name you can see.' -&gt; expect: the names vary by account, and that variance IS the lesson - never promise a specific skill by name. [CRESCENDO L2]</a:t>
            </a:r>
          </a:p>
          <a:p>
            <a:r>
              <a:t>NEXT: "Three settings, one workbook, and one sentence that decides everything after this."</a:t>
            </a:r>
          </a:p>
          <a:p>
            <a:r>
              <a:t>TENANT HEDGE (verbal only): current builds also show Upload images and files in that plus menu. It is not in the capability set verified for this course - if a learner asks, say you will confirm it rather than describe it.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"Copilot just did arithmetic and description - safe. The moment it offers a cause, we change gears."</a:t>
            </a:r>
          </a:p>
          <a:p>
            <a:r>
              <a:t>(3 min)</a:t>
            </a:r>
          </a:p>
          <a:p>
            <a:r>
              <a:t>TIME: 9:50-9:53 AM</a:t>
            </a:r>
          </a:p>
          <a:p>
            <a:r>
              <a:t>• Say that sentence twice. It is the Day 2 version of the one idea, and it is the only thing you need them to carry out of the last half hour.</a:t>
            </a:r>
          </a:p>
          <a:p>
            <a:r>
              <a:t>• Tie each line to what they just ran: the columns and the chart are facts; 'June looks unusual' is a description; 'because claims experience worsened' would have been a cause with no evidence behind it.</a:t>
            </a:r>
          </a:p>
          <a:p>
            <a:r>
              <a:t>• Everything after this slide exists to handle causes safely - ranking them, sourcing them, statusing them, and owning them.</a:t>
            </a:r>
          </a:p>
          <a:p>
            <a:r>
              <a:t>• You have just set three things - your own preferences, the workbook's rule, and the skills shelf. Not one of them changes this sentence. Settings make Copilot faster and more consistent; they do not make a cause true.</a:t>
            </a:r>
          </a:p>
          <a:p>
            <a:r>
              <a:t>• Do not add a framework here. This is a retrieval checkpoint, not new content.</a:t>
            </a:r>
          </a:p>
          <a:p>
            <a:r>
              <a:t>ASK: 'Which line would you teach to a colleague on Monday?' -&gt; expect: answers vary - make them give one reason. [CRESCENDO L3]</a:t>
            </a:r>
          </a:p>
          <a:p>
            <a:r>
              <a:t>NEXT: "So here is the machinery that keeps causes honest."</a:t>
            </a:r>
          </a:p>
          <a:p>
            <a:r>
              <a:t>TRANSFER: what changes in a different scenario? The source, audience, threshold and owner change; the fact-versus-cause line does not.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"Fifteen minutes on the controls, and then I run the whole thing in front of you."</a:t>
            </a:r>
          </a:p>
          <a:p>
            <a:r>
              <a:t>(1 min)</a:t>
            </a:r>
          </a:p>
          <a:p>
            <a:r>
              <a:t>TIME: 9:53-9:54 AM</a:t>
            </a:r>
          </a:p>
          <a:p>
            <a:r>
              <a:t>• This block is short on purpose - you already felt the tool, so the loop lands faster.</a:t>
            </a:r>
          </a:p>
          <a:p>
            <a:r>
              <a:t>• Four controls, one artifact, one contract prompt you will keep.</a:t>
            </a:r>
          </a:p>
          <a:p>
            <a:r>
              <a:t>ASK: 'Thumbs up if you are still with me.' -&gt; expect: full room. [CRESCENDO L1]</a:t>
            </a:r>
          </a:p>
          <a:p>
            <a:r>
              <a:t>NEXT: "Start with the artifact - what are we actually producing?"</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Review Pack is a management narrative with its evidence trail still attached - that attachment is what earns the trust."</a:t>
            </a:r>
          </a:p>
          <a:p>
            <a:r>
              <a:t>(3 min)</a:t>
            </a:r>
          </a:p>
          <a:p>
            <a:r>
              <a:t>TIME: 9:54-9:57 AM</a:t>
            </a:r>
          </a:p>
          <a:p>
            <a:r>
              <a:t>• Material findings are ranked by an explicit basis - we will state that basis out loud so nobody argues about it later.</a:t>
            </a:r>
          </a:p>
          <a:p>
            <a:r>
              <a:t>• Explanations sit apart from findings. A finding is arithmetic; an explanation is a claim about the world.</a:t>
            </a:r>
          </a:p>
          <a:p>
            <a:r>
              <a:t>• The ledger records source, check, status, uncertainty and owner. It is the part nobody builds and the part that saves you.</a:t>
            </a:r>
          </a:p>
          <a:p>
            <a:r>
              <a:t>• The brief is short precisely because the evidence work happened somewhere else.</a:t>
            </a:r>
          </a:p>
          <a:p>
            <a:r>
              <a:t>ASK: 'Which component protects the brief when a cause is plausible but not proven?' -&gt; expect: the claim ledger plus the open-questions section - it keeps the explanation labelled and owned. [CRESCENDO L3]</a:t>
            </a:r>
          </a:p>
          <a:p>
            <a:r>
              <a:t>NEXT: "Four stages get you there."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"Read these as four controls, not four prompts - the prompts are disposable, the controls are the job."</a:t>
            </a:r>
          </a:p>
          <a:p>
            <a:r>
              <a:t>(3 min)</a:t>
            </a:r>
          </a:p>
          <a:p>
            <a:r>
              <a:t>TIME: 9:57-10:00 AM</a:t>
            </a:r>
          </a:p>
          <a:p>
            <a:r>
              <a:t>• Create produces candidates - deliberately cause-free, because a cause invented at this stage never gets caught later.</a:t>
            </a:r>
          </a:p>
          <a:p>
            <a:r>
              <a:t>• Refine improves relevance for a named reader; it must not improve certainty.</a:t>
            </a:r>
          </a:p>
          <a:p>
            <a:r>
              <a:t>• Verify is the only stage that changes a claim's status. Nothing gets promoted anywhere else.</a:t>
            </a:r>
          </a:p>
          <a:p>
            <a:r>
              <a:t>• Present separates the facts from the decisions somebody has to make.</a:t>
            </a:r>
          </a:p>
          <a:p>
            <a:r>
              <a:t>• Verbal beat, no slide: the ledger IS reconciliation discipline. If your team already reconciles to a sub-ledger, this is that habit written down for prose.</a:t>
            </a:r>
          </a:p>
          <a:p>
            <a:r>
              <a:t>ASK: 'At which stage does a cause become safe to publish?' -&gt; expect: after evidence supports it, during Verify. [CRESCENDO L3]</a:t>
            </a:r>
          </a:p>
          <a:p>
            <a:r>
              <a:t>NEXT: "Every one of those stages starts with the same prompt - the analysis contract."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"Read this before you send it - the ranking basis and the favorability rule are what stop an argument you cannot win at four o'clock on Thursday."</a:t>
            </a:r>
          </a:p>
          <a:p>
            <a:r>
              <a:t>(5 min)</a:t>
            </a:r>
          </a:p>
          <a:p>
            <a:r>
              <a:t>TIME: 10:00-10:05 AM</a:t>
            </a:r>
          </a:p>
          <a:p>
            <a:r>
              <a:t>• Rank by absolute dollars, not percentage. Both are defensible; only one of them is stated. State it.</a:t>
            </a:r>
          </a:p>
          <a:p>
            <a:r>
              <a:t>• Favorability rule, said once and precisely: Revenue below plan is unfavorable; Claims or Operating Expense above plan is unfavorable. Without that sentence Copilot will mix the signs.</a:t>
            </a:r>
          </a:p>
          <a:p>
            <a:r>
              <a:t>• 'Do not infer causes' is doing the most work in this prompt. Delete those four words and you get a fluent, confident, unsourced story.</a:t>
            </a:r>
          </a:p>
          <a:p>
            <a:r>
              <a:t>• Prompt two demands the receipt - the exact row or formula, plus any data-quality flag that could move the answer.</a:t>
            </a:r>
          </a:p>
          <a:p>
            <a:r>
              <a:t>• This is the prompt you save. It is keep number one, and we will come back to it at the end.</a:t>
            </a:r>
          </a:p>
          <a:p>
            <a:r>
              <a:t>ASK: 'What ambiguity did the favorability rule just remove?' -&gt; expect: it stops revenue and expense signs being mixed, and stops ranking on a different materiality basis. [CRESCENDO L3]</a:t>
            </a:r>
          </a:p>
          <a:p>
            <a:r>
              <a:t>NEXT: "Watch me run the whole loop with it."</a:t>
            </a:r>
          </a:p>
          <a:p>
            <a:r>
              <a:t>TRANSFER: ASK: 'What would change if revenue, rather than claims or expense, were above plan?' -&gt; expect: the favorability rule changes; the contract must name the business convention before ranking.</a:t>
            </a:r>
          </a:p>
          <a:p>
            <a:endParaRPr/>
          </a:p>
          <a:p>
            <a:r>
              <a:t>PROMPTS ON THIS SLIDE:</a:t>
            </a:r>
          </a:p>
          <a:p>
            <a:endParaRPr/>
          </a:p>
          <a:p>
            <a:r>
              <a:t>Using PerformanceData, rank the five largest unfavorable variances by absolute dollars. Revenue below plan and Claims or Expense above plan are unfavorable. Show amount, percentage, month, and category. Do not infer causes.</a:t>
            </a:r>
          </a:p>
          <a:p>
            <a:endParaRPr/>
          </a:p>
          <a:p>
            <a:r>
              <a:t>For each finding, cite the exact row or formula and flag any data-quality issue that could change the result.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"For the next forty-five minutes I drive and you watch - one claim, all the way from a raw workbook row to a sentence a finance director can sign."</a:t>
            </a:r>
          </a:p>
          <a:p>
            <a:r>
              <a:t>(1 min)</a:t>
            </a:r>
          </a:p>
          <a:p>
            <a:r>
              <a:t>TIME: 10:05-10:06 AM</a:t>
            </a:r>
          </a:p>
          <a:p>
            <a:r>
              <a:t>• Tell them explicitly: hands off keyboards, eyes up. They get the keys back at 10:55.</a:t>
            </a:r>
          </a:p>
          <a:p>
            <a:r>
              <a:t>• CREATE produces ranked candidates. REFINE makes them readable. VERIFY changes their status. PRESENT ships them.</a:t>
            </a:r>
          </a:p>
          <a:p>
            <a:r>
              <a:t>ASK: 'What should CREATE never do?' -&gt; expect: manufacture a cause from the variance table. [CRESCENDO L3]</a:t>
            </a:r>
          </a:p>
          <a:p>
            <a:r>
              <a:t>NEXT: "First, the source model - because the workbook is built to make this checkable."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"This workbook deliberately keeps the calculated performance in one place and the explanations somewhere else entirely - that separation is the teaching."</a:t>
            </a:r>
          </a:p>
          <a:p>
            <a:r>
              <a:t>(2 min)</a:t>
            </a:r>
          </a:p>
          <a:p>
            <a:r>
              <a:t>TIME: 10:06-10:08 AM</a:t>
            </a:r>
          </a:p>
          <a:p>
            <a:r>
              <a:t>• PerformanceData carries Plan, Actual, the Variance formula, an owner, and neutral data-quality flags. Nothing in it explains anything.</a:t>
            </a:r>
          </a:p>
          <a:p>
            <a:r>
              <a:t>• MonthlyContext calculates loss ratio from the same source rows - same numbers, different lens.</a:t>
            </a:r>
          </a:p>
          <a:p>
            <a:r>
              <a:t>• Causes live only in Northstar_Monthly_Review_Notes.docx, and that file stays shut until the ranking is frozen.</a:t>
            </a:r>
          </a:p>
          <a:p>
            <a:r>
              <a:t>• Point at the flags: 'Supporting claim-detail schedule not included' on the claims rows, 'Final allocation review pending' on March and June Operating Expense. Those flags become ledger rows later.</a:t>
            </a:r>
          </a:p>
          <a:p>
            <a:r>
              <a:t>ASK: 'Where should a proposed cause come from?' -&gt; expect: approved supporting evidence introduced after the cause-free analysis - never from the variance table alone. [CRESCENDO L3]</a:t>
            </a:r>
          </a:p>
          <a:p>
            <a:r>
              <a:t>NEXT: "Now the first analysis, cause-free."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"Watch three things and nothing else: the ranking basis, the formula, and the source row. If any one of those is missing, the narrative is decoration."</a:t>
            </a:r>
          </a:p>
          <a:p>
            <a:r>
              <a:t>(7 min)</a:t>
            </a:r>
          </a:p>
          <a:p>
            <a:r>
              <a:t>TIME: 10:08-10:15 AM</a:t>
            </a:r>
          </a:p>
          <a:p>
            <a:r>
              <a:t>SETUP: Northstar_Life_Monthly_Performance.xlsx open on PerformanceData with formulas showing calculated values, MonthlyContext available, Northstar_Monthly_Review_Notes.docx CLOSED, Calculation Options Automatic, Copilot pane open.</a:t>
            </a:r>
          </a:p>
          <a:p>
            <a:r>
              <a:t>1. Send the analysis contract:</a:t>
            </a:r>
          </a:p>
          <a:p>
            <a:r>
              <a:t>PROMPT:</a:t>
            </a:r>
          </a:p>
          <a:p>
            <a:r>
              <a:t>Using PerformanceData, rank the five largest unfavorable variances by absolute dollars. Revenue below plan and Claims or Expense above plan are unfavorable. Show amount, percentage, month, and category. Do not infer causes.</a:t>
            </a:r>
          </a:p>
          <a:p>
            <a:r>
              <a:t>2. Demand the receipts before you read a word of the output:</a:t>
            </a:r>
          </a:p>
          <a:p>
            <a:r>
              <a:t>PROMPT:</a:t>
            </a:r>
          </a:p>
          <a:p>
            <a:r>
              <a:t>For each finding, cite the exact row or formula and flag any data-quality issue that could change the result.</a:t>
            </a:r>
          </a:p>
          <a:p>
            <a:r>
              <a:t>3. Force the arithmetic into the open:</a:t>
            </a:r>
          </a:p>
          <a:p>
            <a:r>
              <a:t>PROMPT:</a:t>
            </a:r>
          </a:p>
          <a:p>
            <a:r>
              <a:t>Show the calculation for the largest variance and cite the month and category row used.</a:t>
            </a:r>
          </a:p>
          <a:p>
            <a:r>
              <a:t>4. Recalculate the top item yourself in a spare cell: 858000-790000. Say the number out loud.</a:t>
            </a:r>
          </a:p>
          <a:p>
            <a:r>
              <a:t>CALLBACK - say it while step 1 runs: point at the second sentence of that contract, the favorability clause. That is the exact sentence we promoted into a workbook rule an hour ago. In a workbook that carries the rule you can delete that sentence and the ranking still obeys it - the contract gets shorter and the convention stops being optional. Today I am leaving it in the prompt so everyone on every route sees the whole contract.</a:t>
            </a:r>
          </a:p>
          <a:p>
            <a:r>
              <a:t>WHILE COPILOT RUNS: narrate what you are about to check - ranking basis first, then the arithmetic, then the source row. Never fill the wait with small talk; fill it with the checklist.</a:t>
            </a:r>
          </a:p>
          <a:p>
            <a:r>
              <a:t>EXPECTED: the top five match Instructor/Answer_Keys/Northstar_Finance_Answers.json under the absolute-dollar rule - (1) Jun Paid Claims 68,000 / 8.6% (row 18); (2) Mar Paid Claims 62,000 / 8.3% (row 9); (3) Feb Paid Claims 55,000 / 7.5% (row 6); (4) May Paid Claims 49,000 / 6.3% (row 15); (5) Jun Premium Revenue 43,000 / 3.1% below plan (row 17). Owner on the claims rows is Claims Finance. No causes appear anywhere in the output.</a:t>
            </a:r>
          </a:p>
          <a:p>
            <a:r>
              <a:t>IF FAILS: open Instructor/Baked_Cake/F1_Create_Output.pdf, say plainly that it is a prepared output rather than a live result, and still verify the top row against the workbook on screen.</a:t>
            </a:r>
          </a:p>
          <a:p>
            <a:r>
              <a:t>DEBRIEF: ASK: 'Which control resolved the ranking-or-sign ambiguity?' -&gt; expect: the stated favorability rule plus absolute-dollar basis in the contract prompt. [CRESCENDO L3]</a:t>
            </a:r>
          </a:p>
          <a:p>
            <a:r>
              <a:t>NEXT: "We have facts. Now make them land with a finance director - without adding a single certainty."</a:t>
            </a:r>
          </a:p>
          <a:p>
            <a:r>
              <a:t>[CRESCENDO L3] Before revealing the ranking, ask each table to predict the top unfavorable item AND to say whether they are ranking by dollars or by percentage. The split in the room is the lesson.</a:t>
            </a:r>
          </a:p>
          <a:p>
            <a:endParaRPr/>
          </a:p>
          <a:p>
            <a:r>
              <a:t>PROMPTS ON THIS SLIDE:</a:t>
            </a:r>
          </a:p>
          <a:p>
            <a:endParaRPr/>
          </a:p>
          <a:p>
            <a:r>
              <a:t>Using PerformanceData, rank the five largest unfavorable variances by absolute dollars. Revenue below plan and Claims or Expense above plan are unfavorable. Show amount, percentage, month, and category. Do not infer causes.</a:t>
            </a:r>
          </a:p>
          <a:p>
            <a:endParaRPr/>
          </a:p>
          <a:p>
            <a:r>
              <a:t>For each finding, cite the exact row or formula and flag any data-quality issue that could change the result.</a:t>
            </a:r>
          </a:p>
          <a:p>
            <a:endParaRPr/>
          </a:p>
          <a:p>
            <a:r>
              <a:t>Show the calculation for the largest variance and cite the month and category row used.</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"Five moves turn a data dump into management analysis - and only one of them touches the prose."</a:t>
            </a:r>
          </a:p>
          <a:p>
            <a:r>
              <a:t>(2 min)</a:t>
            </a:r>
          </a:p>
          <a:p>
            <a:r>
              <a:t>TIME: 10:15-10:17 AM</a:t>
            </a:r>
          </a:p>
          <a:p>
            <a:r>
              <a:t>• Rank and Group are materiality work: what deserves the reader's attention at all.</a:t>
            </a:r>
          </a:p>
          <a:p>
            <a:r>
              <a:t>• Delta needs the right denominator - against plan and against prior period are different claims.</a:t>
            </a:r>
          </a:p>
          <a:p>
            <a:r>
              <a:t>• Test is where you actively hunt weak causes rather than waiting to be caught.</a:t>
            </a:r>
          </a:p>
          <a:p>
            <a:r>
              <a:t>ASK: 'What should be removed from a management brief?' -&gt; expect: low-materiality noise and unsupported explanation. [CRESCENDO L3]</a:t>
            </a:r>
          </a:p>
          <a:p>
            <a:r>
              <a:t>NEXT: "Here is the controlled refinement, in two prompts."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"Notice the order - the notes only enter after the cause-free ranking already exists and is frozen."</a:t>
            </a:r>
          </a:p>
          <a:p>
            <a:r>
              <a:t>(3 min)</a:t>
            </a:r>
          </a:p>
          <a:p>
            <a:r>
              <a:t>TIME: 10:17-10:20 AM</a:t>
            </a:r>
          </a:p>
          <a:p>
            <a:r>
              <a:t>• The three material dollar findings stay visible through the reframe. If they disappear into prose, the refine failed.</a:t>
            </a:r>
          </a:p>
          <a:p>
            <a:r>
              <a:t>• The notes change a claim's evidence status. They never manufacture certainty.</a:t>
            </a:r>
          </a:p>
          <a:p>
            <a:r>
              <a:t>• Unresolved questions and their owners survive the rewrite - that is non-negotiable.</a:t>
            </a:r>
          </a:p>
          <a:p>
            <a:r>
              <a:t>ASK: 'What would keep an explanation at Hypothesis?' -&gt; expect: the notes do not directly support that month, that category, or that causal scope. [CRESCENDO L3]</a:t>
            </a:r>
          </a:p>
          <a:p>
            <a:r>
              <a:t>NEXT: "Watch it run - and watch what stays unproven."</a:t>
            </a:r>
          </a:p>
          <a:p>
            <a:endParaRPr/>
          </a:p>
          <a:p>
            <a:r>
              <a:t>PROMPTS ON THIS SLIDE:</a:t>
            </a:r>
          </a:p>
          <a:p>
            <a:endParaRPr/>
          </a:p>
          <a:p>
            <a:r>
              <a:t>Reframe the analysis for a finance director. Lead with the three material findings, quantify each, and separate supported explanations from hypotheses.</a:t>
            </a:r>
          </a:p>
          <a:p>
            <a:endParaRPr/>
          </a:p>
          <a:p>
            <a:r>
              <a:t>After opening the review notes, state which hypotheses the notes support, contradict, or leave unresolved. Do not upgrade a hypothesis to fact without direct evidence.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"I am going to open the review notes now - and I want you watching how much less they prove than they appear to."</a:t>
            </a:r>
          </a:p>
          <a:p>
            <a:r>
              <a:t>(5 min)</a:t>
            </a:r>
          </a:p>
          <a:p>
            <a:r>
              <a:t>TIME: 10:20-10:25 AM</a:t>
            </a:r>
          </a:p>
          <a:p>
            <a:r>
              <a:t>SETUP: continue from the CREATE output. Freeze it - copy it somewhere - then open Northstar_Monthly_Review_Notes.docx only after the cause-free result is on screen.</a:t>
            </a:r>
          </a:p>
          <a:p>
            <a:r>
              <a:t>1. Reframe for the reader:</a:t>
            </a:r>
          </a:p>
          <a:p>
            <a:r>
              <a:t>PROMPT:</a:t>
            </a:r>
          </a:p>
          <a:p>
            <a:r>
              <a:t>Reframe the analysis for a finance director. Lead with the three material findings, quantify each, and separate supported explanations from hypotheses.</a:t>
            </a:r>
          </a:p>
          <a:p>
            <a:r>
              <a:t>2. Introduce the approved notes and force scoping:</a:t>
            </a:r>
          </a:p>
          <a:p>
            <a:r>
              <a:t>PROMPT:</a:t>
            </a:r>
          </a:p>
          <a:p>
            <a:r>
              <a:t>After opening the review notes, state which hypotheses the notes support, contradict, or leave unresolved. Do not upgrade a hypothesis to fact without direct evidence.</a:t>
            </a:r>
          </a:p>
          <a:p>
            <a:r>
              <a:t>3. Read each proposed explanation aloud against the exact note that supports it. Say the scope word every time: 'for March'.</a:t>
            </a:r>
          </a:p>
          <a:p>
            <a:r>
              <a:t>EXPECTED: arithmetic findings stay separate from explanations. The two large-loss events in the notes are Supported for MARCH ONLY - they do not license a persistent claims trend, and they say nothing about June. The June technology cost allocation is unresolved, so any Op-Ex explanation for June is Blocked. The June Paid Claims driver stays genuinely open.</a:t>
            </a:r>
          </a:p>
          <a:p>
            <a:r>
              <a:t>IF FAILS: open Instructor/Baked_Cake/F2_Refine_Output.pdf and disclose that it is the prepared output.</a:t>
            </a:r>
          </a:p>
          <a:p>
            <a:r>
              <a:t>DEBRIEF: ASK: 'Which word or scope would have overstated the evidence?' -&gt; expect: dropping 'for March', or turning two events into a trend. [CRESCENDO L3]</a:t>
            </a:r>
          </a:p>
          <a:p>
            <a:r>
              <a:t>NEXT: "Plausible is not proven. Time to make each claim earn a status."</a:t>
            </a:r>
          </a:p>
          <a:p>
            <a:r>
              <a:t>TRANSFER: what changes in a different scenario? The materiality basis and the approved context change; the requirement to separate arithmetic from explanation does not.</a:t>
            </a:r>
          </a:p>
          <a:p>
            <a:endParaRPr/>
          </a:p>
          <a:p>
            <a:r>
              <a:t>PROMPTS ON THIS SLIDE:</a:t>
            </a:r>
          </a:p>
          <a:p>
            <a:endParaRPr/>
          </a:p>
          <a:p>
            <a:r>
              <a:t>Reframe the analysis for a finance director. Lead with the three material findings, quantify each, and separate supported explanations from hypotheses.</a:t>
            </a:r>
          </a:p>
          <a:p>
            <a:endParaRPr/>
          </a:p>
          <a:p>
            <a:r>
              <a:t>After opening the review notes, state which hypotheses the notes support, contradict, or leave unresolved. Do not upgrade a hypothesis to fact without direct evidence.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"No material sentence enters the brief until its source, its check, its status and its owner are all visible."</a:t>
            </a:r>
          </a:p>
          <a:p>
            <a:r>
              <a:t>(1 min)</a:t>
            </a:r>
          </a:p>
          <a:p>
            <a:r>
              <a:t>TIME: 10:25-10:26 AM</a:t>
            </a:r>
          </a:p>
          <a:p>
            <a:r>
              <a:t>• Recalculate the number. Separate arithmetic from explanation. Blocked is a legitimate, useful output.</a:t>
            </a:r>
          </a:p>
          <a:p>
            <a:r>
              <a:t>• This module also carries Present - the brief is drafted from the ledger, not from memory.</a:t>
            </a:r>
          </a:p>
          <a:p>
            <a:r>
              <a:t>ASK: 'Which claim in front of us carries the most consequence?' -&gt; expect: the largest unfavorable dollar variance and any proposed explanation for it. [CRESCENDO L3]</a:t>
            </a:r>
          </a:p>
          <a:p>
            <a:r>
              <a:t>NEXT: "Here is the chain every claim walks."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"A claim earns release status only when all four of these are explicit - and the fourth one is the one Northstar keeps forgetting."</a:t>
            </a:r>
          </a:p>
          <a:p>
            <a:r>
              <a:t>(2 min)</a:t>
            </a:r>
          </a:p>
          <a:p>
            <a:r>
              <a:t>TIME: 10:26-10:28 AM</a:t>
            </a:r>
          </a:p>
          <a:p>
            <a:r>
              <a:t>• The claim is the exact proposed sentence, not a topic label. 'June claims' is not a claim.</a:t>
            </a:r>
          </a:p>
          <a:p>
            <a:r>
              <a:t>• The source points at a row, a formula, or an approved note - and the note's scope travels with it.</a:t>
            </a:r>
          </a:p>
          <a:p>
            <a:r>
              <a:t>• Thread three of TRUE NORTH lives here: Northstar's monthly review has no named owner for the verification step, and a polished-but-wrong pre-read reached leadership last quarter. The Owner column is how that stops.</a:t>
            </a:r>
          </a:p>
          <a:p>
            <a:r>
              <a:t>ASK: 'Which link is easiest to drop under deadline pressure?' -&gt; expect: the independent check, or the owner of what is still unresolved. [CRESCENDO L3]</a:t>
            </a:r>
          </a:p>
          <a:p>
            <a:r>
              <a:t>NEXT: "Four statuses, and no wriggle room between them."</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"Every material claim gets exactly one of these four - and two of them are things people are afraid to write down."</a:t>
            </a:r>
          </a:p>
          <a:p>
            <a:r>
              <a:t>(2 min)</a:t>
            </a:r>
          </a:p>
          <a:p>
            <a:r>
              <a:t>TIME: 10:28-10:30 AM</a:t>
            </a:r>
          </a:p>
          <a:p>
            <a:r>
              <a:t>• Verified is a high bar: you recalculated it yourself.</a:t>
            </a:r>
          </a:p>
          <a:p>
            <a:r>
              <a:t>• Supported is not proven - it carries its limits with it, like 'for March only'.</a:t>
            </a:r>
          </a:p>
          <a:p>
            <a:r>
              <a:t>• Blocked is an honest deliverable. The June allocation is Blocked, and saying so is more useful than guessing.</a:t>
            </a:r>
          </a:p>
          <a:p>
            <a:r>
              <a:t>ASK: 'What status does an inferred cause with no source get?' -&gt; expect: Hypothesis. [CRESCENDO L3]</a:t>
            </a:r>
          </a:p>
          <a:p>
            <a:r>
              <a:t>NEXT: "Now we make Copilot help us interrogate Copilot."</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"Ask for claims you can check - not a second layer of untraceable prose on top of the first one."</a:t>
            </a:r>
          </a:p>
          <a:p>
            <a:r>
              <a:t>(3 min)</a:t>
            </a:r>
          </a:p>
          <a:p>
            <a:r>
              <a:t>TIME: 10:30-10:33 AM</a:t>
            </a:r>
          </a:p>
          <a:p>
            <a:r>
              <a:t>• Claims must be complete proposed sentences. A ledger of topic labels checks nothing.</a:t>
            </a:r>
          </a:p>
          <a:p>
            <a:r>
              <a:t>• The six columns are the contract: claim, source, calculation/check, status, uncertainty, owner.</a:t>
            </a:r>
          </a:p>
          <a:p>
            <a:r>
              <a:t>• The second prompt is the underrated one - what evidence would contradict this? It is the cheapest falsification test in the building.</a:t>
            </a:r>
          </a:p>
          <a:p>
            <a:r>
              <a:t>ASK: 'Which ledger field stops a plausible explanation from silently becoming a fact?' -&gt; expect: status and uncertainty, backed by source and check. [CRESCENDO L3]</a:t>
            </a:r>
          </a:p>
          <a:p>
            <a:r>
              <a:t>NEXT: "Three rows, live, and at least one of them is not going to resolve."</a:t>
            </a:r>
          </a:p>
          <a:p>
            <a:r>
              <a:t>[CRESCENDO L3] Read one sample explanation aloud and make the room status it before you reveal the answer.</a:t>
            </a:r>
          </a:p>
          <a:p>
            <a:endParaRPr/>
          </a:p>
          <a:p>
            <a:r>
              <a:t>PROMPTS ON THIS SLIDE:</a:t>
            </a:r>
          </a:p>
          <a:p>
            <a:endParaRPr/>
          </a:p>
          <a:p>
            <a:r>
              <a:t>Create a claim-verification ledger with columns: claim, source, calculation/check, status, uncertainty, owner. Include only material findings.</a:t>
            </a:r>
          </a:p>
          <a:p>
            <a:endParaRPr/>
          </a:p>
          <a:p>
            <a:r>
              <a:t>For each claim, explain what evidence would contradict it or lower confidence.</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"Three rows in front of you, and I am going to make sure at least one of them refuses to resolve - because that is the honest answer."</a:t>
            </a:r>
          </a:p>
          <a:p>
            <a:r>
              <a:t>(5 min)</a:t>
            </a:r>
          </a:p>
          <a:p>
            <a:r>
              <a:t>TIME: 10:33-10:38 AM</a:t>
            </a:r>
          </a:p>
          <a:p>
            <a:r>
              <a:t>SETUP: refined analysis on screen, Northstar_Life_Monthly_Performance.xlsx and Northstar_Monthly_Review_Notes.docx available, Finance_Claim_Ledger.xlsx open.</a:t>
            </a:r>
          </a:p>
          <a:p>
            <a:r>
              <a:t>1. Build the ledger:</a:t>
            </a:r>
          </a:p>
          <a:p>
            <a:r>
              <a:t>PROMPT:</a:t>
            </a:r>
          </a:p>
          <a:p>
            <a:r>
              <a:t>Create a claim-verification ledger with columns: claim, source, calculation/check, status, uncertainty, owner. Include only material findings.</a:t>
            </a:r>
          </a:p>
          <a:p>
            <a:r>
              <a:t>2. Stress-test every row:</a:t>
            </a:r>
          </a:p>
          <a:p>
            <a:r>
              <a:t>PROMPT:</a:t>
            </a:r>
          </a:p>
          <a:p>
            <a:r>
              <a:t>For each claim, explain what evidence would contradict it or lower confidence.</a:t>
            </a:r>
          </a:p>
          <a:p>
            <a:r>
              <a:t>3. Recalculate the anchor in front of the room: 858,000 minus 790,000 equals 68,000. Type it, do not assert it.</a:t>
            </a:r>
          </a:p>
          <a:p>
            <a:r>
              <a:t>EXPECTED: three material rows, each with source, calculation/check, status, uncertainty and owner. Row 1 - 'June Paid Claims were 68,000 (8.6%) unfavorable to plan' - is VERIFIED against row 18, owner Claims Finance. Row 2 - the March large-loss event explanation - is SUPPORTED for March only, never extended to June. Row 3 - the June Operating Expense driver - is BLOCKED because the technology cost allocation is still pending. The uncertainty column carries the workbook's own flag: supporting claim-detail schedule not included.</a:t>
            </a:r>
          </a:p>
          <a:p>
            <a:r>
              <a:t>IF FAILS: open Instructor/Baked_Cake/F3_Claim_Ledger.xlsx and narrate why each row carries a different status.</a:t>
            </a:r>
          </a:p>
          <a:p>
            <a:r>
              <a:t>WHILE COPILOT RUNS: read the four statuses out loud and ask the room to decide, in advance, which status the June cause will land on. Committing before the answer arrives is the habit.</a:t>
            </a:r>
          </a:p>
          <a:p>
            <a:r>
              <a:t>DEBRIEF: ASK: 'Which check changed the narrative, rather than just confirming a number?' -&gt; expect: scoping the March events to March, which killed the persistent-trend sentence. [CRESCENDO L3]</a:t>
            </a:r>
          </a:p>
          <a:p>
            <a:r>
              <a:t>NEXT: "The ledger is done, so the brief is now almost mechanical."</a:t>
            </a:r>
          </a:p>
          <a:p>
            <a:endParaRPr/>
          </a:p>
          <a:p>
            <a:r>
              <a:t>PROMPTS ON THIS SLIDE:</a:t>
            </a:r>
          </a:p>
          <a:p>
            <a:endParaRPr/>
          </a:p>
          <a:p>
            <a:r>
              <a:t>Create a claim-verification ledger with columns: claim, source, calculation/check, status, uncertainty, owner. Include only material findings.</a:t>
            </a:r>
          </a:p>
          <a:p>
            <a:endParaRPr/>
          </a:p>
          <a:p>
            <a:r>
              <a:t>For each claim, explain what evidence would contradict it or lower confidence.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"This page is short because every sentence in it has already survived the ledger."</a:t>
            </a:r>
          </a:p>
          <a:p>
            <a:r>
              <a:t>(2 min)</a:t>
            </a:r>
          </a:p>
          <a:p>
            <a:r>
              <a:t>TIME: 10:38-10:40 AM</a:t>
            </a:r>
          </a:p>
          <a:p>
            <a:r>
              <a:t>• The headline states the material pattern. It never smuggles in a cause.</a:t>
            </a:r>
          </a:p>
          <a:p>
            <a:r>
              <a:t>• Three facts, quantified and traceable - Verified or Supported rows only.</a:t>
            </a:r>
          </a:p>
          <a:p>
            <a:r>
              <a:t>• Open questions make the uncertainty actionable instead of invisible; the decision names who moves next.</a:t>
            </a:r>
          </a:p>
          <a:p>
            <a:r>
              <a:t>ASK: 'What must never appear in the headline?' -&gt; expect: an unsupported cause, or certainty the ledger does not carry. [CRESCENDO L3]</a:t>
            </a:r>
          </a:p>
          <a:p>
            <a:r>
              <a:t>NEXT: "Draft it from the ledger, then audit it against the ledger."</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"Last move of the demonstration - we generate the brief from the ledger, and then we turn the ledger back on the brief."</a:t>
            </a:r>
          </a:p>
          <a:p>
            <a:r>
              <a:t>(5 min)</a:t>
            </a:r>
          </a:p>
          <a:p>
            <a:r>
              <a:t>TIME: 10:40-10:45 AM</a:t>
            </a:r>
          </a:p>
          <a:p>
            <a:r>
              <a:t>SETUP: attach or open the completed Finance_Claim_Ledger.xlsx from the previous demo; the brief is drafted from the ledger, never from memory.</a:t>
            </a:r>
          </a:p>
          <a:p>
            <a:r>
              <a:t>1. Draft:</a:t>
            </a:r>
          </a:p>
          <a:p>
            <a:r>
              <a:t>PROMPT:</a:t>
            </a:r>
          </a:p>
          <a:p>
            <a:r>
              <a:t>Using only claims marked Verified or Supported in the attached ledger, draft a one-page finance director brief: headline, three material findings, risks, open questions, and decisions needed.</a:t>
            </a:r>
          </a:p>
          <a:p>
            <a:r>
              <a:t>2. Audit what you just drafted:</a:t>
            </a:r>
          </a:p>
          <a:p>
            <a:r>
              <a:t>PROMPT:</a:t>
            </a:r>
          </a:p>
          <a:p>
            <a:r>
              <a:t>Audit the draft against the ledger. Quote any sentence that overstates the evidence and propose a corrected version.</a:t>
            </a:r>
          </a:p>
          <a:p>
            <a:r>
              <a:t>3. Read four things aloud: the headline, one quantified finding, one open question, one decision.</a:t>
            </a:r>
          </a:p>
          <a:p>
            <a:r>
              <a:t>EXPECTED: a one-page brief that leads with June Paid Claims 68,000 (8.6%) unfavorable, preserves the March-only scope on the supported event explanation, leaves the June driver open, and lists the pending technology cost allocation as Blocked with a named owner.</a:t>
            </a:r>
          </a:p>
          <a:p>
            <a:r>
              <a:t>IF FAILS: open Instructor/Baked_Cake/F4_Management_Brief.pdf and disclose the prepared output.</a:t>
            </a:r>
          </a:p>
          <a:p>
            <a:r>
              <a:t>DEBRIEF: ASK: 'Which ledger status most changed the final wording?' -&gt; expect: Supported - because it forced the scope qualifier into the sentence. [CRESCENDO L3]</a:t>
            </a:r>
          </a:p>
          <a:p>
            <a:r>
              <a:t>NEXT: "Ten-minute break. When you come back, it is your workbook and your pack."</a:t>
            </a:r>
          </a:p>
          <a:p>
            <a:r>
              <a:t>[CRESCENDO L3] Show one overconfident sentence first and make the room name the status that forces the correction, before you reveal the audited version.</a:t>
            </a:r>
          </a:p>
          <a:p>
            <a:endParaRPr/>
          </a:p>
          <a:p>
            <a:r>
              <a:t>PROMPTS ON THIS SLIDE:</a:t>
            </a:r>
          </a:p>
          <a:p>
            <a:endParaRPr/>
          </a:p>
          <a:p>
            <a:r>
              <a:t>Using only claims marked Verified or Supported in the attached ledger, draft a one-page finance director brief: headline, three material findings, risks, open questions, and decisions needed.</a:t>
            </a:r>
          </a:p>
          <a:p>
            <a:endParaRPr/>
          </a:p>
          <a:p>
            <a:r>
              <a:t>Audit the draft against the ledger. Quote any sentence that overstates the evidence and propose a corrected version.</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"Ten minutes - we restart at ten fifty-five sharp, and the first thing you touch is your own workbook."</a:t>
            </a:r>
          </a:p>
          <a:p>
            <a:r>
              <a:t>(10 min)</a:t>
            </a:r>
          </a:p>
          <a:p>
            <a:r>
              <a:t>TIME: 10:45-10:55 AM</a:t>
            </a:r>
          </a:p>
          <a:p>
            <a:r>
              <a:t>• Protected break - it does not flex, even if the demo ran long.</a:t>
            </a:r>
          </a:p>
          <a:p>
            <a:r>
              <a:t>• While they are out: confirm every learner has Northstar_Life_Monthly_Performance.xlsx, Northstar_Monthly_Review_Notes.docx and Finance_Claim_Ledger.xlsx; stage the fallback packet for paired and observe routes.</a:t>
            </a:r>
          </a:p>
          <a:p>
            <a:r>
              <a:t>• Keep the answer key open on the instructor device only. Never on the projector.</a:t>
            </a:r>
          </a:p>
          <a:p>
            <a:r>
              <a:t>• Restate the handout short link and QR verbally as they leave the room.</a:t>
            </a:r>
          </a:p>
          <a:p>
            <a:r>
              <a:t>ASK: 'What time are we back?' -&gt; expect: they say the exact time back to you. [CRESCENDO L1]</a:t>
            </a:r>
          </a:p>
          <a:p>
            <a:r>
              <a:t>NEXT: "Your turn - forty minutes to build the pack."</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"Forty minutes, four steps, one pack - and I am walking the room the whole time, so wave me over early rather than late."</a:t>
            </a:r>
          </a:p>
          <a:p>
            <a:r>
              <a:t>(40 min)</a:t>
            </a:r>
          </a:p>
          <a:p>
            <a:r>
              <a:t>TIME: 10:55-11:35 AM</a:t>
            </a:r>
          </a:p>
          <a:p>
            <a:r>
              <a:t>• Do not start until every learner has Northstar_Life_Monthly_Performance.xlsx, Northstar_Monthly_Review_Notes.docx, Finance_Claim_Ledger.xlsx and, if they are on a fallback route, the packet.</a:t>
            </a:r>
          </a:p>
          <a:p>
            <a:r>
              <a:t>• First ten minutes: circulate for ranking-basis errors. That is where the whole lab goes wrong.</a:t>
            </a:r>
          </a:p>
          <a:p>
            <a:r>
              <a:t>• At the halfway mark call it out loud - every learner must have one independently recalculated claim by 11:15.</a:t>
            </a:r>
          </a:p>
          <a:p>
            <a:r>
              <a:t>• Reserve the last five minutes for the audit prompt. A pack that has not been audited is not finished.</a:t>
            </a:r>
          </a:p>
          <a:p>
            <a:r>
              <a:t>ASK: 'What will prove your pack is ready for peer review?' -&gt; expect: three ranked findings, three ledger rows, one independent check, explicit uncertainty, and a concise brief. [CRESCENDO L3]</a:t>
            </a:r>
          </a:p>
          <a:p>
            <a:r>
              <a:t>NEXT: "Swap packs. Ten minutes on the rubric."</a:t>
            </a:r>
          </a:p>
          <a:p>
            <a:r>
              <a:t>DELIVERABLE: Verified Finance Review Pack</a:t>
            </a:r>
          </a:p>
          <a:p>
            <a:r>
              <a:t>TIMEBOX: 40 minutes</a:t>
            </a:r>
          </a:p>
          <a:p>
            <a:r>
              <a:t>SUCCESS CHECKLIST: Three dollar-ranked findings; source and check; status; uncertainty; owner; concise brief</a:t>
            </a:r>
          </a:p>
          <a:p>
            <a:r>
              <a:t>IF BEHIND: complete CREATE, verify June Paid Claims as 858,000 minus 790,000 = 68,000, fill ONE ledger row, and draft a two-sentence headline plus one open question. That is a passing pack.</a:t>
            </a:r>
          </a:p>
          <a:p>
            <a:r>
              <a:t>STRETCH: rebuild the ranking by percentage instead of absolute dollars and explain why the management priority could legitimately differ.</a:t>
            </a:r>
          </a:p>
          <a:p>
            <a:r>
              <a:t>DEBRIEF: ASK: 'What did you have to stop and check by hand?' -&gt; expect: the ranking basis, or a number that read well and did not reconcile.</a:t>
            </a:r>
          </a:p>
          <a:p>
            <a:r>
              <a:t>PACING CHECK: at 11:15 and again at 11:30, stop the room for a 15-20 second thumbs-up gate on where they are.</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"Swap packs with the person next to you - this is a timed review against five criteria, not a chat about how it reads."</a:t>
            </a:r>
          </a:p>
          <a:p>
            <a:r>
              <a:t>(10 min)</a:t>
            </a:r>
          </a:p>
          <a:p>
            <a:r>
              <a:t>TIME: 11:35-11:45 AM</a:t>
            </a:r>
          </a:p>
          <a:p>
            <a:r>
              <a:t>• Reviewer job one: pick one number and check it against the workbook. Not all of them - one.</a:t>
            </a:r>
          </a:p>
          <a:p>
            <a:r>
              <a:t>• Reviewer job two: challenge one explanation against Northstar_Monthly_Review_Notes.docx and ask what scope it actually supports.</a:t>
            </a:r>
          </a:p>
          <a:p>
            <a:r>
              <a:t>• Author job: correct exactly one sentence and name the owner for whatever is still open.</a:t>
            </a:r>
          </a:p>
          <a:p>
            <a:r>
              <a:t>• Five minutes each way. Call the swap loudly.</a:t>
            </a:r>
          </a:p>
          <a:p>
            <a:r>
              <a:t>ASK: 'What failed first - material, traceable, honest, or actionable?' -&gt; expect: named criterion plus the correction they made. [CRESCENDO L3]</a:t>
            </a:r>
          </a:p>
          <a:p>
            <a:r>
              <a:t>NEXT: "Three things you are taking home."</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"Three keeps - and two of them are on this slide, so screenshot it before I move on."</a:t>
            </a:r>
          </a:p>
          <a:p>
            <a:r>
              <a:t>(5 min)</a:t>
            </a:r>
          </a:p>
          <a:p>
            <a:r>
              <a:t>TIME: 11:45-11:50 AM</a:t>
            </a:r>
          </a:p>
          <a:p>
            <a:r>
              <a:t>• Keep one: save the analysis-contract prompt to Prompt Lab now, while it is on screen. Swap Northstar for your real table - the structure is the point, not the fiction. If your build shows Prompt Gallery rather than Prompt Lab, it is the same shelf under a different sign.</a:t>
            </a:r>
          </a:p>
          <a:p>
            <a:r>
              <a:t>• Keep two: Finance_Claim_Ledger.xlsx is a template, not a class exercise. Six columns, four statuses. It is in the handout repo and it works on any review you run next month.</a:t>
            </a:r>
          </a:p>
          <a:p>
            <a:r>
              <a:t>• Keep three, the FLEX prompt: forecast commentary. Notice what it forbids - only the trend visible in PerformanceData, and every assumption labelled. Run it on your own numbers, not today's.</a:t>
            </a:r>
          </a:p>
          <a:p>
            <a:r>
              <a:t>• Keep four, verbal: the workbook rule. The favorability sentence you promoted at 9:45 is sitting in the .Rules sheet of the file you take home - copy that sheet into next month's workbook and the convention arrives with it, no setup for whoever opens it next.</a:t>
            </a:r>
          </a:p>
          <a:p>
            <a:r>
              <a:t>• Verbal beat, no slide: reconciliation. The ledger already IS reconciliation discipline - source, check, status. You are not learning a new habit, you are writing down one you already have.</a:t>
            </a:r>
          </a:p>
          <a:p>
            <a:r>
              <a:t>ASK: 'Which keep lands on your desk first?' -&gt; expect: the ledger template or the contract prompt - either is right, make them say when. [CRESCENDO L3]</a:t>
            </a:r>
          </a:p>
          <a:p>
            <a:r>
              <a:t>NEXT: "One line to carry out of the room."</a:t>
            </a:r>
          </a:p>
          <a:p>
            <a:endParaRPr/>
          </a:p>
          <a:p>
            <a:r>
              <a:t>PROMPTS ON THIS SLIDE:</a:t>
            </a:r>
          </a:p>
          <a:p>
            <a:endParaRPr/>
          </a:p>
          <a:p>
            <a:r>
              <a:t>Using PerformanceData, rank the five largest unfavorable variances by absolute dollars. Revenue below plan and Claims or Expense above plan are unfavorable. Show amount, percentage, month, and category. Do not infer causes.</a:t>
            </a:r>
          </a:p>
          <a:p>
            <a:endParaRPr/>
          </a:p>
          <a:p>
            <a:r>
              <a:t>Draft a forecast commentary for Q3 Paid Claims using only the trend visible in PerformanceData; label every assumption.</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"Create faster, verify before trust - that is the whole morning in five words, and it is the sentence I want you repeating to the colleague who did not come."</a:t>
            </a:r>
          </a:p>
          <a:p>
            <a:r>
              <a:t>(4 min)</a:t>
            </a:r>
          </a:p>
          <a:p>
            <a:r>
              <a:t>TIME: 11:50-11:54 AM</a:t>
            </a:r>
          </a:p>
          <a:p>
            <a:r>
              <a:t>• Tie it to what they just built: the Excel block made them faster, the ledger made the judgment visible, and a named human still signed the brief.</a:t>
            </a:r>
          </a:p>
          <a:p>
            <a:r>
              <a:t>• Callback to the hinge at 9:41 - Copilot did arithmetic and description safely; the ledger is what let it get anywhere near a cause.</a:t>
            </a:r>
          </a:p>
          <a:p>
            <a:r>
              <a:t>• Callback to TRUE NORTH: the pre-read is due Friday, and the honest answer on June is still 'we do not know yet, and here is who is finding out.' Blocked is a deliverable.</a:t>
            </a:r>
          </a:p>
          <a:p>
            <a:r>
              <a:t>ASK: 'Which control will you add first?' -&gt; expect: an explicit ranking basis, an independent calculation, a claim status, or a named owner. [CRESCENDO L3]</a:t>
            </a:r>
          </a:p>
          <a:p>
            <a:r>
              <a:t>NEXT: "Take it back to a real review."</a:t>
            </a:r>
          </a:p>
          <a:p>
            <a:r>
              <a:t>TRANSFER: what changes in a different scenario? The source, the threshold and the approval owner change; the evidence discipline does not.</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"Before logistics - two of you are going to defend one verified claim and one uncertainty out loud, because that is the skill, not the slides."</a:t>
            </a:r>
          </a:p>
          <a:p>
            <a:r>
              <a:t>(6 min)</a:t>
            </a:r>
          </a:p>
          <a:p>
            <a:r>
              <a:t>TIME: 11:54 AM-12:00 PM</a:t>
            </a:r>
          </a:p>
          <a:p>
            <a:r>
              <a:t>• Take two volunteers. One verified claim, one thing they could not resolve. Do not rescue them - let the uncertainty stand.</a:t>
            </a:r>
          </a:p>
          <a:p>
            <a:r>
              <a:t>• Office hours run 1:00 to 3:00 with a bounded intake board: one workflow per person, approved and non-confidential examples only.</a:t>
            </a:r>
          </a:p>
          <a:p>
            <a:r>
              <a:t>• Restate the handout short link and QR one last time - deck PDF, labs, prompt packet, ledger template, demo files.</a:t>
            </a:r>
          </a:p>
          <a:p>
            <a:r>
              <a:t>• Hard stop at 12:00. Do not run into their lunch.</a:t>
            </a:r>
          </a:p>
          <a:p>
            <a:r>
              <a:t>ASK: 'What are you adding to your next finance review?' -&gt; expect: a stated ranking basis, a claim ledger, an evidence status, an independent check, or a decision owner. [CRESCENDO L4]</a:t>
            </a:r>
          </a:p>
          <a:p>
            <a:r>
              <a:t>NEXT: "Break for lunch. Office hours start at one o'clock."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9.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8.png"/><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8.png"/><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8282B"/>
        </a:solidFill>
        <a:effectLst/>
      </p:bgPr>
    </p:bg>
    <p:spTree>
      <p:nvGrpSpPr>
        <p:cNvPr id="1" name=""/>
        <p:cNvGrpSpPr/>
        <p:nvPr/>
      </p:nvGrpSpPr>
      <p:grpSpPr>
        <a:xfrm>
          <a:off x="0" y="0"/>
          <a:ext cx="0" cy="0"/>
          <a:chOff x="0" y="0"/>
          <a:chExt cx="0" cy="0"/>
        </a:xfrm>
      </p:grpSpPr>
      <p:pic>
        <p:nvPicPr>
          <p:cNvPr id="2" name="Picture 1" descr="bg_1.png"/>
          <p:cNvPicPr>
            <a:picLocks noChangeAspect="1"/>
          </p:cNvPicPr>
          <p:nvPr/>
        </p:nvPicPr>
        <p:blipFill>
          <a:blip r:embed="rId3"/>
          <a:stretch>
            <a:fillRect/>
          </a:stretch>
        </p:blipFill>
        <p:spPr>
          <a:xfrm>
            <a:off x="6263640" y="0"/>
            <a:ext cx="5925312" cy="6858000"/>
          </a:xfrm>
          <a:prstGeom prst="rect">
            <a:avLst/>
          </a:prstGeom>
        </p:spPr>
      </p:pic>
      <p:sp>
        <p:nvSpPr>
          <p:cNvPr id="3" name="Rectangle 2"/>
          <p:cNvSpPr/>
          <p:nvPr/>
        </p:nvSpPr>
        <p:spPr>
          <a:xfrm>
            <a:off x="626364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0" y="2286000"/>
            <a:ext cx="502920" cy="45720"/>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2432304"/>
            <a:ext cx="5486400" cy="274320"/>
          </a:xfrm>
          <a:prstGeom prst="rect">
            <a:avLst/>
          </a:prstGeom>
          <a:noFill/>
        </p:spPr>
        <p:txBody>
          <a:bodyPr wrap="square" anchor="t">
            <a:spAutoFit/>
          </a:bodyPr>
          <a:lstStyle/>
          <a:p>
            <a:pPr algn="l">
              <a:lnSpc>
                <a:spcPct val="100000"/>
              </a:lnSpc>
              <a:spcBef>
                <a:spcPts val="0"/>
              </a:spcBef>
              <a:spcAft>
                <a:spcPts val="200"/>
              </a:spcAft>
            </a:pPr>
            <a:r>
              <a:rPr sz="1200" b="1" spc="180">
                <a:solidFill>
                  <a:srgbClr val="8B8B93"/>
                </a:solidFill>
                <a:latin typeface="Instrument Sans"/>
              </a:rPr>
              <a:t>MASSMUTUAL | MAX TRAINING - MS-4004 FINANCE</a:t>
            </a:r>
          </a:p>
        </p:txBody>
      </p:sp>
      <p:sp>
        <p:nvSpPr>
          <p:cNvPr id="6" name="TextBox 5"/>
          <p:cNvSpPr txBox="1"/>
          <p:nvPr/>
        </p:nvSpPr>
        <p:spPr>
          <a:xfrm>
            <a:off x="621792" y="2761488"/>
            <a:ext cx="5669280" cy="1371600"/>
          </a:xfrm>
          <a:prstGeom prst="rect">
            <a:avLst/>
          </a:prstGeom>
          <a:noFill/>
        </p:spPr>
        <p:txBody>
          <a:bodyPr wrap="square" anchor="t">
            <a:spAutoFit/>
          </a:bodyPr>
          <a:lstStyle/>
          <a:p>
            <a:pPr algn="l">
              <a:lnSpc>
                <a:spcPct val="100000"/>
              </a:lnSpc>
              <a:spcBef>
                <a:spcPts val="0"/>
              </a:spcBef>
              <a:spcAft>
                <a:spcPts val="200"/>
              </a:spcAft>
            </a:pPr>
            <a:r>
              <a:rPr sz="4600" b="1" dirty="0">
                <a:solidFill>
                  <a:srgbClr val="F5F5F6"/>
                </a:solidFill>
                <a:latin typeface="Instrument Sans"/>
              </a:rPr>
              <a:t>Finance Work That Survives Review</a:t>
            </a:r>
          </a:p>
        </p:txBody>
      </p:sp>
      <p:sp>
        <p:nvSpPr>
          <p:cNvPr id="7" name="TextBox 6"/>
          <p:cNvSpPr txBox="1"/>
          <p:nvPr/>
        </p:nvSpPr>
        <p:spPr>
          <a:xfrm>
            <a:off x="640080" y="5074920"/>
            <a:ext cx="5486400" cy="274320"/>
          </a:xfrm>
          <a:prstGeom prst="rect">
            <a:avLst/>
          </a:prstGeom>
          <a:noFill/>
        </p:spPr>
        <p:txBody>
          <a:bodyPr wrap="square" anchor="t">
            <a:spAutoFit/>
          </a:bodyPr>
          <a:lstStyle/>
          <a:p>
            <a:pPr algn="l">
              <a:lnSpc>
                <a:spcPct val="100000"/>
              </a:lnSpc>
              <a:spcBef>
                <a:spcPts val="0"/>
              </a:spcBef>
              <a:spcAft>
                <a:spcPts val="200"/>
              </a:spcAft>
            </a:pPr>
            <a:r>
              <a:rPr sz="1500" b="0">
                <a:solidFill>
                  <a:srgbClr val="7E7E86"/>
                </a:solidFill>
                <a:latin typeface="Instrument Sans"/>
              </a:rPr>
              <a:t>Scott Hay - Delivered with MAX Training</a:t>
            </a:r>
          </a:p>
        </p:txBody>
      </p:sp>
      <p:sp>
        <p:nvSpPr>
          <p:cNvPr id="8" name="TextBox 7"/>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8282B"/>
        </a:solidFill>
        <a:effectLst/>
      </p:bgPr>
    </p:bg>
    <p:spTree>
      <p:nvGrpSpPr>
        <p:cNvPr id="1" name=""/>
        <p:cNvGrpSpPr/>
        <p:nvPr/>
      </p:nvGrpSpPr>
      <p:grpSpPr>
        <a:xfrm>
          <a:off x="0" y="0"/>
          <a:ext cx="0" cy="0"/>
          <a:chOff x="0" y="0"/>
          <a:chExt cx="0" cy="0"/>
        </a:xfrm>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THREE-HOUR LAB</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One review pack, four stages</a:t>
            </a:r>
          </a:p>
        </p:txBody>
      </p:sp>
      <p:sp>
        <p:nvSpPr>
          <p:cNvPr id="4" name="TextBox 3"/>
          <p:cNvSpPr txBox="1"/>
          <p:nvPr/>
        </p:nvSpPr>
        <p:spPr>
          <a:xfrm>
            <a:off x="640080" y="1965960"/>
            <a:ext cx="731520" cy="457200"/>
          </a:xfrm>
          <a:prstGeom prst="rect">
            <a:avLst/>
          </a:prstGeom>
          <a:noFill/>
        </p:spPr>
        <p:txBody>
          <a:bodyPr wrap="square" anchor="t">
            <a:spAutoFit/>
          </a:bodyPr>
          <a:lstStyle/>
          <a:p>
            <a:pPr algn="l">
              <a:lnSpc>
                <a:spcPct val="100000"/>
              </a:lnSpc>
              <a:spcBef>
                <a:spcPts val="0"/>
              </a:spcBef>
              <a:spcAft>
                <a:spcPts val="200"/>
              </a:spcAft>
            </a:pPr>
            <a:r>
              <a:rPr sz="2700" b="1">
                <a:solidFill>
                  <a:srgbClr val="4C8DF0"/>
                </a:solidFill>
                <a:latin typeface="Instrument Sans"/>
              </a:rPr>
              <a:t>01</a:t>
            </a:r>
          </a:p>
        </p:txBody>
      </p:sp>
      <p:sp>
        <p:nvSpPr>
          <p:cNvPr id="5" name="TextBox 4"/>
          <p:cNvSpPr txBox="1"/>
          <p:nvPr/>
        </p:nvSpPr>
        <p:spPr>
          <a:xfrm>
            <a:off x="1463040" y="1984248"/>
            <a:ext cx="4480560" cy="1219200"/>
          </a:xfrm>
          <a:prstGeom prst="rect">
            <a:avLst/>
          </a:prstGeom>
          <a:noFill/>
        </p:spPr>
        <p:txBody>
          <a:bodyPr wrap="square" anchor="t">
            <a:spAutoFit/>
          </a:bodyPr>
          <a:lstStyle/>
          <a:p>
            <a:pPr algn="l">
              <a:lnSpc>
                <a:spcPct val="105000"/>
              </a:lnSpc>
              <a:spcBef>
                <a:spcPts val="0"/>
              </a:spcBef>
              <a:spcAft>
                <a:spcPts val="300"/>
              </a:spcAft>
            </a:pPr>
            <a:r>
              <a:rPr sz="2100" b="1">
                <a:solidFill>
                  <a:srgbClr val="F5F5F6"/>
                </a:solidFill>
                <a:latin typeface="Instrument Sans"/>
              </a:rPr>
              <a:t>Excel fundamentals</a:t>
            </a:r>
          </a:p>
          <a:p>
            <a:pPr algn="l">
              <a:lnSpc>
                <a:spcPct val="105000"/>
              </a:lnSpc>
              <a:spcBef>
                <a:spcPts val="0"/>
              </a:spcBef>
              <a:spcAft>
                <a:spcPts val="300"/>
              </a:spcAft>
            </a:pPr>
            <a:r>
              <a:rPr sz="1550" b="0">
                <a:solidFill>
                  <a:srgbClr val="ACACB4"/>
                </a:solidFill>
                <a:latin typeface="Instrument Sans"/>
              </a:rPr>
              <a:t>Ask, calculate, chart, explain - then make Excel yours</a:t>
            </a:r>
          </a:p>
        </p:txBody>
      </p:sp>
      <p:sp>
        <p:nvSpPr>
          <p:cNvPr id="6" name="Rectangle 5"/>
          <p:cNvSpPr/>
          <p:nvPr/>
        </p:nvSpPr>
        <p:spPr>
          <a:xfrm>
            <a:off x="640080" y="3304032"/>
            <a:ext cx="5394960"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81344" y="1965960"/>
            <a:ext cx="731520" cy="457200"/>
          </a:xfrm>
          <a:prstGeom prst="rect">
            <a:avLst/>
          </a:prstGeom>
          <a:noFill/>
        </p:spPr>
        <p:txBody>
          <a:bodyPr wrap="square" anchor="t">
            <a:spAutoFit/>
          </a:bodyPr>
          <a:lstStyle/>
          <a:p>
            <a:pPr algn="l">
              <a:lnSpc>
                <a:spcPct val="100000"/>
              </a:lnSpc>
              <a:spcBef>
                <a:spcPts val="0"/>
              </a:spcBef>
              <a:spcAft>
                <a:spcPts val="200"/>
              </a:spcAft>
            </a:pPr>
            <a:r>
              <a:rPr sz="2700" b="1">
                <a:solidFill>
                  <a:srgbClr val="4C8DF0"/>
                </a:solidFill>
                <a:latin typeface="Instrument Sans"/>
              </a:rPr>
              <a:t>02</a:t>
            </a:r>
          </a:p>
        </p:txBody>
      </p:sp>
      <p:sp>
        <p:nvSpPr>
          <p:cNvPr id="8" name="TextBox 7"/>
          <p:cNvSpPr txBox="1"/>
          <p:nvPr/>
        </p:nvSpPr>
        <p:spPr>
          <a:xfrm>
            <a:off x="7004304" y="1984248"/>
            <a:ext cx="4480560" cy="1219200"/>
          </a:xfrm>
          <a:prstGeom prst="rect">
            <a:avLst/>
          </a:prstGeom>
          <a:noFill/>
        </p:spPr>
        <p:txBody>
          <a:bodyPr wrap="square" anchor="t">
            <a:spAutoFit/>
          </a:bodyPr>
          <a:lstStyle/>
          <a:p>
            <a:pPr algn="l">
              <a:lnSpc>
                <a:spcPct val="105000"/>
              </a:lnSpc>
              <a:spcBef>
                <a:spcPts val="0"/>
              </a:spcBef>
              <a:spcAft>
                <a:spcPts val="300"/>
              </a:spcAft>
            </a:pPr>
            <a:r>
              <a:rPr sz="2100" b="1">
                <a:solidFill>
                  <a:srgbClr val="F5F5F6"/>
                </a:solidFill>
                <a:latin typeface="Instrument Sans"/>
              </a:rPr>
              <a:t>Create</a:t>
            </a:r>
          </a:p>
          <a:p>
            <a:pPr algn="l">
              <a:lnSpc>
                <a:spcPct val="105000"/>
              </a:lnSpc>
              <a:spcBef>
                <a:spcPts val="0"/>
              </a:spcBef>
              <a:spcAft>
                <a:spcPts val="300"/>
              </a:spcAft>
            </a:pPr>
            <a:r>
              <a:rPr sz="1550" b="0">
                <a:solidFill>
                  <a:srgbClr val="ACACB4"/>
                </a:solidFill>
                <a:latin typeface="Instrument Sans"/>
              </a:rPr>
              <a:t>Interrogate the workbook and identify material findings</a:t>
            </a:r>
          </a:p>
        </p:txBody>
      </p:sp>
      <p:sp>
        <p:nvSpPr>
          <p:cNvPr id="9" name="Rectangle 8"/>
          <p:cNvSpPr/>
          <p:nvPr/>
        </p:nvSpPr>
        <p:spPr>
          <a:xfrm>
            <a:off x="6181344" y="3304032"/>
            <a:ext cx="5394960"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3413760"/>
            <a:ext cx="731520" cy="457200"/>
          </a:xfrm>
          <a:prstGeom prst="rect">
            <a:avLst/>
          </a:prstGeom>
          <a:noFill/>
        </p:spPr>
        <p:txBody>
          <a:bodyPr wrap="square" anchor="t">
            <a:spAutoFit/>
          </a:bodyPr>
          <a:lstStyle/>
          <a:p>
            <a:pPr algn="l">
              <a:lnSpc>
                <a:spcPct val="100000"/>
              </a:lnSpc>
              <a:spcBef>
                <a:spcPts val="0"/>
              </a:spcBef>
              <a:spcAft>
                <a:spcPts val="200"/>
              </a:spcAft>
            </a:pPr>
            <a:r>
              <a:rPr sz="2700" b="1">
                <a:solidFill>
                  <a:srgbClr val="4C8DF0"/>
                </a:solidFill>
                <a:latin typeface="Instrument Sans"/>
              </a:rPr>
              <a:t>03</a:t>
            </a:r>
          </a:p>
        </p:txBody>
      </p:sp>
      <p:sp>
        <p:nvSpPr>
          <p:cNvPr id="11" name="TextBox 10"/>
          <p:cNvSpPr txBox="1"/>
          <p:nvPr/>
        </p:nvSpPr>
        <p:spPr>
          <a:xfrm>
            <a:off x="1463040" y="3432048"/>
            <a:ext cx="4480560" cy="1219200"/>
          </a:xfrm>
          <a:prstGeom prst="rect">
            <a:avLst/>
          </a:prstGeom>
          <a:noFill/>
        </p:spPr>
        <p:txBody>
          <a:bodyPr wrap="square" anchor="t">
            <a:spAutoFit/>
          </a:bodyPr>
          <a:lstStyle/>
          <a:p>
            <a:pPr algn="l">
              <a:lnSpc>
                <a:spcPct val="105000"/>
              </a:lnSpc>
              <a:spcBef>
                <a:spcPts val="0"/>
              </a:spcBef>
              <a:spcAft>
                <a:spcPts val="300"/>
              </a:spcAft>
            </a:pPr>
            <a:r>
              <a:rPr sz="2100" b="1">
                <a:solidFill>
                  <a:srgbClr val="F5F5F6"/>
                </a:solidFill>
                <a:latin typeface="Instrument Sans"/>
              </a:rPr>
              <a:t>Refine</a:t>
            </a:r>
          </a:p>
          <a:p>
            <a:pPr algn="l">
              <a:lnSpc>
                <a:spcPct val="105000"/>
              </a:lnSpc>
              <a:spcBef>
                <a:spcPts val="0"/>
              </a:spcBef>
              <a:spcAft>
                <a:spcPts val="300"/>
              </a:spcAft>
            </a:pPr>
            <a:r>
              <a:rPr sz="1550" b="0">
                <a:solidFill>
                  <a:srgbClr val="ACACB4"/>
                </a:solidFill>
                <a:latin typeface="Instrument Sans"/>
              </a:rPr>
              <a:t>Rank, structure, and make the analysis management-relevant</a:t>
            </a:r>
          </a:p>
        </p:txBody>
      </p:sp>
      <p:sp>
        <p:nvSpPr>
          <p:cNvPr id="12" name="Rectangle 11"/>
          <p:cNvSpPr/>
          <p:nvPr/>
        </p:nvSpPr>
        <p:spPr>
          <a:xfrm>
            <a:off x="640080" y="4751832"/>
            <a:ext cx="5394960"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181344" y="3413760"/>
            <a:ext cx="731520" cy="457200"/>
          </a:xfrm>
          <a:prstGeom prst="rect">
            <a:avLst/>
          </a:prstGeom>
          <a:noFill/>
        </p:spPr>
        <p:txBody>
          <a:bodyPr wrap="square" anchor="t">
            <a:spAutoFit/>
          </a:bodyPr>
          <a:lstStyle/>
          <a:p>
            <a:pPr algn="l">
              <a:lnSpc>
                <a:spcPct val="100000"/>
              </a:lnSpc>
              <a:spcBef>
                <a:spcPts val="0"/>
              </a:spcBef>
              <a:spcAft>
                <a:spcPts val="200"/>
              </a:spcAft>
            </a:pPr>
            <a:r>
              <a:rPr sz="2700" b="1">
                <a:solidFill>
                  <a:srgbClr val="4C8DF0"/>
                </a:solidFill>
                <a:latin typeface="Instrument Sans"/>
              </a:rPr>
              <a:t>04</a:t>
            </a:r>
          </a:p>
        </p:txBody>
      </p:sp>
      <p:sp>
        <p:nvSpPr>
          <p:cNvPr id="14" name="TextBox 13"/>
          <p:cNvSpPr txBox="1"/>
          <p:nvPr/>
        </p:nvSpPr>
        <p:spPr>
          <a:xfrm>
            <a:off x="7004304" y="3432048"/>
            <a:ext cx="4480560" cy="1219200"/>
          </a:xfrm>
          <a:prstGeom prst="rect">
            <a:avLst/>
          </a:prstGeom>
          <a:noFill/>
        </p:spPr>
        <p:txBody>
          <a:bodyPr wrap="square" anchor="t">
            <a:spAutoFit/>
          </a:bodyPr>
          <a:lstStyle/>
          <a:p>
            <a:pPr algn="l">
              <a:lnSpc>
                <a:spcPct val="105000"/>
              </a:lnSpc>
              <a:spcBef>
                <a:spcPts val="0"/>
              </a:spcBef>
              <a:spcAft>
                <a:spcPts val="300"/>
              </a:spcAft>
            </a:pPr>
            <a:r>
              <a:rPr sz="2100" b="1">
                <a:solidFill>
                  <a:srgbClr val="F5F5F6"/>
                </a:solidFill>
                <a:latin typeface="Instrument Sans"/>
              </a:rPr>
              <a:t>Verify claims</a:t>
            </a:r>
          </a:p>
          <a:p>
            <a:pPr algn="l">
              <a:lnSpc>
                <a:spcPct val="105000"/>
              </a:lnSpc>
              <a:spcBef>
                <a:spcPts val="0"/>
              </a:spcBef>
              <a:spcAft>
                <a:spcPts val="300"/>
              </a:spcAft>
            </a:pPr>
            <a:r>
              <a:rPr sz="1550" b="0">
                <a:solidFill>
                  <a:srgbClr val="ACACB4"/>
                </a:solidFill>
                <a:latin typeface="Instrument Sans"/>
              </a:rPr>
              <a:t>Reconcile every material statement to source data</a:t>
            </a:r>
          </a:p>
        </p:txBody>
      </p:sp>
      <p:sp>
        <p:nvSpPr>
          <p:cNvPr id="15" name="Rectangle 14"/>
          <p:cNvSpPr/>
          <p:nvPr/>
        </p:nvSpPr>
        <p:spPr>
          <a:xfrm>
            <a:off x="6181344" y="4751832"/>
            <a:ext cx="5394960"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4861560"/>
            <a:ext cx="731520" cy="457200"/>
          </a:xfrm>
          <a:prstGeom prst="rect">
            <a:avLst/>
          </a:prstGeom>
          <a:noFill/>
        </p:spPr>
        <p:txBody>
          <a:bodyPr wrap="square" anchor="t">
            <a:spAutoFit/>
          </a:bodyPr>
          <a:lstStyle/>
          <a:p>
            <a:pPr algn="l">
              <a:lnSpc>
                <a:spcPct val="100000"/>
              </a:lnSpc>
              <a:spcBef>
                <a:spcPts val="0"/>
              </a:spcBef>
              <a:spcAft>
                <a:spcPts val="200"/>
              </a:spcAft>
            </a:pPr>
            <a:r>
              <a:rPr sz="2700" b="1">
                <a:solidFill>
                  <a:srgbClr val="4C8DF0"/>
                </a:solidFill>
                <a:latin typeface="Instrument Sans"/>
              </a:rPr>
              <a:t>05</a:t>
            </a:r>
          </a:p>
        </p:txBody>
      </p:sp>
      <p:sp>
        <p:nvSpPr>
          <p:cNvPr id="17" name="TextBox 16"/>
          <p:cNvSpPr txBox="1"/>
          <p:nvPr/>
        </p:nvSpPr>
        <p:spPr>
          <a:xfrm>
            <a:off x="1463040" y="4879847"/>
            <a:ext cx="4480560" cy="1219200"/>
          </a:xfrm>
          <a:prstGeom prst="rect">
            <a:avLst/>
          </a:prstGeom>
          <a:noFill/>
        </p:spPr>
        <p:txBody>
          <a:bodyPr wrap="square" anchor="t">
            <a:spAutoFit/>
          </a:bodyPr>
          <a:lstStyle/>
          <a:p>
            <a:pPr algn="l">
              <a:lnSpc>
                <a:spcPct val="105000"/>
              </a:lnSpc>
              <a:spcBef>
                <a:spcPts val="0"/>
              </a:spcBef>
              <a:spcAft>
                <a:spcPts val="300"/>
              </a:spcAft>
            </a:pPr>
            <a:r>
              <a:rPr sz="2100" b="1">
                <a:solidFill>
                  <a:srgbClr val="F5F5F6"/>
                </a:solidFill>
                <a:latin typeface="Instrument Sans"/>
              </a:rPr>
              <a:t>Prepare to present</a:t>
            </a:r>
          </a:p>
          <a:p>
            <a:pPr algn="l">
              <a:lnSpc>
                <a:spcPct val="105000"/>
              </a:lnSpc>
              <a:spcBef>
                <a:spcPts val="0"/>
              </a:spcBef>
              <a:spcAft>
                <a:spcPts val="300"/>
              </a:spcAft>
            </a:pPr>
            <a:r>
              <a:rPr sz="1550" b="0">
                <a:solidFill>
                  <a:srgbClr val="ACACB4"/>
                </a:solidFill>
                <a:latin typeface="Instrument Sans"/>
              </a:rPr>
              <a:t>Build a concise management narrative and question list</a:t>
            </a:r>
          </a:p>
        </p:txBody>
      </p:sp>
      <p:sp>
        <p:nvSpPr>
          <p:cNvPr id="18" name="Rectangle 17"/>
          <p:cNvSpPr/>
          <p:nvPr/>
        </p:nvSpPr>
        <p:spPr>
          <a:xfrm>
            <a:off x="640080" y="6199631"/>
            <a:ext cx="5394960"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1" name="TextBox 2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8282B"/>
        </a:solidFill>
        <a:effectLst/>
      </p:bgPr>
    </p:bg>
    <p:spTree>
      <p:nvGrpSpPr>
        <p:cNvPr id="1" name=""/>
        <p:cNvGrpSpPr/>
        <p:nvPr/>
      </p:nvGrpSpPr>
      <p:grpSpPr>
        <a:xfrm>
          <a:off x="0" y="0"/>
          <a:ext cx="0" cy="0"/>
          <a:chOff x="0" y="0"/>
          <a:chExt cx="0" cy="0"/>
        </a:xfrm>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OPERATING RULES</a:t>
            </a:r>
          </a:p>
        </p:txBody>
      </p:sp>
      <p:sp>
        <p:nvSpPr>
          <p:cNvPr id="3" name="TextBox 2"/>
          <p:cNvSpPr txBox="1"/>
          <p:nvPr/>
        </p:nvSpPr>
        <p:spPr>
          <a:xfrm>
            <a:off x="621792" y="896112"/>
            <a:ext cx="10927080" cy="646331"/>
          </a:xfrm>
          <a:prstGeom prst="rect">
            <a:avLst/>
          </a:prstGeom>
          <a:noFill/>
        </p:spPr>
        <p:txBody>
          <a:bodyPr wrap="square" anchor="t">
            <a:spAutoFit/>
          </a:bodyPr>
          <a:lstStyle/>
          <a:p>
            <a:pPr algn="l">
              <a:lnSpc>
                <a:spcPct val="100000"/>
              </a:lnSpc>
              <a:spcBef>
                <a:spcPts val="0"/>
              </a:spcBef>
              <a:spcAft>
                <a:spcPts val="200"/>
              </a:spcAft>
            </a:pPr>
            <a:r>
              <a:rPr lang="en-US" sz="3600" b="1" dirty="0">
                <a:solidFill>
                  <a:srgbClr val="F5F5F6"/>
                </a:solidFill>
                <a:latin typeface="Instrument Sans"/>
              </a:rPr>
              <a:t>Quality Inputs + Vetted Outputs</a:t>
            </a:r>
            <a:endParaRPr sz="3600" b="1" dirty="0">
              <a:solidFill>
                <a:srgbClr val="F5F5F6"/>
              </a:solidFill>
              <a:latin typeface="Instrument Sans"/>
            </a:endParaRPr>
          </a:p>
        </p:txBody>
      </p:sp>
      <p:sp>
        <p:nvSpPr>
          <p:cNvPr id="4" name="TextBox 3"/>
          <p:cNvSpPr txBox="1"/>
          <p:nvPr/>
        </p:nvSpPr>
        <p:spPr>
          <a:xfrm>
            <a:off x="640080" y="1572768"/>
            <a:ext cx="10424160" cy="402546"/>
          </a:xfrm>
          <a:prstGeom prst="rect">
            <a:avLst/>
          </a:prstGeom>
          <a:noFill/>
        </p:spPr>
        <p:txBody>
          <a:bodyPr wrap="square" anchor="t">
            <a:spAutoFit/>
          </a:bodyPr>
          <a:lstStyle/>
          <a:p>
            <a:pPr algn="l">
              <a:lnSpc>
                <a:spcPct val="120000"/>
              </a:lnSpc>
              <a:spcBef>
                <a:spcPts val="0"/>
              </a:spcBef>
              <a:spcAft>
                <a:spcPts val="200"/>
              </a:spcAft>
            </a:pPr>
            <a:r>
              <a:rPr lang="en-US" sz="1800" b="0" dirty="0">
                <a:solidFill>
                  <a:srgbClr val="ACACB4"/>
                </a:solidFill>
                <a:latin typeface="Instrument Sans"/>
              </a:rPr>
              <a:t>Copilot requires quality inputs and vetted outputs</a:t>
            </a:r>
            <a:endParaRPr sz="1800" b="0" dirty="0">
              <a:solidFill>
                <a:srgbClr val="ACACB4"/>
              </a:solidFill>
              <a:latin typeface="Instrument Sans"/>
            </a:endParaRP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pen_2A2A30.png"/>
          <p:cNvPicPr>
            <a:picLocks noChangeAspect="1"/>
          </p:cNvPicPr>
          <p:nvPr/>
        </p:nvPicPr>
        <p:blipFill>
          <a:blip r:embed="rId3"/>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Quality in</a:t>
            </a:r>
          </a:p>
        </p:txBody>
      </p:sp>
      <p:sp>
        <p:nvSpPr>
          <p:cNvPr id="9" name="TextBox 8"/>
          <p:cNvSpPr txBox="1"/>
          <p:nvPr/>
        </p:nvSpPr>
        <p:spPr>
          <a:xfrm>
            <a:off x="877824" y="3890772"/>
            <a:ext cx="2977896" cy="1472184"/>
          </a:xfrm>
          <a:prstGeom prst="rect">
            <a:avLst/>
          </a:prstGeom>
          <a:noFill/>
        </p:spPr>
        <p:txBody>
          <a:bodyPr wrap="square" anchor="t">
            <a:spAutoFit/>
          </a:bodyPr>
          <a:lstStyle/>
          <a:p>
            <a:pPr algn="l">
              <a:lnSpc>
                <a:spcPct val="114000"/>
              </a:lnSpc>
              <a:spcBef>
                <a:spcPts val="0"/>
              </a:spcBef>
              <a:spcAft>
                <a:spcPts val="200"/>
              </a:spcAft>
            </a:pPr>
            <a:r>
              <a:rPr sz="1550" b="0">
                <a:solidFill>
                  <a:srgbClr val="ACACB4"/>
                </a:solidFill>
                <a:latin typeface="Instrument Sans"/>
              </a:rPr>
              <a:t>Goal, Context, Source, Expectations. Name all four and the answer changes.</a:t>
            </a:r>
          </a:p>
        </p:txBody>
      </p:sp>
      <p:sp>
        <p:nvSpPr>
          <p:cNvPr id="10" name="Rounded Rectangle 9"/>
          <p:cNvSpPr/>
          <p:nvPr/>
        </p:nvSpPr>
        <p:spPr>
          <a:xfrm>
            <a:off x="4367784" y="2446020"/>
            <a:ext cx="3453384" cy="3063240"/>
          </a:xfrm>
          <a:prstGeom prst="roundRect">
            <a:avLst>
              <a:gd name="adj" fmla="val 6000"/>
            </a:avLst>
          </a:prstGeom>
          <a:solidFill>
            <a:srgbClr val="34343A"/>
          </a:solidFill>
          <a:ln w="19050">
            <a:solidFill>
              <a:srgbClr val="2E6E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eye_46B17A.png"/>
          <p:cNvPicPr>
            <a:picLocks noChangeAspect="1"/>
          </p:cNvPicPr>
          <p:nvPr/>
        </p:nvPicPr>
        <p:blipFill>
          <a:blip r:embed="rId4"/>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Vetted out</a:t>
            </a:r>
          </a:p>
        </p:txBody>
      </p:sp>
      <p:sp>
        <p:nvSpPr>
          <p:cNvPr id="14" name="TextBox 13"/>
          <p:cNvSpPr txBox="1"/>
          <p:nvPr/>
        </p:nvSpPr>
        <p:spPr>
          <a:xfrm>
            <a:off x="4605528" y="3890772"/>
            <a:ext cx="2977896" cy="1472184"/>
          </a:xfrm>
          <a:prstGeom prst="rect">
            <a:avLst/>
          </a:prstGeom>
          <a:noFill/>
        </p:spPr>
        <p:txBody>
          <a:bodyPr wrap="square" anchor="t">
            <a:spAutoFit/>
          </a:bodyPr>
          <a:lstStyle/>
          <a:p>
            <a:pPr algn="l">
              <a:lnSpc>
                <a:spcPct val="114000"/>
              </a:lnSpc>
              <a:spcBef>
                <a:spcPts val="0"/>
              </a:spcBef>
              <a:spcAft>
                <a:spcPts val="200"/>
              </a:spcAft>
            </a:pPr>
            <a:r>
              <a:rPr sz="1550" b="0">
                <a:solidFill>
                  <a:srgbClr val="ACACB4"/>
                </a:solidFill>
                <a:latin typeface="Instrument Sans"/>
              </a:rPr>
              <a:t>Green ship it, yellow fix it, red start over. You make that call, not Copilot.</a:t>
            </a:r>
          </a:p>
        </p:txBody>
      </p:sp>
      <p:sp>
        <p:nvSpPr>
          <p:cNvPr id="20" name="Rounded Rectangle 19"/>
          <p:cNvSpPr/>
          <p:nvPr/>
        </p:nvSpPr>
        <p:spPr>
          <a:xfrm>
            <a:off x="640080" y="5760720"/>
            <a:ext cx="10908792" cy="658368"/>
          </a:xfrm>
          <a:prstGeom prst="roundRect">
            <a:avLst>
              <a:gd name="adj" fmla="val 16000"/>
            </a:avLst>
          </a:prstGeom>
          <a:solidFill>
            <a:srgbClr val="16324F"/>
          </a:solidFill>
          <a:ln w="952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info_4C8DF0.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CAD8F2"/>
                </a:solidFill>
                <a:latin typeface="Instrument Sans"/>
              </a:rPr>
              <a:t>No prior session required - every rule this room needs today is on this slide.</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8282B"/>
        </a:solidFill>
        <a:effectLst/>
      </p:bgPr>
    </p:bg>
    <p:spTree>
      <p:nvGrpSpPr>
        <p:cNvPr id="1" name=""/>
        <p:cNvGrpSpPr/>
        <p:nvPr/>
      </p:nvGrpSpPr>
      <p:grpSpPr>
        <a:xfrm>
          <a:off x="0" y="0"/>
          <a:ext cx="0" cy="0"/>
          <a:chOff x="0" y="0"/>
          <a:chExt cx="0" cy="0"/>
        </a:xfrm>
      </p:grpSpPr>
      <p:pic>
        <p:nvPicPr>
          <p:cNvPr id="2" name="Picture 1" descr="bg_2.png"/>
          <p:cNvPicPr>
            <a:picLocks noChangeAspect="1"/>
          </p:cNvPicPr>
          <p:nvPr/>
        </p:nvPicPr>
        <p:blipFill>
          <a:blip r:embed="rId3"/>
          <a:stretch>
            <a:fillRect/>
          </a:stretch>
        </p:blipFill>
        <p:spPr>
          <a:xfrm>
            <a:off x="6355080" y="0"/>
            <a:ext cx="5833872" cy="6858000"/>
          </a:xfrm>
          <a:prstGeom prst="rect">
            <a:avLst/>
          </a:prstGeom>
        </p:spPr>
      </p:pic>
      <p:sp>
        <p:nvSpPr>
          <p:cNvPr id="3" name="Rectangle 2"/>
          <p:cNvSpPr/>
          <p:nvPr/>
        </p:nvSpPr>
        <p:spPr>
          <a:xfrm>
            <a:off x="635508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85800" y="2542032"/>
            <a:ext cx="548640" cy="54864"/>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2706624"/>
            <a:ext cx="54864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MODULE 1 - EXCEL FUNDAMENTALS</a:t>
            </a:r>
          </a:p>
        </p:txBody>
      </p:sp>
      <p:sp>
        <p:nvSpPr>
          <p:cNvPr id="6" name="TextBox 5"/>
          <p:cNvSpPr txBox="1"/>
          <p:nvPr/>
        </p:nvSpPr>
        <p:spPr>
          <a:xfrm>
            <a:off x="658368" y="3054096"/>
            <a:ext cx="5532120" cy="1783080"/>
          </a:xfrm>
          <a:prstGeom prst="rect">
            <a:avLst/>
          </a:prstGeom>
          <a:noFill/>
        </p:spPr>
        <p:txBody>
          <a:bodyPr wrap="square" anchor="t">
            <a:spAutoFit/>
          </a:bodyPr>
          <a:lstStyle/>
          <a:p>
            <a:pPr algn="l">
              <a:lnSpc>
                <a:spcPct val="102000"/>
              </a:lnSpc>
              <a:spcBef>
                <a:spcPts val="0"/>
              </a:spcBef>
              <a:spcAft>
                <a:spcPts val="200"/>
              </a:spcAft>
            </a:pPr>
            <a:r>
              <a:rPr sz="3400" b="1">
                <a:solidFill>
                  <a:srgbClr val="F5F5F6"/>
                </a:solidFill>
                <a:latin typeface="Instrument Sans"/>
              </a:rPr>
              <a:t>Put Copilot to work in Excel</a:t>
            </a:r>
          </a:p>
        </p:txBody>
      </p:sp>
      <p:sp>
        <p:nvSpPr>
          <p:cNvPr id="7" name="TextBox 6"/>
          <p:cNvSpPr txBox="1"/>
          <p:nvPr/>
        </p:nvSpPr>
        <p:spPr>
          <a:xfrm>
            <a:off x="685800" y="4864608"/>
            <a:ext cx="5440680" cy="420624"/>
          </a:xfrm>
          <a:prstGeom prst="rect">
            <a:avLst/>
          </a:prstGeom>
          <a:noFill/>
        </p:spPr>
        <p:txBody>
          <a:bodyPr wrap="square" anchor="t">
            <a:normAutofit/>
          </a:bodyPr>
          <a:lstStyle/>
          <a:p>
            <a:pPr algn="l">
              <a:lnSpc>
                <a:spcPct val="105000"/>
              </a:lnSpc>
              <a:spcBef>
                <a:spcPts val="0"/>
              </a:spcBef>
              <a:spcAft>
                <a:spcPts val="200"/>
              </a:spcAft>
            </a:pPr>
            <a:r>
              <a:rPr sz="1700" b="0">
                <a:solidFill>
                  <a:srgbClr val="ACACB4"/>
                </a:solidFill>
                <a:latin typeface="Instrument Sans"/>
              </a:rPr>
              <a:t>Ask, calculate, chart, and explain - before you ask for analysis.</a:t>
            </a:r>
          </a:p>
        </p:txBody>
      </p:sp>
      <p:sp>
        <p:nvSpPr>
          <p:cNvPr id="8" name="TextBox 7"/>
          <p:cNvSpPr txBox="1"/>
          <p:nvPr/>
        </p:nvSpPr>
        <p:spPr>
          <a:xfrm>
            <a:off x="685800" y="5513832"/>
            <a:ext cx="5440680" cy="603504"/>
          </a:xfrm>
          <a:prstGeom prst="rect">
            <a:avLst/>
          </a:prstGeom>
          <a:noFill/>
        </p:spPr>
        <p:txBody>
          <a:bodyPr wrap="square" anchor="t">
            <a:normAutofit/>
          </a:bodyPr>
          <a:lstStyle/>
          <a:p>
            <a:pPr algn="l">
              <a:lnSpc>
                <a:spcPct val="102000"/>
              </a:lnSpc>
              <a:spcBef>
                <a:spcPts val="0"/>
              </a:spcBef>
              <a:spcAft>
                <a:spcPts val="200"/>
              </a:spcAft>
            </a:pPr>
            <a:r>
              <a:rPr sz="1200" b="1" spc="120">
                <a:solidFill>
                  <a:srgbClr val="8B8B93"/>
                </a:solidFill>
                <a:latin typeface="Instrument Sans"/>
              </a:rPr>
              <a:t>OBJECTIVE · </a:t>
            </a:r>
            <a:r>
              <a:rPr sz="1250" b="0">
                <a:solidFill>
                  <a:srgbClr val="ACACB4"/>
                </a:solidFill>
                <a:latin typeface="Instrument Sans"/>
              </a:rPr>
              <a:t>MS-4004 Finance: use Microsoft 365 Copilot in Excel to interrogate, calculate, and visualize source data</a:t>
            </a:r>
          </a:p>
        </p:txBody>
      </p:sp>
      <p:sp>
        <p:nvSpPr>
          <p:cNvPr id="9" name="Rectangle 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1" name="TextBox 1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8282B"/>
        </a:solidFill>
        <a:effectLst/>
      </p:bgPr>
    </p:bg>
    <p:spTree>
      <p:nvGrpSpPr>
        <p:cNvPr id="1" name=""/>
        <p:cNvGrpSpPr/>
        <p:nvPr/>
      </p:nvGrpSpPr>
      <p:grpSpPr>
        <a:xfrm>
          <a:off x="0" y="0"/>
          <a:ext cx="0" cy="0"/>
          <a:chOff x="0" y="0"/>
          <a:chExt cx="0" cy="0"/>
        </a:xfrm>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MODULE 1 - CAPABILITY</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What Copilot in Excel can do</a:t>
            </a:r>
          </a:p>
        </p:txBody>
      </p:sp>
      <p:sp>
        <p:nvSpPr>
          <p:cNvPr id="4" name="Rounded Rectangle 3"/>
          <p:cNvSpPr/>
          <p:nvPr/>
        </p:nvSpPr>
        <p:spPr>
          <a:xfrm>
            <a:off x="640080" y="1828800"/>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41248" y="186171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chat_2A2A30.png"/>
          <p:cNvPicPr>
            <a:picLocks noChangeAspect="1"/>
          </p:cNvPicPr>
          <p:nvPr/>
        </p:nvPicPr>
        <p:blipFill>
          <a:blip r:embed="rId3"/>
          <a:stretch>
            <a:fillRect/>
          </a:stretch>
        </p:blipFill>
        <p:spPr>
          <a:xfrm>
            <a:off x="1014984" y="1998878"/>
            <a:ext cx="292608" cy="292608"/>
          </a:xfrm>
          <a:prstGeom prst="rect">
            <a:avLst/>
          </a:prstGeom>
        </p:spPr>
      </p:pic>
      <p:sp>
        <p:nvSpPr>
          <p:cNvPr id="7" name="TextBox 6"/>
          <p:cNvSpPr txBox="1"/>
          <p:nvPr/>
        </p:nvSpPr>
        <p:spPr>
          <a:xfrm>
            <a:off x="1591056" y="1828800"/>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Ask</a:t>
            </a:r>
          </a:p>
        </p:txBody>
      </p:sp>
      <p:sp>
        <p:nvSpPr>
          <p:cNvPr id="8" name="TextBox 7"/>
          <p:cNvSpPr txBox="1"/>
          <p:nvPr/>
        </p:nvSpPr>
        <p:spPr>
          <a:xfrm>
            <a:off x="4434840" y="1828800"/>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Question your table in plain language - summaries, trends, outliers.</a:t>
            </a:r>
          </a:p>
        </p:txBody>
      </p:sp>
      <p:sp>
        <p:nvSpPr>
          <p:cNvPr id="9" name="Rounded Rectangle 8"/>
          <p:cNvSpPr/>
          <p:nvPr/>
        </p:nvSpPr>
        <p:spPr>
          <a:xfrm>
            <a:off x="640080" y="2607868"/>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841248" y="2640787"/>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list_2A2A30.png"/>
          <p:cNvPicPr>
            <a:picLocks noChangeAspect="1"/>
          </p:cNvPicPr>
          <p:nvPr/>
        </p:nvPicPr>
        <p:blipFill>
          <a:blip r:embed="rId4"/>
          <a:stretch>
            <a:fillRect/>
          </a:stretch>
        </p:blipFill>
        <p:spPr>
          <a:xfrm>
            <a:off x="1014984" y="2777947"/>
            <a:ext cx="292608" cy="292608"/>
          </a:xfrm>
          <a:prstGeom prst="rect">
            <a:avLst/>
          </a:prstGeom>
        </p:spPr>
      </p:pic>
      <p:sp>
        <p:nvSpPr>
          <p:cNvPr id="12" name="TextBox 11"/>
          <p:cNvSpPr txBox="1"/>
          <p:nvPr/>
        </p:nvSpPr>
        <p:spPr>
          <a:xfrm>
            <a:off x="1591056" y="2607868"/>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Add a column</a:t>
            </a:r>
          </a:p>
        </p:txBody>
      </p:sp>
      <p:sp>
        <p:nvSpPr>
          <p:cNvPr id="13" name="TextBox 12"/>
          <p:cNvSpPr txBox="1"/>
          <p:nvPr/>
        </p:nvSpPr>
        <p:spPr>
          <a:xfrm>
            <a:off x="4434840" y="2607868"/>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Describe the calculation; Copilot writes the column and explains it.</a:t>
            </a:r>
          </a:p>
        </p:txBody>
      </p:sp>
      <p:sp>
        <p:nvSpPr>
          <p:cNvPr id="14" name="Rounded Rectangle 13"/>
          <p:cNvSpPr/>
          <p:nvPr/>
        </p:nvSpPr>
        <p:spPr>
          <a:xfrm>
            <a:off x="640080" y="3386937"/>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41248" y="3419856"/>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chart_2A2A30.png"/>
          <p:cNvPicPr>
            <a:picLocks noChangeAspect="1"/>
          </p:cNvPicPr>
          <p:nvPr/>
        </p:nvPicPr>
        <p:blipFill>
          <a:blip r:embed="rId5"/>
          <a:stretch>
            <a:fillRect/>
          </a:stretch>
        </p:blipFill>
        <p:spPr>
          <a:xfrm>
            <a:off x="1014984" y="3557015"/>
            <a:ext cx="292608" cy="292608"/>
          </a:xfrm>
          <a:prstGeom prst="rect">
            <a:avLst/>
          </a:prstGeom>
        </p:spPr>
      </p:pic>
      <p:sp>
        <p:nvSpPr>
          <p:cNvPr id="17" name="TextBox 16"/>
          <p:cNvSpPr txBox="1"/>
          <p:nvPr/>
        </p:nvSpPr>
        <p:spPr>
          <a:xfrm>
            <a:off x="1591056" y="3386937"/>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Chart it</a:t>
            </a:r>
          </a:p>
        </p:txBody>
      </p:sp>
      <p:sp>
        <p:nvSpPr>
          <p:cNvPr id="18" name="TextBox 17"/>
          <p:cNvSpPr txBox="1"/>
          <p:nvPr/>
        </p:nvSpPr>
        <p:spPr>
          <a:xfrm>
            <a:off x="4434840" y="3386937"/>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Describe the chart; Copilot builds it linked to the source data.</a:t>
            </a:r>
          </a:p>
        </p:txBody>
      </p:sp>
      <p:sp>
        <p:nvSpPr>
          <p:cNvPr id="19" name="Rounded Rectangle 18"/>
          <p:cNvSpPr/>
          <p:nvPr/>
        </p:nvSpPr>
        <p:spPr>
          <a:xfrm>
            <a:off x="640080" y="4166006"/>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41248" y="4198924"/>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eye_2A2A30.png"/>
          <p:cNvPicPr>
            <a:picLocks noChangeAspect="1"/>
          </p:cNvPicPr>
          <p:nvPr/>
        </p:nvPicPr>
        <p:blipFill>
          <a:blip r:embed="rId6"/>
          <a:stretch>
            <a:fillRect/>
          </a:stretch>
        </p:blipFill>
        <p:spPr>
          <a:xfrm>
            <a:off x="1014984" y="4336084"/>
            <a:ext cx="292608" cy="292608"/>
          </a:xfrm>
          <a:prstGeom prst="rect">
            <a:avLst/>
          </a:prstGeom>
        </p:spPr>
      </p:pic>
      <p:sp>
        <p:nvSpPr>
          <p:cNvPr id="22" name="TextBox 21"/>
          <p:cNvSpPr txBox="1"/>
          <p:nvPr/>
        </p:nvSpPr>
        <p:spPr>
          <a:xfrm>
            <a:off x="1591056" y="4166006"/>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Highlight and sort</a:t>
            </a:r>
          </a:p>
        </p:txBody>
      </p:sp>
      <p:sp>
        <p:nvSpPr>
          <p:cNvPr id="23" name="TextBox 22"/>
          <p:cNvSpPr txBox="1"/>
          <p:nvPr/>
        </p:nvSpPr>
        <p:spPr>
          <a:xfrm>
            <a:off x="4434840" y="4166006"/>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Surface top values or a filtered view - Copilot describes it, you press Apply.</a:t>
            </a:r>
          </a:p>
        </p:txBody>
      </p:sp>
      <p:sp>
        <p:nvSpPr>
          <p:cNvPr id="24" name="Rounded Rectangle 23"/>
          <p:cNvSpPr/>
          <p:nvPr/>
        </p:nvSpPr>
        <p:spPr>
          <a:xfrm>
            <a:off x="640080" y="4945075"/>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841248" y="4977993"/>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book_2A2A30.png"/>
          <p:cNvPicPr>
            <a:picLocks noChangeAspect="1"/>
          </p:cNvPicPr>
          <p:nvPr/>
        </p:nvPicPr>
        <p:blipFill>
          <a:blip r:embed="rId7"/>
          <a:stretch>
            <a:fillRect/>
          </a:stretch>
        </p:blipFill>
        <p:spPr>
          <a:xfrm>
            <a:off x="1014984" y="5115153"/>
            <a:ext cx="292608" cy="292608"/>
          </a:xfrm>
          <a:prstGeom prst="rect">
            <a:avLst/>
          </a:prstGeom>
        </p:spPr>
      </p:pic>
      <p:sp>
        <p:nvSpPr>
          <p:cNvPr id="27" name="TextBox 26"/>
          <p:cNvSpPr txBox="1"/>
          <p:nvPr/>
        </p:nvSpPr>
        <p:spPr>
          <a:xfrm>
            <a:off x="1591056" y="4945075"/>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Explain a formula</a:t>
            </a:r>
          </a:p>
        </p:txBody>
      </p:sp>
      <p:sp>
        <p:nvSpPr>
          <p:cNvPr id="28" name="TextBox 27"/>
          <p:cNvSpPr txBox="1"/>
          <p:nvPr/>
        </p:nvSpPr>
        <p:spPr>
          <a:xfrm>
            <a:off x="4434840" y="4945075"/>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Select an inherited formula and get it back in plain language.</a:t>
            </a:r>
          </a:p>
        </p:txBody>
      </p:sp>
      <p:sp>
        <p:nvSpPr>
          <p:cNvPr id="29" name="Rounded Rectangle 28"/>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warn_E0A93A.png"/>
          <p:cNvPicPr>
            <a:picLocks noChangeAspect="1"/>
          </p:cNvPicPr>
          <p:nvPr/>
        </p:nvPicPr>
        <p:blipFill>
          <a:blip r:embed="rId8"/>
          <a:stretch>
            <a:fillRect/>
          </a:stretch>
        </p:blipFill>
        <p:spPr>
          <a:xfrm>
            <a:off x="877824" y="5907024"/>
            <a:ext cx="365760" cy="365760"/>
          </a:xfrm>
          <a:prstGeom prst="rect">
            <a:avLst/>
          </a:prstGeom>
        </p:spPr>
      </p:pic>
      <p:sp>
        <p:nvSpPr>
          <p:cNvPr id="31" name="TextBox 30"/>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Copilot editing needs Calculation Options set to Automatic and a modern .xlsx file.</a:t>
            </a:r>
          </a:p>
        </p:txBody>
      </p:sp>
      <p:sp>
        <p:nvSpPr>
          <p:cNvPr id="32" name="Rectangle 3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34" name="TextBox 3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8282B"/>
        </a:solidFill>
        <a:effectLst/>
      </p:bgPr>
    </p:bg>
    <p:spTree>
      <p:nvGrpSpPr>
        <p:cNvPr id="1" name=""/>
        <p:cNvGrpSpPr/>
        <p:nvPr/>
      </p:nvGrpSpPr>
      <p:grpSpPr>
        <a:xfrm>
          <a:off x="0" y="0"/>
          <a:ext cx="0" cy="0"/>
          <a:chOff x="0" y="0"/>
          <a:chExt cx="0" cy="0"/>
        </a:xfrm>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FOLLOW ALONG - EVERYONE RUNS BOTH</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Ask the workbook what it holds</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What you are practicing</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Name the table, never 'this data'</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Description first, explanation never</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Check the new column against Variance</a:t>
            </a:r>
          </a:p>
        </p:txBody>
      </p:sp>
      <p:sp>
        <p:nvSpPr>
          <p:cNvPr id="12" name="Rectangle 11"/>
          <p:cNvSpPr/>
          <p:nvPr/>
        </p:nvSpPr>
        <p:spPr>
          <a:xfrm>
            <a:off x="914400" y="4553712"/>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07008" y="4443984"/>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File: Northstar_Life_Monthly_Performance.xlsx</a:t>
            </a:r>
          </a:p>
        </p:txBody>
      </p:sp>
      <p:sp>
        <p:nvSpPr>
          <p:cNvPr id="14" name="TextBox 13"/>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PASTE THIS</a:t>
            </a:r>
          </a:p>
        </p:txBody>
      </p:sp>
      <p:sp>
        <p:nvSpPr>
          <p:cNvPr id="15" name="Rounded Rectangle 14"/>
          <p:cNvSpPr/>
          <p:nvPr/>
        </p:nvSpPr>
        <p:spPr>
          <a:xfrm>
            <a:off x="7040880" y="2286000"/>
            <a:ext cx="4507992" cy="13030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8" name="TextBox 17"/>
          <p:cNvSpPr txBox="1"/>
          <p:nvPr/>
        </p:nvSpPr>
        <p:spPr>
          <a:xfrm>
            <a:off x="7699248" y="2670048"/>
            <a:ext cx="3593591" cy="864108"/>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What does the PerformanceData table contain? Describe the columns and the period covered.</a:t>
            </a:r>
          </a:p>
        </p:txBody>
      </p:sp>
      <p:sp>
        <p:nvSpPr>
          <p:cNvPr id="19" name="Rounded Rectangle 18"/>
          <p:cNvSpPr/>
          <p:nvPr/>
        </p:nvSpPr>
        <p:spPr>
          <a:xfrm>
            <a:off x="7040880" y="3735324"/>
            <a:ext cx="4507992" cy="1057656"/>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242048" y="3899915"/>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242048" y="3881628"/>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2" name="TextBox 21"/>
          <p:cNvSpPr txBox="1"/>
          <p:nvPr/>
        </p:nvSpPr>
        <p:spPr>
          <a:xfrm>
            <a:off x="7699248" y="4119372"/>
            <a:ext cx="3593591" cy="618744"/>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Add a column to PerformanceData showing Actual minus Plan for each row.</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8282B"/>
        </a:solidFill>
        <a:effectLst/>
      </p:bgPr>
    </p:bg>
    <p:spTree>
      <p:nvGrpSpPr>
        <p:cNvPr id="1" name=""/>
        <p:cNvGrpSpPr/>
        <p:nvPr/>
      </p:nvGrpSpPr>
      <p:grpSpPr>
        <a:xfrm>
          <a:off x="0" y="0"/>
          <a:ext cx="0" cy="0"/>
          <a:chOff x="0" y="0"/>
          <a:chExt cx="0" cy="0"/>
        </a:xfrm>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FOLLOW ALONG - EVERYONE RUNS BOTH</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See the shape before the story</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What you are practicing</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'Unusual' is a description, not a cause</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Always ask why it was flagged</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A chart is a claim you can eyeball</a:t>
            </a:r>
          </a:p>
        </p:txBody>
      </p:sp>
      <p:sp>
        <p:nvSpPr>
          <p:cNvPr id="12" name="Rectangle 11"/>
          <p:cNvSpPr/>
          <p:nvPr/>
        </p:nvSpPr>
        <p:spPr>
          <a:xfrm>
            <a:off x="914400" y="4553712"/>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07008" y="4443984"/>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File: Northstar_Life_Monthly_Performance.xlsx</a:t>
            </a:r>
          </a:p>
        </p:txBody>
      </p:sp>
      <p:sp>
        <p:nvSpPr>
          <p:cNvPr id="14" name="TextBox 13"/>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PASTE THIS</a:t>
            </a:r>
          </a:p>
        </p:txBody>
      </p:sp>
      <p:sp>
        <p:nvSpPr>
          <p:cNvPr id="15" name="Rounded Rectangle 14"/>
          <p:cNvSpPr/>
          <p:nvPr/>
        </p:nvSpPr>
        <p:spPr>
          <a:xfrm>
            <a:off x="7040880" y="2286000"/>
            <a:ext cx="4507992" cy="13030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8" name="TextBox 17"/>
          <p:cNvSpPr txBox="1"/>
          <p:nvPr/>
        </p:nvSpPr>
        <p:spPr>
          <a:xfrm>
            <a:off x="7699248" y="2670048"/>
            <a:ext cx="3593591" cy="864108"/>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Which rows in PerformanceData look unusual compared to the rest of the year? Explain why you flagged each one.</a:t>
            </a:r>
          </a:p>
        </p:txBody>
      </p:sp>
      <p:sp>
        <p:nvSpPr>
          <p:cNvPr id="19" name="Rounded Rectangle 18"/>
          <p:cNvSpPr/>
          <p:nvPr/>
        </p:nvSpPr>
        <p:spPr>
          <a:xfrm>
            <a:off x="7040880" y="3735324"/>
            <a:ext cx="4507992" cy="1057656"/>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242048" y="3899915"/>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242048" y="3881628"/>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2" name="TextBox 21"/>
          <p:cNvSpPr txBox="1"/>
          <p:nvPr/>
        </p:nvSpPr>
        <p:spPr>
          <a:xfrm>
            <a:off x="7699248" y="4119372"/>
            <a:ext cx="3593591" cy="618744"/>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Create a chart of Paid Claims by month, Actual versus Plan.</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8282B"/>
        </a:solidFill>
        <a:effectLst/>
      </p:bgPr>
    </p:bg>
    <p:spTree>
      <p:nvGrpSpPr>
        <p:cNvPr id="1" name=""/>
        <p:cNvGrpSpPr/>
        <p:nvPr/>
      </p:nvGrpSpPr>
      <p:grpSpPr>
        <a:xfrm>
          <a:off x="0" y="0"/>
          <a:ext cx="0" cy="0"/>
          <a:chOff x="0" y="0"/>
          <a:chExt cx="0" cy="0"/>
        </a:xfrm>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GUIDED DEMONSTRATION</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100" b="1">
                <a:solidFill>
                  <a:srgbClr val="F5F5F6"/>
                </a:solidFill>
                <a:latin typeface="Instrument Sans"/>
              </a:rPr>
              <a:t>Explain the formula you inherited</a:t>
            </a:r>
          </a:p>
        </p:txBody>
      </p:sp>
      <p:pic>
        <p:nvPicPr>
          <p:cNvPr id="4" name="Picture 3" descr="bg_3.png"/>
          <p:cNvPicPr>
            <a:picLocks noChangeAspect="1"/>
          </p:cNvPicPr>
          <p:nvPr/>
        </p:nvPicPr>
        <p:blipFill>
          <a:blip r:embed="rId3"/>
          <a:stretch>
            <a:fillRect/>
          </a:stretch>
        </p:blipFill>
        <p:spPr>
          <a:xfrm>
            <a:off x="640080" y="1920240"/>
            <a:ext cx="4480560" cy="4206240"/>
          </a:xfrm>
          <a:prstGeom prst="rect">
            <a:avLst/>
          </a:prstGeom>
        </p:spPr>
      </p:pic>
      <p:sp>
        <p:nvSpPr>
          <p:cNvPr id="5" name="TextBox 4"/>
          <p:cNvSpPr txBox="1"/>
          <p:nvPr/>
        </p:nvSpPr>
        <p:spPr>
          <a:xfrm>
            <a:off x="5394960" y="1828800"/>
            <a:ext cx="6126480"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GUIDED</a:t>
            </a:r>
          </a:p>
        </p:txBody>
      </p:sp>
      <p:sp>
        <p:nvSpPr>
          <p:cNvPr id="6" name="TextBox 5"/>
          <p:cNvSpPr txBox="1"/>
          <p:nvPr/>
        </p:nvSpPr>
        <p:spPr>
          <a:xfrm>
            <a:off x="5394960" y="2395728"/>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1</a:t>
            </a:r>
          </a:p>
        </p:txBody>
      </p:sp>
      <p:sp>
        <p:nvSpPr>
          <p:cNvPr id="7" name="TextBox 6"/>
          <p:cNvSpPr txBox="1"/>
          <p:nvPr/>
        </p:nvSpPr>
        <p:spPr>
          <a:xfrm>
            <a:off x="5961888" y="2395728"/>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Open Northstar_Life_Monthly_Performance.xlsx</a:t>
            </a:r>
          </a:p>
        </p:txBody>
      </p:sp>
      <p:sp>
        <p:nvSpPr>
          <p:cNvPr id="8" name="TextBox 7"/>
          <p:cNvSpPr txBox="1"/>
          <p:nvPr/>
        </p:nvSpPr>
        <p:spPr>
          <a:xfrm>
            <a:off x="5394960" y="3145536"/>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2</a:t>
            </a:r>
          </a:p>
        </p:txBody>
      </p:sp>
      <p:sp>
        <p:nvSpPr>
          <p:cNvPr id="9" name="TextBox 8"/>
          <p:cNvSpPr txBox="1"/>
          <p:nvPr/>
        </p:nvSpPr>
        <p:spPr>
          <a:xfrm>
            <a:off x="5961888" y="3145536"/>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Select a Variance cell in PerformanceData</a:t>
            </a:r>
          </a:p>
        </p:txBody>
      </p:sp>
      <p:sp>
        <p:nvSpPr>
          <p:cNvPr id="10" name="TextBox 9"/>
          <p:cNvSpPr txBox="1"/>
          <p:nvPr/>
        </p:nvSpPr>
        <p:spPr>
          <a:xfrm>
            <a:off x="5394960" y="3895344"/>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3</a:t>
            </a:r>
          </a:p>
        </p:txBody>
      </p:sp>
      <p:sp>
        <p:nvSpPr>
          <p:cNvPr id="11" name="TextBox 10"/>
          <p:cNvSpPr txBox="1"/>
          <p:nvPr/>
        </p:nvSpPr>
        <p:spPr>
          <a:xfrm>
            <a:off x="5961888" y="3895344"/>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Ask Copilot to explain the selected formula</a:t>
            </a:r>
          </a:p>
        </p:txBody>
      </p:sp>
      <p:sp>
        <p:nvSpPr>
          <p:cNvPr id="12" name="Rectangle 1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4" name="TextBox 1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8282B"/>
        </a:solidFill>
        <a:effectLst/>
      </p:bgPr>
    </p:bg>
    <p:spTree>
      <p:nvGrpSpPr>
        <p:cNvPr id="1" name=""/>
        <p:cNvGrpSpPr/>
        <p:nvPr/>
      </p:nvGrpSpPr>
      <p:grpSpPr>
        <a:xfrm>
          <a:off x="0" y="0"/>
          <a:ext cx="0" cy="0"/>
          <a:chOff x="0" y="0"/>
          <a:chExt cx="0" cy="0"/>
        </a:xfrm>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MODULE 1 - THE EDIT GATE</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Decide before Copilot writes</a:t>
            </a:r>
          </a:p>
        </p:txBody>
      </p:sp>
      <p:sp>
        <p:nvSpPr>
          <p:cNvPr id="4" name="Rounded Rectangle 3"/>
          <p:cNvSpPr/>
          <p:nvPr/>
        </p:nvSpPr>
        <p:spPr>
          <a:xfrm>
            <a:off x="640080" y="1874519"/>
            <a:ext cx="5285232"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pen_ACACB4.png"/>
          <p:cNvPicPr>
            <a:picLocks noChangeAspect="1"/>
          </p:cNvPicPr>
          <p:nvPr/>
        </p:nvPicPr>
        <p:blipFill>
          <a:blip r:embed="rId3"/>
          <a:stretch>
            <a:fillRect/>
          </a:stretch>
        </p:blipFill>
        <p:spPr>
          <a:xfrm>
            <a:off x="914400" y="2167127"/>
            <a:ext cx="384048" cy="384048"/>
          </a:xfrm>
          <a:prstGeom prst="rect">
            <a:avLst/>
          </a:prstGeom>
        </p:spPr>
      </p:pic>
      <p:sp>
        <p:nvSpPr>
          <p:cNvPr id="6" name="TextBox 5"/>
          <p:cNvSpPr txBox="1"/>
          <p:nvPr/>
        </p:nvSpPr>
        <p:spPr>
          <a:xfrm>
            <a:off x="1417319"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Allow editing</a:t>
            </a:r>
          </a:p>
        </p:txBody>
      </p:sp>
      <p:sp>
        <p:nvSpPr>
          <p:cNvPr id="7" name="Rectangle 6"/>
          <p:cNvSpPr/>
          <p:nvPr/>
        </p:nvSpPr>
        <p:spPr>
          <a:xfrm>
            <a:off x="932688" y="3291839"/>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43584"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Copilot writes into the sheet</a:t>
            </a:r>
          </a:p>
        </p:txBody>
      </p:sp>
      <p:sp>
        <p:nvSpPr>
          <p:cNvPr id="9" name="Rectangle 8"/>
          <p:cNvSpPr/>
          <p:nvPr/>
        </p:nvSpPr>
        <p:spPr>
          <a:xfrm>
            <a:off x="932688" y="3858768"/>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43584"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Changes save as they happen</a:t>
            </a:r>
          </a:p>
        </p:txBody>
      </p:sp>
      <p:sp>
        <p:nvSpPr>
          <p:cNvPr id="11" name="Rectangle 10"/>
          <p:cNvSpPr/>
          <p:nvPr/>
        </p:nvSpPr>
        <p:spPr>
          <a:xfrm>
            <a:off x="932688" y="4425696"/>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43584"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Work on a copy of anything critical</a:t>
            </a:r>
          </a:p>
        </p:txBody>
      </p:sp>
      <p:sp>
        <p:nvSpPr>
          <p:cNvPr id="13" name="Rounded Rectangle 12"/>
          <p:cNvSpPr/>
          <p:nvPr/>
        </p:nvSpPr>
        <p:spPr>
          <a:xfrm>
            <a:off x="6199632" y="1874519"/>
            <a:ext cx="5285232" cy="3063240"/>
          </a:xfrm>
          <a:prstGeom prst="roundRect">
            <a:avLst>
              <a:gd name="adj" fmla="val 6000"/>
            </a:avLst>
          </a:prstGeom>
          <a:solidFill>
            <a:srgbClr val="34343A"/>
          </a:solidFill>
          <a:ln w="19050">
            <a:solidFill>
              <a:srgbClr val="2E6E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chat_46B17A.png"/>
          <p:cNvPicPr>
            <a:picLocks noChangeAspect="1"/>
          </p:cNvPicPr>
          <p:nvPr/>
        </p:nvPicPr>
        <p:blipFill>
          <a:blip r:embed="rId4"/>
          <a:stretch>
            <a:fillRect/>
          </a:stretch>
        </p:blipFill>
        <p:spPr>
          <a:xfrm>
            <a:off x="6473952" y="2167127"/>
            <a:ext cx="384048" cy="384048"/>
          </a:xfrm>
          <a:prstGeom prst="rect">
            <a:avLst/>
          </a:prstGeom>
        </p:spPr>
      </p:pic>
      <p:sp>
        <p:nvSpPr>
          <p:cNvPr id="15" name="TextBox 14"/>
          <p:cNvSpPr txBox="1"/>
          <p:nvPr/>
        </p:nvSpPr>
        <p:spPr>
          <a:xfrm>
            <a:off x="6976872"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Chat only</a:t>
            </a:r>
          </a:p>
        </p:txBody>
      </p:sp>
      <p:sp>
        <p:nvSpPr>
          <p:cNvPr id="16" name="Rectangle 15"/>
          <p:cNvSpPr/>
          <p:nvPr/>
        </p:nvSpPr>
        <p:spPr>
          <a:xfrm>
            <a:off x="6492240" y="3291839"/>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03136"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Answers stay in the pane</a:t>
            </a:r>
          </a:p>
        </p:txBody>
      </p:sp>
      <p:sp>
        <p:nvSpPr>
          <p:cNvPr id="18" name="Rectangle 17"/>
          <p:cNvSpPr/>
          <p:nvPr/>
        </p:nvSpPr>
        <p:spPr>
          <a:xfrm>
            <a:off x="6492240" y="3858768"/>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03136"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The workbook does not move</a:t>
            </a:r>
          </a:p>
        </p:txBody>
      </p:sp>
      <p:sp>
        <p:nvSpPr>
          <p:cNvPr id="20" name="Rectangle 19"/>
          <p:cNvSpPr/>
          <p:nvPr/>
        </p:nvSpPr>
        <p:spPr>
          <a:xfrm>
            <a:off x="6492240" y="4425696"/>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03136"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Where to start on a file you do not own</a:t>
            </a:r>
          </a:p>
        </p:txBody>
      </p:sp>
      <p:sp>
        <p:nvSpPr>
          <p:cNvPr id="22" name="Rounded Rectangle 21"/>
          <p:cNvSpPr/>
          <p:nvPr/>
        </p:nvSpPr>
        <p:spPr>
          <a:xfrm>
            <a:off x="640080" y="5138928"/>
            <a:ext cx="10908792" cy="713232"/>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warn_E0A93A.png"/>
          <p:cNvPicPr>
            <a:picLocks noChangeAspect="1"/>
          </p:cNvPicPr>
          <p:nvPr/>
        </p:nvPicPr>
        <p:blipFill>
          <a:blip r:embed="rId5"/>
          <a:stretch>
            <a:fillRect/>
          </a:stretch>
        </p:blipFill>
        <p:spPr>
          <a:xfrm>
            <a:off x="877824" y="5312664"/>
            <a:ext cx="365760" cy="365760"/>
          </a:xfrm>
          <a:prstGeom prst="rect">
            <a:avLst/>
          </a:prstGeom>
        </p:spPr>
      </p:pic>
      <p:sp>
        <p:nvSpPr>
          <p:cNvPr id="24" name="TextBox 23"/>
          <p:cNvSpPr txBox="1"/>
          <p:nvPr/>
        </p:nvSpPr>
        <p:spPr>
          <a:xfrm>
            <a:off x="1371600" y="5138928"/>
            <a:ext cx="9994392" cy="713232"/>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Copilot's edits save automatically and are visible to everyone who can open the file.</a:t>
            </a:r>
          </a:p>
        </p:txBody>
      </p:sp>
      <p:sp>
        <p:nvSpPr>
          <p:cNvPr id="25" name="Rectangle 24"/>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7" name="TextBox 26"/>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8282B"/>
        </a:solidFill>
        <a:effectLst/>
      </p:bgPr>
    </p:bg>
    <p:spTree>
      <p:nvGrpSpPr>
        <p:cNvPr id="1" name=""/>
        <p:cNvGrpSpPr/>
        <p:nvPr/>
      </p:nvGrpSpPr>
      <p:grpSpPr>
        <a:xfrm>
          <a:off x="0" y="0"/>
          <a:ext cx="0" cy="0"/>
          <a:chOff x="0" y="0"/>
          <a:chExt cx="0" cy="0"/>
        </a:xfrm>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MAKE EXCEL YOURS - PASTE THIS</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Tell Excel how you work, once</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What you are practicing</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Preferences, not a prompt</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Saved to you, never to the file</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Say the convention once</a:t>
            </a:r>
          </a:p>
        </p:txBody>
      </p:sp>
      <p:sp>
        <p:nvSpPr>
          <p:cNvPr id="12" name="Rectangle 11"/>
          <p:cNvSpPr/>
          <p:nvPr/>
        </p:nvSpPr>
        <p:spPr>
          <a:xfrm>
            <a:off x="914400" y="4553712"/>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07008" y="4443984"/>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Your teammates set their own</a:t>
            </a:r>
          </a:p>
        </p:txBody>
      </p:sp>
      <p:sp>
        <p:nvSpPr>
          <p:cNvPr id="14" name="TextBox 13"/>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PASTE THIS</a:t>
            </a:r>
          </a:p>
        </p:txBody>
      </p:sp>
      <p:sp>
        <p:nvSpPr>
          <p:cNvPr id="15" name="Rounded Rectangle 14"/>
          <p:cNvSpPr/>
          <p:nvPr/>
        </p:nvSpPr>
        <p:spPr>
          <a:xfrm>
            <a:off x="7040880" y="2286000"/>
            <a:ext cx="4507992" cy="2039112"/>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8" name="TextBox 17"/>
          <p:cNvSpPr txBox="1"/>
          <p:nvPr/>
        </p:nvSpPr>
        <p:spPr>
          <a:xfrm>
            <a:off x="7699248" y="2670048"/>
            <a:ext cx="3593591" cy="1600200"/>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Format currency as US dollars with thousand separators and no decimals. Call variances favorable or unfavorable, never positive or negative. When you state a number, name the sheet and the row it came from.</a:t>
            </a:r>
          </a:p>
        </p:txBody>
      </p:sp>
      <p:sp>
        <p:nvSpPr>
          <p:cNvPr id="19" name="Rounded Rectangle 18"/>
          <p:cNvSpPr/>
          <p:nvPr/>
        </p:nvSpPr>
        <p:spPr>
          <a:xfrm>
            <a:off x="7040880" y="4471416"/>
            <a:ext cx="4507992" cy="1057656"/>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242048" y="4636008"/>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242048" y="4617720"/>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2" name="TextBox 21"/>
          <p:cNvSpPr txBox="1"/>
          <p:nvPr/>
        </p:nvSpPr>
        <p:spPr>
          <a:xfrm>
            <a:off x="7699248" y="4855464"/>
            <a:ext cx="3593591" cy="618744"/>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Summarize the June rows in PerformanceData.</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8282B"/>
        </a:solidFill>
        <a:effectLst/>
      </p:bgPr>
    </p:bg>
    <p:spTree>
      <p:nvGrpSpPr>
        <p:cNvPr id="1" name=""/>
        <p:cNvGrpSpPr/>
        <p:nvPr/>
      </p:nvGrpSpPr>
      <p:grpSpPr>
        <a:xfrm>
          <a:off x="0" y="0"/>
          <a:ext cx="0" cy="0"/>
          <a:chOff x="0" y="0"/>
          <a:chExt cx="0" cy="0"/>
        </a:xfrm>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MAKE EXCEL YOURS - PASTE THIS</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Promote the clause to a rule</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What you are practicing</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A rule rides with the workbook</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Encode the convention, not the answer</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Repeated clause today, rule tomorrow</a:t>
            </a:r>
          </a:p>
        </p:txBody>
      </p:sp>
      <p:sp>
        <p:nvSpPr>
          <p:cNvPr id="12" name="Rectangle 11"/>
          <p:cNvSpPr/>
          <p:nvPr/>
        </p:nvSpPr>
        <p:spPr>
          <a:xfrm>
            <a:off x="914400" y="4553712"/>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07008" y="4443984"/>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File: Northstar_Life_Monthly_Performance.xlsx</a:t>
            </a:r>
          </a:p>
        </p:txBody>
      </p:sp>
      <p:sp>
        <p:nvSpPr>
          <p:cNvPr id="14" name="TextBox 13"/>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PASTE THIS</a:t>
            </a:r>
          </a:p>
        </p:txBody>
      </p:sp>
      <p:sp>
        <p:nvSpPr>
          <p:cNvPr id="15" name="Rounded Rectangle 14"/>
          <p:cNvSpPr/>
          <p:nvPr/>
        </p:nvSpPr>
        <p:spPr>
          <a:xfrm>
            <a:off x="7040880" y="2286000"/>
            <a:ext cx="4507992" cy="13030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8" name="TextBox 17"/>
          <p:cNvSpPr txBox="1"/>
          <p:nvPr/>
        </p:nvSpPr>
        <p:spPr>
          <a:xfrm>
            <a:off x="7699248" y="2670048"/>
            <a:ext cx="3593591" cy="864108"/>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Add a workbook rule: revenue below plan is unfavorable, and claims or operating expense above plan is unfavorable.</a:t>
            </a:r>
          </a:p>
        </p:txBody>
      </p:sp>
      <p:sp>
        <p:nvSpPr>
          <p:cNvPr id="19" name="Rounded Rectangle 18"/>
          <p:cNvSpPr/>
          <p:nvPr/>
        </p:nvSpPr>
        <p:spPr>
          <a:xfrm>
            <a:off x="7040880" y="3735324"/>
            <a:ext cx="4507992" cy="1057656"/>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242048" y="3899915"/>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242048" y="3881628"/>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2" name="TextBox 21"/>
          <p:cNvSpPr txBox="1"/>
          <p:nvPr/>
        </p:nvSpPr>
        <p:spPr>
          <a:xfrm>
            <a:off x="7699248" y="4119372"/>
            <a:ext cx="3593591" cy="618744"/>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Rank the five largest unfavorable variances in PerformanceData.</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8282B"/>
        </a:solidFill>
        <a:effectLst/>
      </p:bgPr>
    </p:bg>
    <p:spTree>
      <p:nvGrpSpPr>
        <p:cNvPr id="1" name=""/>
        <p:cNvGrpSpPr/>
        <p:nvPr/>
      </p:nvGrpSpPr>
      <p:grpSpPr>
        <a:xfrm>
          <a:off x="0" y="0"/>
          <a:ext cx="0" cy="0"/>
          <a:chOff x="0" y="0"/>
          <a:chExt cx="0" cy="0"/>
        </a:xfrm>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MAKE EXCEL YOURS - AWARENESS</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Skills do the repeatable part</a:t>
            </a:r>
          </a:p>
        </p:txBody>
      </p:sp>
      <p:sp>
        <p:nvSpPr>
          <p:cNvPr id="4" name="Rounded Rectangle 3"/>
          <p:cNvSpPr/>
          <p:nvPr/>
        </p:nvSpPr>
        <p:spPr>
          <a:xfrm>
            <a:off x="640080" y="1828800"/>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41248" y="1959102"/>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chat_2A2A30.png"/>
          <p:cNvPicPr>
            <a:picLocks noChangeAspect="1"/>
          </p:cNvPicPr>
          <p:nvPr/>
        </p:nvPicPr>
        <p:blipFill>
          <a:blip r:embed="rId3"/>
          <a:stretch>
            <a:fillRect/>
          </a:stretch>
        </p:blipFill>
        <p:spPr>
          <a:xfrm>
            <a:off x="1014984" y="2096262"/>
            <a:ext cx="292608" cy="292608"/>
          </a:xfrm>
          <a:prstGeom prst="rect">
            <a:avLst/>
          </a:prstGeom>
        </p:spPr>
      </p:pic>
      <p:sp>
        <p:nvSpPr>
          <p:cNvPr id="7" name="TextBox 6"/>
          <p:cNvSpPr txBox="1"/>
          <p:nvPr/>
        </p:nvSpPr>
        <p:spPr>
          <a:xfrm>
            <a:off x="1591056" y="1828800"/>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What a skill is</a:t>
            </a:r>
          </a:p>
        </p:txBody>
      </p:sp>
      <p:sp>
        <p:nvSpPr>
          <p:cNvPr id="8" name="TextBox 7"/>
          <p:cNvSpPr txBox="1"/>
          <p:nvPr/>
        </p:nvSpPr>
        <p:spPr>
          <a:xfrm>
            <a:off x="4434840" y="1828800"/>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Saved instructions for a repeatable task, called by name.</a:t>
            </a:r>
          </a:p>
        </p:txBody>
      </p:sp>
      <p:sp>
        <p:nvSpPr>
          <p:cNvPr id="9" name="Rounded Rectangle 8"/>
          <p:cNvSpPr/>
          <p:nvPr/>
        </p:nvSpPr>
        <p:spPr>
          <a:xfrm>
            <a:off x="640080" y="2802636"/>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841248" y="293293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list_2A2A30.png"/>
          <p:cNvPicPr>
            <a:picLocks noChangeAspect="1"/>
          </p:cNvPicPr>
          <p:nvPr/>
        </p:nvPicPr>
        <p:blipFill>
          <a:blip r:embed="rId4"/>
          <a:stretch>
            <a:fillRect/>
          </a:stretch>
        </p:blipFill>
        <p:spPr>
          <a:xfrm>
            <a:off x="1014984" y="3070098"/>
            <a:ext cx="292608" cy="292608"/>
          </a:xfrm>
          <a:prstGeom prst="rect">
            <a:avLst/>
          </a:prstGeom>
        </p:spPr>
      </p:pic>
      <p:sp>
        <p:nvSpPr>
          <p:cNvPr id="12" name="TextBox 11"/>
          <p:cNvSpPr txBox="1"/>
          <p:nvPr/>
        </p:nvSpPr>
        <p:spPr>
          <a:xfrm>
            <a:off x="1591056" y="2802636"/>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How you pick one</a:t>
            </a:r>
          </a:p>
        </p:txBody>
      </p:sp>
      <p:sp>
        <p:nvSpPr>
          <p:cNvPr id="13" name="TextBox 12"/>
          <p:cNvSpPr txBox="1"/>
          <p:nvPr/>
        </p:nvSpPr>
        <p:spPr>
          <a:xfrm>
            <a:off x="4434840" y="2802636"/>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The plus menu lists them; type @ and the name to call one.</a:t>
            </a:r>
          </a:p>
        </p:txBody>
      </p:sp>
      <p:sp>
        <p:nvSpPr>
          <p:cNvPr id="14" name="Rounded Rectangle 13"/>
          <p:cNvSpPr/>
          <p:nvPr/>
        </p:nvSpPr>
        <p:spPr>
          <a:xfrm>
            <a:off x="640080" y="3776472"/>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41248" y="3906774"/>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eye_2A2A30.png"/>
          <p:cNvPicPr>
            <a:picLocks noChangeAspect="1"/>
          </p:cNvPicPr>
          <p:nvPr/>
        </p:nvPicPr>
        <p:blipFill>
          <a:blip r:embed="rId5"/>
          <a:stretch>
            <a:fillRect/>
          </a:stretch>
        </p:blipFill>
        <p:spPr>
          <a:xfrm>
            <a:off x="1014984" y="4043933"/>
            <a:ext cx="292608" cy="292608"/>
          </a:xfrm>
          <a:prstGeom prst="rect">
            <a:avLst/>
          </a:prstGeom>
        </p:spPr>
      </p:pic>
      <p:sp>
        <p:nvSpPr>
          <p:cNvPr id="17" name="TextBox 16"/>
          <p:cNvSpPr txBox="1"/>
          <p:nvPr/>
        </p:nvSpPr>
        <p:spPr>
          <a:xfrm>
            <a:off x="1591056" y="3776472"/>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What is on your shelf</a:t>
            </a:r>
          </a:p>
        </p:txBody>
      </p:sp>
      <p:sp>
        <p:nvSpPr>
          <p:cNvPr id="18" name="TextBox 17"/>
          <p:cNvSpPr txBox="1"/>
          <p:nvPr/>
        </p:nvSpPr>
        <p:spPr>
          <a:xfrm>
            <a:off x="4434840" y="3776472"/>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Varies by account and build - read your own list before you promise one.</a:t>
            </a:r>
          </a:p>
        </p:txBody>
      </p:sp>
      <p:sp>
        <p:nvSpPr>
          <p:cNvPr id="19" name="Rounded Rectangle 18"/>
          <p:cNvSpPr/>
          <p:nvPr/>
        </p:nvSpPr>
        <p:spPr>
          <a:xfrm>
            <a:off x="640080" y="4750308"/>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41248" y="488061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lock_2A2A30.png"/>
          <p:cNvPicPr>
            <a:picLocks noChangeAspect="1"/>
          </p:cNvPicPr>
          <p:nvPr/>
        </p:nvPicPr>
        <p:blipFill>
          <a:blip r:embed="rId6"/>
          <a:stretch>
            <a:fillRect/>
          </a:stretch>
        </p:blipFill>
        <p:spPr>
          <a:xfrm>
            <a:off x="1014984" y="5017770"/>
            <a:ext cx="292608" cy="292608"/>
          </a:xfrm>
          <a:prstGeom prst="rect">
            <a:avLst/>
          </a:prstGeom>
        </p:spPr>
      </p:pic>
      <p:sp>
        <p:nvSpPr>
          <p:cNvPr id="22" name="TextBox 21"/>
          <p:cNvSpPr txBox="1"/>
          <p:nvPr/>
        </p:nvSpPr>
        <p:spPr>
          <a:xfrm>
            <a:off x="1591056" y="4750308"/>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Who publishes them</a:t>
            </a:r>
          </a:p>
        </p:txBody>
      </p:sp>
      <p:sp>
        <p:nvSpPr>
          <p:cNvPr id="23" name="TextBox 22"/>
          <p:cNvSpPr txBox="1"/>
          <p:nvPr/>
        </p:nvSpPr>
        <p:spPr>
          <a:xfrm>
            <a:off x="4434840" y="4750308"/>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Ask IT. Authoring and sharing skills is not a finance decision.</a:t>
            </a:r>
          </a:p>
        </p:txBody>
      </p:sp>
      <p:sp>
        <p:nvSpPr>
          <p:cNvPr id="24" name="Rounded Rectangle 23"/>
          <p:cNvSpPr/>
          <p:nvPr/>
        </p:nvSpPr>
        <p:spPr>
          <a:xfrm>
            <a:off x="640080" y="5760720"/>
            <a:ext cx="10908792" cy="658368"/>
          </a:xfrm>
          <a:prstGeom prst="roundRect">
            <a:avLst>
              <a:gd name="adj" fmla="val 16000"/>
            </a:avLst>
          </a:prstGeom>
          <a:solidFill>
            <a:srgbClr val="16324F"/>
          </a:solidFill>
          <a:ln w="952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info_4C8DF0.png"/>
          <p:cNvPicPr>
            <a:picLocks noChangeAspect="1"/>
          </p:cNvPicPr>
          <p:nvPr/>
        </p:nvPicPr>
        <p:blipFill>
          <a:blip r:embed="rId7"/>
          <a:stretch>
            <a:fillRect/>
          </a:stretch>
        </p:blipFill>
        <p:spPr>
          <a:xfrm>
            <a:off x="877824" y="5907024"/>
            <a:ext cx="365760" cy="365760"/>
          </a:xfrm>
          <a:prstGeom prst="rect">
            <a:avLst/>
          </a:prstGeom>
        </p:spPr>
      </p:pic>
      <p:sp>
        <p:nvSpPr>
          <p:cNvPr id="26" name="TextBox 25"/>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CAD8F2"/>
                </a:solidFill>
                <a:latin typeface="Instrument Sans"/>
              </a:rPr>
              <a:t>Turning a skill off stops it running on its own - it still runs when you name it with @.</a:t>
            </a:r>
          </a:p>
        </p:txBody>
      </p:sp>
      <p:sp>
        <p:nvSpPr>
          <p:cNvPr id="27" name="Rectangle 26"/>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9" name="TextBox 28"/>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8282B"/>
        </a:solidFill>
        <a:effectLst/>
      </p:bgPr>
    </p:bg>
    <p:spTree>
      <p:nvGrpSpPr>
        <p:cNvPr id="1" name=""/>
        <p:cNvGrpSpPr/>
        <p:nvPr/>
      </p:nvGrpSpPr>
      <p:grpSpPr>
        <a:xfrm>
          <a:off x="0" y="0"/>
          <a:ext cx="0" cy="0"/>
          <a:chOff x="0" y="0"/>
          <a:chExt cx="0" cy="0"/>
        </a:xfrm>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THE HINGE</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100" b="1">
                <a:solidFill>
                  <a:srgbClr val="F5F5F6"/>
                </a:solidFill>
                <a:latin typeface="Instrument Sans"/>
              </a:rPr>
              <a:t>A plausible cause is still a hypothesis</a:t>
            </a:r>
          </a:p>
        </p:txBody>
      </p:sp>
      <p:sp>
        <p:nvSpPr>
          <p:cNvPr id="4" name="Rounded Rectangle 3"/>
          <p:cNvSpPr/>
          <p:nvPr/>
        </p:nvSpPr>
        <p:spPr>
          <a:xfrm>
            <a:off x="640080" y="2468880"/>
            <a:ext cx="3453384" cy="25603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651760"/>
            <a:ext cx="914400" cy="640080"/>
          </a:xfrm>
          <a:prstGeom prst="rect">
            <a:avLst/>
          </a:prstGeom>
          <a:noFill/>
        </p:spPr>
        <p:txBody>
          <a:bodyPr wrap="square" anchor="t">
            <a:spAutoFit/>
          </a:bodyPr>
          <a:lstStyle/>
          <a:p>
            <a:pPr algn="l">
              <a:lnSpc>
                <a:spcPct val="100000"/>
              </a:lnSpc>
              <a:spcBef>
                <a:spcPts val="0"/>
              </a:spcBef>
              <a:spcAft>
                <a:spcPts val="200"/>
              </a:spcAft>
            </a:pPr>
            <a:r>
              <a:rPr sz="4000" b="1">
                <a:solidFill>
                  <a:srgbClr val="4C8DF0"/>
                </a:solidFill>
                <a:latin typeface="Instrument Sans"/>
              </a:rPr>
              <a:t>“</a:t>
            </a:r>
          </a:p>
        </p:txBody>
      </p:sp>
      <p:sp>
        <p:nvSpPr>
          <p:cNvPr id="6" name="TextBox 5"/>
          <p:cNvSpPr txBox="1"/>
          <p:nvPr/>
        </p:nvSpPr>
        <p:spPr>
          <a:xfrm>
            <a:off x="914400" y="3383280"/>
            <a:ext cx="2904744" cy="1554479"/>
          </a:xfrm>
          <a:prstGeom prst="rect">
            <a:avLst/>
          </a:prstGeom>
          <a:noFill/>
        </p:spPr>
        <p:txBody>
          <a:bodyPr wrap="square" anchor="t">
            <a:spAutoFit/>
          </a:bodyPr>
          <a:lstStyle/>
          <a:p>
            <a:pPr algn="l">
              <a:lnSpc>
                <a:spcPct val="120000"/>
              </a:lnSpc>
              <a:spcBef>
                <a:spcPts val="0"/>
              </a:spcBef>
              <a:spcAft>
                <a:spcPts val="200"/>
              </a:spcAft>
            </a:pPr>
            <a:r>
              <a:rPr sz="1600" b="0">
                <a:solidFill>
                  <a:srgbClr val="C9C9D2"/>
                </a:solidFill>
                <a:latin typeface="Instrument Sans"/>
              </a:rPr>
              <a:t>Facts come from the workbook.</a:t>
            </a:r>
          </a:p>
        </p:txBody>
      </p:sp>
      <p:sp>
        <p:nvSpPr>
          <p:cNvPr id="7" name="Rounded Rectangle 6"/>
          <p:cNvSpPr/>
          <p:nvPr/>
        </p:nvSpPr>
        <p:spPr>
          <a:xfrm>
            <a:off x="4367784" y="2468880"/>
            <a:ext cx="3453384" cy="25603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42104" y="2651760"/>
            <a:ext cx="914400" cy="640080"/>
          </a:xfrm>
          <a:prstGeom prst="rect">
            <a:avLst/>
          </a:prstGeom>
          <a:noFill/>
        </p:spPr>
        <p:txBody>
          <a:bodyPr wrap="square" anchor="t">
            <a:spAutoFit/>
          </a:bodyPr>
          <a:lstStyle/>
          <a:p>
            <a:pPr algn="l">
              <a:lnSpc>
                <a:spcPct val="100000"/>
              </a:lnSpc>
              <a:spcBef>
                <a:spcPts val="0"/>
              </a:spcBef>
              <a:spcAft>
                <a:spcPts val="200"/>
              </a:spcAft>
            </a:pPr>
            <a:r>
              <a:rPr sz="4000" b="1">
                <a:solidFill>
                  <a:srgbClr val="4C8DF0"/>
                </a:solidFill>
                <a:latin typeface="Instrument Sans"/>
              </a:rPr>
              <a:t>“</a:t>
            </a:r>
          </a:p>
        </p:txBody>
      </p:sp>
      <p:sp>
        <p:nvSpPr>
          <p:cNvPr id="9" name="TextBox 8"/>
          <p:cNvSpPr txBox="1"/>
          <p:nvPr/>
        </p:nvSpPr>
        <p:spPr>
          <a:xfrm>
            <a:off x="4642104" y="3383280"/>
            <a:ext cx="2904744" cy="1554479"/>
          </a:xfrm>
          <a:prstGeom prst="rect">
            <a:avLst/>
          </a:prstGeom>
          <a:noFill/>
        </p:spPr>
        <p:txBody>
          <a:bodyPr wrap="square" anchor="t">
            <a:spAutoFit/>
          </a:bodyPr>
          <a:lstStyle/>
          <a:p>
            <a:pPr algn="l">
              <a:lnSpc>
                <a:spcPct val="120000"/>
              </a:lnSpc>
              <a:spcBef>
                <a:spcPts val="0"/>
              </a:spcBef>
              <a:spcAft>
                <a:spcPts val="200"/>
              </a:spcAft>
            </a:pPr>
            <a:r>
              <a:rPr sz="1600" b="0">
                <a:solidFill>
                  <a:srgbClr val="C9C9D2"/>
                </a:solidFill>
                <a:latin typeface="Instrument Sans"/>
              </a:rPr>
              <a:t>Causes need supporting evidence.</a:t>
            </a:r>
          </a:p>
        </p:txBody>
      </p:sp>
      <p:sp>
        <p:nvSpPr>
          <p:cNvPr id="10" name="Rounded Rectangle 9"/>
          <p:cNvSpPr/>
          <p:nvPr/>
        </p:nvSpPr>
        <p:spPr>
          <a:xfrm>
            <a:off x="8095488" y="2468880"/>
            <a:ext cx="3453384" cy="25603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69808" y="2651760"/>
            <a:ext cx="914400" cy="640080"/>
          </a:xfrm>
          <a:prstGeom prst="rect">
            <a:avLst/>
          </a:prstGeom>
          <a:noFill/>
        </p:spPr>
        <p:txBody>
          <a:bodyPr wrap="square" anchor="t">
            <a:spAutoFit/>
          </a:bodyPr>
          <a:lstStyle/>
          <a:p>
            <a:pPr algn="l">
              <a:lnSpc>
                <a:spcPct val="100000"/>
              </a:lnSpc>
              <a:spcBef>
                <a:spcPts val="0"/>
              </a:spcBef>
              <a:spcAft>
                <a:spcPts val="200"/>
              </a:spcAft>
            </a:pPr>
            <a:r>
              <a:rPr sz="4000" b="1">
                <a:solidFill>
                  <a:srgbClr val="4C8DF0"/>
                </a:solidFill>
                <a:latin typeface="Instrument Sans"/>
              </a:rPr>
              <a:t>“</a:t>
            </a:r>
          </a:p>
        </p:txBody>
      </p:sp>
      <p:sp>
        <p:nvSpPr>
          <p:cNvPr id="12" name="TextBox 11"/>
          <p:cNvSpPr txBox="1"/>
          <p:nvPr/>
        </p:nvSpPr>
        <p:spPr>
          <a:xfrm>
            <a:off x="8369808" y="3383280"/>
            <a:ext cx="2904744" cy="1554479"/>
          </a:xfrm>
          <a:prstGeom prst="rect">
            <a:avLst/>
          </a:prstGeom>
          <a:noFill/>
        </p:spPr>
        <p:txBody>
          <a:bodyPr wrap="square" anchor="t">
            <a:spAutoFit/>
          </a:bodyPr>
          <a:lstStyle/>
          <a:p>
            <a:pPr algn="l">
              <a:lnSpc>
                <a:spcPct val="120000"/>
              </a:lnSpc>
              <a:spcBef>
                <a:spcPts val="0"/>
              </a:spcBef>
              <a:spcAft>
                <a:spcPts val="200"/>
              </a:spcAft>
            </a:pPr>
            <a:r>
              <a:rPr sz="1600" b="0">
                <a:solidFill>
                  <a:srgbClr val="C9C9D2"/>
                </a:solidFill>
                <a:latin typeface="Instrument Sans"/>
              </a:rPr>
              <a:t>Questions belong in the review pack, not hidden in prose.</a:t>
            </a:r>
          </a:p>
        </p:txBody>
      </p:sp>
      <p:sp>
        <p:nvSpPr>
          <p:cNvPr id="13" name="Rectangle 1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5" name="TextBox 1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8282B"/>
        </a:solidFill>
        <a:effectLst/>
      </p:bgPr>
    </p:bg>
    <p:spTree>
      <p:nvGrpSpPr>
        <p:cNvPr id="1" name=""/>
        <p:cNvGrpSpPr/>
        <p:nvPr/>
      </p:nvGrpSpPr>
      <p:grpSpPr>
        <a:xfrm>
          <a:off x="0" y="0"/>
          <a:ext cx="0" cy="0"/>
          <a:chOff x="0" y="0"/>
          <a:chExt cx="0" cy="0"/>
        </a:xfrm>
      </p:grpSpPr>
      <p:pic>
        <p:nvPicPr>
          <p:cNvPr id="2" name="Picture 1" descr="bg_4.png"/>
          <p:cNvPicPr>
            <a:picLocks noChangeAspect="1"/>
          </p:cNvPicPr>
          <p:nvPr/>
        </p:nvPicPr>
        <p:blipFill>
          <a:blip r:embed="rId3"/>
          <a:stretch>
            <a:fillRect/>
          </a:stretch>
        </p:blipFill>
        <p:spPr>
          <a:xfrm>
            <a:off x="6355080" y="0"/>
            <a:ext cx="5833872" cy="6858000"/>
          </a:xfrm>
          <a:prstGeom prst="rect">
            <a:avLst/>
          </a:prstGeom>
        </p:spPr>
      </p:pic>
      <p:sp>
        <p:nvSpPr>
          <p:cNvPr id="3" name="Rectangle 2"/>
          <p:cNvSpPr/>
          <p:nvPr/>
        </p:nvSpPr>
        <p:spPr>
          <a:xfrm>
            <a:off x="635508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85800" y="2542032"/>
            <a:ext cx="548640" cy="54864"/>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2706624"/>
            <a:ext cx="54864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MODULE 2 - CONTROLS</a:t>
            </a:r>
          </a:p>
        </p:txBody>
      </p:sp>
      <p:sp>
        <p:nvSpPr>
          <p:cNvPr id="6" name="TextBox 5"/>
          <p:cNvSpPr txBox="1"/>
          <p:nvPr/>
        </p:nvSpPr>
        <p:spPr>
          <a:xfrm>
            <a:off x="658368" y="3054096"/>
            <a:ext cx="5532120" cy="1783080"/>
          </a:xfrm>
          <a:prstGeom prst="rect">
            <a:avLst/>
          </a:prstGeom>
          <a:noFill/>
        </p:spPr>
        <p:txBody>
          <a:bodyPr wrap="square" anchor="t">
            <a:spAutoFit/>
          </a:bodyPr>
          <a:lstStyle/>
          <a:p>
            <a:pPr algn="l">
              <a:lnSpc>
                <a:spcPct val="102000"/>
              </a:lnSpc>
              <a:spcBef>
                <a:spcPts val="0"/>
              </a:spcBef>
              <a:spcAft>
                <a:spcPts val="200"/>
              </a:spcAft>
            </a:pPr>
            <a:r>
              <a:rPr sz="3400" b="1">
                <a:solidFill>
                  <a:srgbClr val="F5F5F6"/>
                </a:solidFill>
                <a:latin typeface="Instrument Sans"/>
              </a:rPr>
              <a:t>Control the work before it ships</a:t>
            </a:r>
          </a:p>
        </p:txBody>
      </p:sp>
      <p:sp>
        <p:nvSpPr>
          <p:cNvPr id="7" name="TextBox 6"/>
          <p:cNvSpPr txBox="1"/>
          <p:nvPr/>
        </p:nvSpPr>
        <p:spPr>
          <a:xfrm>
            <a:off x="685800" y="4864608"/>
            <a:ext cx="5440680" cy="420624"/>
          </a:xfrm>
          <a:prstGeom prst="rect">
            <a:avLst/>
          </a:prstGeom>
          <a:noFill/>
        </p:spPr>
        <p:txBody>
          <a:bodyPr wrap="square" anchor="t">
            <a:normAutofit/>
          </a:bodyPr>
          <a:lstStyle/>
          <a:p>
            <a:pPr algn="l">
              <a:lnSpc>
                <a:spcPct val="105000"/>
              </a:lnSpc>
              <a:spcBef>
                <a:spcPts val="0"/>
              </a:spcBef>
              <a:spcAft>
                <a:spcPts val="200"/>
              </a:spcAft>
            </a:pPr>
            <a:r>
              <a:rPr sz="1700" b="0">
                <a:solidFill>
                  <a:srgbClr val="ACACB4"/>
                </a:solidFill>
                <a:latin typeface="Instrument Sans"/>
              </a:rPr>
              <a:t>Four controls turn a fast answer into a defensible one.</a:t>
            </a:r>
          </a:p>
        </p:txBody>
      </p:sp>
      <p:sp>
        <p:nvSpPr>
          <p:cNvPr id="8" name="TextBox 7"/>
          <p:cNvSpPr txBox="1"/>
          <p:nvPr/>
        </p:nvSpPr>
        <p:spPr>
          <a:xfrm>
            <a:off x="685800" y="5513832"/>
            <a:ext cx="5440680" cy="603504"/>
          </a:xfrm>
          <a:prstGeom prst="rect">
            <a:avLst/>
          </a:prstGeom>
          <a:noFill/>
        </p:spPr>
        <p:txBody>
          <a:bodyPr wrap="square" anchor="t">
            <a:normAutofit/>
          </a:bodyPr>
          <a:lstStyle/>
          <a:p>
            <a:pPr algn="l">
              <a:lnSpc>
                <a:spcPct val="102000"/>
              </a:lnSpc>
              <a:spcBef>
                <a:spcPts val="0"/>
              </a:spcBef>
              <a:spcAft>
                <a:spcPts val="200"/>
              </a:spcAft>
            </a:pPr>
            <a:r>
              <a:rPr sz="1200" b="1" spc="120">
                <a:solidFill>
                  <a:srgbClr val="8B8B93"/>
                </a:solidFill>
                <a:latin typeface="Instrument Sans"/>
              </a:rPr>
              <a:t>OBJECTIVE · </a:t>
            </a:r>
            <a:r>
              <a:rPr sz="1250" b="0">
                <a:solidFill>
                  <a:srgbClr val="ACACB4"/>
                </a:solidFill>
                <a:latin typeface="Instrument Sans"/>
              </a:rPr>
              <a:t>MS-4004 Finance: prepare source files and control Copilot-assisted finance analysis end to end</a:t>
            </a:r>
          </a:p>
        </p:txBody>
      </p:sp>
      <p:sp>
        <p:nvSpPr>
          <p:cNvPr id="9" name="Rectangle 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1" name="TextBox 1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8282B"/>
        </a:solidFill>
        <a:effectLst/>
      </p:bgPr>
    </p:bg>
    <p:spTree>
      <p:nvGrpSpPr>
        <p:cNvPr id="1" name=""/>
        <p:cNvGrpSpPr/>
        <p:nvPr/>
      </p:nvGrpSpPr>
      <p:grpSpPr>
        <a:xfrm>
          <a:off x="0" y="0"/>
          <a:ext cx="0" cy="0"/>
          <a:chOff x="0" y="0"/>
          <a:chExt cx="0" cy="0"/>
        </a:xfrm>
      </p:grpSpPr>
      <p:pic>
        <p:nvPicPr>
          <p:cNvPr id="2" name="Picture 1" descr="bg_5.png"/>
          <p:cNvPicPr>
            <a:picLocks noChangeAspect="1"/>
          </p:cNvPicPr>
          <p:nvPr/>
        </p:nvPicPr>
        <p:blipFill>
          <a:blip r:embed="rId3"/>
          <a:stretch>
            <a:fillRect/>
          </a:stretch>
        </p:blipFill>
        <p:spPr>
          <a:xfrm>
            <a:off x="0" y="0"/>
            <a:ext cx="4800600" cy="6437376"/>
          </a:xfrm>
          <a:prstGeom prst="rect">
            <a:avLst/>
          </a:prstGeom>
        </p:spPr>
      </p:pic>
      <p:sp>
        <p:nvSpPr>
          <p:cNvPr id="3" name="Rectangle 2"/>
          <p:cNvSpPr/>
          <p:nvPr/>
        </p:nvSpPr>
        <p:spPr>
          <a:xfrm>
            <a:off x="4800600" y="0"/>
            <a:ext cx="45720"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49240" y="603504"/>
            <a:ext cx="6385255" cy="274320"/>
          </a:xfrm>
          <a:prstGeom prst="rect">
            <a:avLst/>
          </a:prstGeom>
          <a:noFill/>
        </p:spPr>
        <p:txBody>
          <a:bodyPr wrap="square" anchor="t">
            <a:spAutoFit/>
          </a:bodyPr>
          <a:lstStyle/>
          <a:p>
            <a:pPr algn="l">
              <a:lnSpc>
                <a:spcPct val="100000"/>
              </a:lnSpc>
              <a:spcBef>
                <a:spcPts val="0"/>
              </a:spcBef>
              <a:spcAft>
                <a:spcPts val="200"/>
              </a:spcAft>
            </a:pPr>
            <a:r>
              <a:rPr sz="1300" b="1" spc="160">
                <a:solidFill>
                  <a:srgbClr val="8B8B93"/>
                </a:solidFill>
                <a:latin typeface="Instrument Sans"/>
              </a:rPr>
              <a:t>KEY CONCEPT</a:t>
            </a:r>
          </a:p>
        </p:txBody>
      </p:sp>
      <p:sp>
        <p:nvSpPr>
          <p:cNvPr id="5" name="TextBox 4"/>
          <p:cNvSpPr txBox="1"/>
          <p:nvPr/>
        </p:nvSpPr>
        <p:spPr>
          <a:xfrm>
            <a:off x="5349240" y="969264"/>
            <a:ext cx="6385255" cy="1143000"/>
          </a:xfrm>
          <a:prstGeom prst="rect">
            <a:avLst/>
          </a:prstGeom>
          <a:noFill/>
        </p:spPr>
        <p:txBody>
          <a:bodyPr wrap="square" anchor="t">
            <a:spAutoFit/>
          </a:bodyPr>
          <a:lstStyle/>
          <a:p>
            <a:pPr algn="l">
              <a:lnSpc>
                <a:spcPct val="105000"/>
              </a:lnSpc>
              <a:spcBef>
                <a:spcPts val="0"/>
              </a:spcBef>
              <a:spcAft>
                <a:spcPts val="200"/>
              </a:spcAft>
            </a:pPr>
            <a:r>
              <a:rPr sz="2700" b="1">
                <a:solidFill>
                  <a:srgbClr val="F5F5F6"/>
                </a:solidFill>
                <a:latin typeface="Instrument Sans"/>
              </a:rPr>
              <a:t>The Verified Finance Review Pack</a:t>
            </a:r>
          </a:p>
        </p:txBody>
      </p:sp>
      <p:sp>
        <p:nvSpPr>
          <p:cNvPr id="6" name="TextBox 5"/>
          <p:cNvSpPr txBox="1"/>
          <p:nvPr/>
        </p:nvSpPr>
        <p:spPr>
          <a:xfrm>
            <a:off x="5349240" y="2286000"/>
            <a:ext cx="6385255" cy="1097280"/>
          </a:xfrm>
          <a:prstGeom prst="rect">
            <a:avLst/>
          </a:prstGeom>
          <a:noFill/>
        </p:spPr>
        <p:txBody>
          <a:bodyPr wrap="square" anchor="t">
            <a:spAutoFit/>
          </a:bodyPr>
          <a:lstStyle/>
          <a:p>
            <a:pPr algn="l">
              <a:lnSpc>
                <a:spcPct val="125000"/>
              </a:lnSpc>
              <a:spcBef>
                <a:spcPts val="0"/>
              </a:spcBef>
              <a:spcAft>
                <a:spcPts val="200"/>
              </a:spcAft>
            </a:pPr>
            <a:r>
              <a:rPr sz="1500" b="0">
                <a:solidFill>
                  <a:srgbClr val="ACACB4"/>
                </a:solidFill>
                <a:latin typeface="Instrument Sans"/>
              </a:rPr>
              <a:t>A management narrative with an evidence trail.</a:t>
            </a:r>
          </a:p>
        </p:txBody>
      </p:sp>
      <p:sp>
        <p:nvSpPr>
          <p:cNvPr id="7" name="Rounded Rectangle 6"/>
          <p:cNvSpPr/>
          <p:nvPr/>
        </p:nvSpPr>
        <p:spPr>
          <a:xfrm>
            <a:off x="5349240" y="3474720"/>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623559" y="3611879"/>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chart_2A2A30.png"/>
          <p:cNvPicPr>
            <a:picLocks noChangeAspect="1"/>
          </p:cNvPicPr>
          <p:nvPr/>
        </p:nvPicPr>
        <p:blipFill>
          <a:blip r:embed="rId4"/>
          <a:stretch>
            <a:fillRect/>
          </a:stretch>
        </p:blipFill>
        <p:spPr>
          <a:xfrm>
            <a:off x="5712439" y="3700759"/>
            <a:ext cx="151424" cy="151424"/>
          </a:xfrm>
          <a:prstGeom prst="rect">
            <a:avLst/>
          </a:prstGeom>
        </p:spPr>
      </p:pic>
      <p:sp>
        <p:nvSpPr>
          <p:cNvPr id="10" name="TextBox 9"/>
          <p:cNvSpPr txBox="1"/>
          <p:nvPr/>
        </p:nvSpPr>
        <p:spPr>
          <a:xfrm>
            <a:off x="6227064" y="3474720"/>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Material findings</a:t>
            </a:r>
            <a:r>
              <a:rPr sz="1400" b="0">
                <a:solidFill>
                  <a:srgbClr val="ACACB4"/>
                </a:solidFill>
                <a:latin typeface="Instrument Sans"/>
              </a:rPr>
              <a:t>  -  ranked facts from the workbook</a:t>
            </a:r>
          </a:p>
        </p:txBody>
      </p:sp>
      <p:sp>
        <p:nvSpPr>
          <p:cNvPr id="11" name="Rounded Rectangle 10"/>
          <p:cNvSpPr/>
          <p:nvPr/>
        </p:nvSpPr>
        <p:spPr>
          <a:xfrm>
            <a:off x="5349240" y="4224528"/>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5623559" y="4361688"/>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doc_2A2A30.png"/>
          <p:cNvPicPr>
            <a:picLocks noChangeAspect="1"/>
          </p:cNvPicPr>
          <p:nvPr/>
        </p:nvPicPr>
        <p:blipFill>
          <a:blip r:embed="rId5"/>
          <a:stretch>
            <a:fillRect/>
          </a:stretch>
        </p:blipFill>
        <p:spPr>
          <a:xfrm>
            <a:off x="5712439" y="4450567"/>
            <a:ext cx="151424" cy="151424"/>
          </a:xfrm>
          <a:prstGeom prst="rect">
            <a:avLst/>
          </a:prstGeom>
        </p:spPr>
      </p:pic>
      <p:sp>
        <p:nvSpPr>
          <p:cNvPr id="14" name="TextBox 13"/>
          <p:cNvSpPr txBox="1"/>
          <p:nvPr/>
        </p:nvSpPr>
        <p:spPr>
          <a:xfrm>
            <a:off x="6227064" y="4224528"/>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Explanations</a:t>
            </a:r>
            <a:r>
              <a:rPr sz="1400" b="0">
                <a:solidFill>
                  <a:srgbClr val="ACACB4"/>
                </a:solidFill>
                <a:latin typeface="Instrument Sans"/>
              </a:rPr>
              <a:t>  -  supported drivers separated from hypotheses</a:t>
            </a:r>
          </a:p>
        </p:txBody>
      </p:sp>
      <p:sp>
        <p:nvSpPr>
          <p:cNvPr id="15" name="Rounded Rectangle 14"/>
          <p:cNvSpPr/>
          <p:nvPr/>
        </p:nvSpPr>
        <p:spPr>
          <a:xfrm>
            <a:off x="5349240" y="4974336"/>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5623559" y="5111496"/>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check_2A2A30.png"/>
          <p:cNvPicPr>
            <a:picLocks noChangeAspect="1"/>
          </p:cNvPicPr>
          <p:nvPr/>
        </p:nvPicPr>
        <p:blipFill>
          <a:blip r:embed="rId6"/>
          <a:stretch>
            <a:fillRect/>
          </a:stretch>
        </p:blipFill>
        <p:spPr>
          <a:xfrm>
            <a:off x="5712439" y="5200375"/>
            <a:ext cx="151424" cy="151424"/>
          </a:xfrm>
          <a:prstGeom prst="rect">
            <a:avLst/>
          </a:prstGeom>
        </p:spPr>
      </p:pic>
      <p:sp>
        <p:nvSpPr>
          <p:cNvPr id="18" name="TextBox 17"/>
          <p:cNvSpPr txBox="1"/>
          <p:nvPr/>
        </p:nvSpPr>
        <p:spPr>
          <a:xfrm>
            <a:off x="6227064" y="4974336"/>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Claim ledger</a:t>
            </a:r>
            <a:r>
              <a:rPr sz="1400" b="0">
                <a:solidFill>
                  <a:srgbClr val="ACACB4"/>
                </a:solidFill>
                <a:latin typeface="Instrument Sans"/>
              </a:rPr>
              <a:t>  -  source, check, status, and owner</a:t>
            </a:r>
          </a:p>
        </p:txBody>
      </p:sp>
      <p:sp>
        <p:nvSpPr>
          <p:cNvPr id="19" name="Rounded Rectangle 18"/>
          <p:cNvSpPr/>
          <p:nvPr/>
        </p:nvSpPr>
        <p:spPr>
          <a:xfrm>
            <a:off x="5349240" y="5724144"/>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623559" y="5861304"/>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mail_2A2A30.png"/>
          <p:cNvPicPr>
            <a:picLocks noChangeAspect="1"/>
          </p:cNvPicPr>
          <p:nvPr/>
        </p:nvPicPr>
        <p:blipFill>
          <a:blip r:embed="rId7"/>
          <a:stretch>
            <a:fillRect/>
          </a:stretch>
        </p:blipFill>
        <p:spPr>
          <a:xfrm>
            <a:off x="5712439" y="5950183"/>
            <a:ext cx="151424" cy="151424"/>
          </a:xfrm>
          <a:prstGeom prst="rect">
            <a:avLst/>
          </a:prstGeom>
        </p:spPr>
      </p:pic>
      <p:sp>
        <p:nvSpPr>
          <p:cNvPr id="22" name="TextBox 21"/>
          <p:cNvSpPr txBox="1"/>
          <p:nvPr/>
        </p:nvSpPr>
        <p:spPr>
          <a:xfrm>
            <a:off x="6227064" y="5724144"/>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Management brief</a:t>
            </a:r>
            <a:r>
              <a:rPr sz="1400" b="0">
                <a:solidFill>
                  <a:srgbClr val="ACACB4"/>
                </a:solidFill>
                <a:latin typeface="Instrument Sans"/>
              </a:rPr>
              <a:t>  -  concise narrative plus open questions</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8282B"/>
        </a:solidFill>
        <a:effectLst/>
      </p:bgPr>
    </p:bg>
    <p:spTree>
      <p:nvGrpSpPr>
        <p:cNvPr id="1" name=""/>
        <p:cNvGrpSpPr/>
        <p:nvPr/>
      </p:nvGrpSpPr>
      <p:grpSpPr>
        <a:xfrm>
          <a:off x="0" y="0"/>
          <a:ext cx="0" cy="0"/>
          <a:chOff x="0" y="0"/>
          <a:chExt cx="0" cy="0"/>
        </a:xfrm>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FINANCE OPERATING LOOP</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From workbook to review pack</a:t>
            </a:r>
          </a:p>
        </p:txBody>
      </p:sp>
      <p:sp>
        <p:nvSpPr>
          <p:cNvPr id="4" name="Oval 3"/>
          <p:cNvSpPr/>
          <p:nvPr/>
        </p:nvSpPr>
        <p:spPr>
          <a:xfrm>
            <a:off x="868680"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park_F5F5F6.png"/>
          <p:cNvPicPr>
            <a:picLocks noChangeAspect="1"/>
          </p:cNvPicPr>
          <p:nvPr/>
        </p:nvPicPr>
        <p:blipFill>
          <a:blip r:embed="rId3"/>
          <a:stretch>
            <a:fillRect/>
          </a:stretch>
        </p:blipFill>
        <p:spPr>
          <a:xfrm>
            <a:off x="1344168" y="2926080"/>
            <a:ext cx="731520" cy="731520"/>
          </a:xfrm>
          <a:prstGeom prst="rect">
            <a:avLst/>
          </a:prstGeom>
        </p:spPr>
      </p:pic>
      <p:sp>
        <p:nvSpPr>
          <p:cNvPr id="6" name="TextBox 5"/>
          <p:cNvSpPr txBox="1"/>
          <p:nvPr/>
        </p:nvSpPr>
        <p:spPr>
          <a:xfrm>
            <a:off x="640080"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Create</a:t>
            </a:r>
          </a:p>
        </p:txBody>
      </p:sp>
      <p:sp>
        <p:nvSpPr>
          <p:cNvPr id="7" name="TextBox 6"/>
          <p:cNvSpPr txBox="1"/>
          <p:nvPr/>
        </p:nvSpPr>
        <p:spPr>
          <a:xfrm>
            <a:off x="640080"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find material facts</a:t>
            </a:r>
          </a:p>
        </p:txBody>
      </p:sp>
      <p:sp>
        <p:nvSpPr>
          <p:cNvPr id="8" name="Oval 7"/>
          <p:cNvSpPr/>
          <p:nvPr/>
        </p:nvSpPr>
        <p:spPr>
          <a:xfrm>
            <a:off x="3792626"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refresh_F5F5F6.png"/>
          <p:cNvPicPr>
            <a:picLocks noChangeAspect="1"/>
          </p:cNvPicPr>
          <p:nvPr/>
        </p:nvPicPr>
        <p:blipFill>
          <a:blip r:embed="rId4"/>
          <a:stretch>
            <a:fillRect/>
          </a:stretch>
        </p:blipFill>
        <p:spPr>
          <a:xfrm>
            <a:off x="4268114" y="2926080"/>
            <a:ext cx="731520" cy="731520"/>
          </a:xfrm>
          <a:prstGeom prst="rect">
            <a:avLst/>
          </a:prstGeom>
        </p:spPr>
      </p:pic>
      <p:sp>
        <p:nvSpPr>
          <p:cNvPr id="10" name="TextBox 9"/>
          <p:cNvSpPr txBox="1"/>
          <p:nvPr/>
        </p:nvSpPr>
        <p:spPr>
          <a:xfrm>
            <a:off x="3564026"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Refine</a:t>
            </a:r>
          </a:p>
        </p:txBody>
      </p:sp>
      <p:sp>
        <p:nvSpPr>
          <p:cNvPr id="11" name="TextBox 10"/>
          <p:cNvSpPr txBox="1"/>
          <p:nvPr/>
        </p:nvSpPr>
        <p:spPr>
          <a:xfrm>
            <a:off x="3564026"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rank for audience</a:t>
            </a:r>
          </a:p>
        </p:txBody>
      </p:sp>
      <p:sp>
        <p:nvSpPr>
          <p:cNvPr id="12" name="Oval 11"/>
          <p:cNvSpPr/>
          <p:nvPr/>
        </p:nvSpPr>
        <p:spPr>
          <a:xfrm>
            <a:off x="6716572"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check_F5F5F6.png"/>
          <p:cNvPicPr>
            <a:picLocks noChangeAspect="1"/>
          </p:cNvPicPr>
          <p:nvPr/>
        </p:nvPicPr>
        <p:blipFill>
          <a:blip r:embed="rId5"/>
          <a:stretch>
            <a:fillRect/>
          </a:stretch>
        </p:blipFill>
        <p:spPr>
          <a:xfrm>
            <a:off x="7192060" y="2926080"/>
            <a:ext cx="731520" cy="731520"/>
          </a:xfrm>
          <a:prstGeom prst="rect">
            <a:avLst/>
          </a:prstGeom>
        </p:spPr>
      </p:pic>
      <p:sp>
        <p:nvSpPr>
          <p:cNvPr id="14" name="TextBox 13"/>
          <p:cNvSpPr txBox="1"/>
          <p:nvPr/>
        </p:nvSpPr>
        <p:spPr>
          <a:xfrm>
            <a:off x="6487972"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Verify</a:t>
            </a:r>
          </a:p>
        </p:txBody>
      </p:sp>
      <p:sp>
        <p:nvSpPr>
          <p:cNvPr id="15" name="TextBox 14"/>
          <p:cNvSpPr txBox="1"/>
          <p:nvPr/>
        </p:nvSpPr>
        <p:spPr>
          <a:xfrm>
            <a:off x="6487972"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trace each claim</a:t>
            </a:r>
          </a:p>
        </p:txBody>
      </p:sp>
      <p:sp>
        <p:nvSpPr>
          <p:cNvPr id="16" name="Oval 15"/>
          <p:cNvSpPr/>
          <p:nvPr/>
        </p:nvSpPr>
        <p:spPr>
          <a:xfrm>
            <a:off x="9640519"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rocket_F5F5F6.png"/>
          <p:cNvPicPr>
            <a:picLocks noChangeAspect="1"/>
          </p:cNvPicPr>
          <p:nvPr/>
        </p:nvPicPr>
        <p:blipFill>
          <a:blip r:embed="rId6"/>
          <a:stretch>
            <a:fillRect/>
          </a:stretch>
        </p:blipFill>
        <p:spPr>
          <a:xfrm>
            <a:off x="10116007" y="2926080"/>
            <a:ext cx="731520" cy="731520"/>
          </a:xfrm>
          <a:prstGeom prst="rect">
            <a:avLst/>
          </a:prstGeom>
        </p:spPr>
      </p:pic>
      <p:sp>
        <p:nvSpPr>
          <p:cNvPr id="18" name="TextBox 17"/>
          <p:cNvSpPr txBox="1"/>
          <p:nvPr/>
        </p:nvSpPr>
        <p:spPr>
          <a:xfrm>
            <a:off x="9411919"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Present</a:t>
            </a:r>
          </a:p>
        </p:txBody>
      </p:sp>
      <p:sp>
        <p:nvSpPr>
          <p:cNvPr id="19" name="TextBox 18"/>
          <p:cNvSpPr txBox="1"/>
          <p:nvPr/>
        </p:nvSpPr>
        <p:spPr>
          <a:xfrm>
            <a:off x="9411919"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brief + questions</a:t>
            </a:r>
          </a:p>
        </p:txBody>
      </p:sp>
      <p:sp>
        <p:nvSpPr>
          <p:cNvPr id="20" name="TextBox 19"/>
          <p:cNvSpPr txBox="1"/>
          <p:nvPr/>
        </p:nvSpPr>
        <p:spPr>
          <a:xfrm>
            <a:off x="2760421" y="2880360"/>
            <a:ext cx="822960" cy="1005840"/>
          </a:xfrm>
          <a:prstGeom prst="rect">
            <a:avLst/>
          </a:prstGeom>
          <a:noFill/>
        </p:spPr>
        <p:txBody>
          <a:bodyPr wrap="square" anchor="ctr">
            <a:spAutoFit/>
          </a:bodyPr>
          <a:lstStyle/>
          <a:p>
            <a:pPr algn="ctr">
              <a:lnSpc>
                <a:spcPct val="100000"/>
              </a:lnSpc>
              <a:spcBef>
                <a:spcPts val="0"/>
              </a:spcBef>
              <a:spcAft>
                <a:spcPts val="200"/>
              </a:spcAft>
            </a:pPr>
            <a:r>
              <a:rPr sz="4400" b="1">
                <a:solidFill>
                  <a:srgbClr val="4C8DF0"/>
                </a:solidFill>
                <a:latin typeface="Instrument Sans"/>
              </a:rPr>
              <a:t>&gt;</a:t>
            </a:r>
          </a:p>
        </p:txBody>
      </p:sp>
      <p:sp>
        <p:nvSpPr>
          <p:cNvPr id="21" name="TextBox 20"/>
          <p:cNvSpPr txBox="1"/>
          <p:nvPr/>
        </p:nvSpPr>
        <p:spPr>
          <a:xfrm>
            <a:off x="5684367" y="2880360"/>
            <a:ext cx="822960" cy="1005840"/>
          </a:xfrm>
          <a:prstGeom prst="rect">
            <a:avLst/>
          </a:prstGeom>
          <a:noFill/>
        </p:spPr>
        <p:txBody>
          <a:bodyPr wrap="square" anchor="ctr">
            <a:spAutoFit/>
          </a:bodyPr>
          <a:lstStyle/>
          <a:p>
            <a:pPr algn="ctr">
              <a:lnSpc>
                <a:spcPct val="100000"/>
              </a:lnSpc>
              <a:spcBef>
                <a:spcPts val="0"/>
              </a:spcBef>
              <a:spcAft>
                <a:spcPts val="200"/>
              </a:spcAft>
            </a:pPr>
            <a:r>
              <a:rPr sz="4400" b="1">
                <a:solidFill>
                  <a:srgbClr val="4C8DF0"/>
                </a:solidFill>
                <a:latin typeface="Instrument Sans"/>
              </a:rPr>
              <a:t>&gt;</a:t>
            </a:r>
          </a:p>
        </p:txBody>
      </p:sp>
      <p:sp>
        <p:nvSpPr>
          <p:cNvPr id="22" name="TextBox 21"/>
          <p:cNvSpPr txBox="1"/>
          <p:nvPr/>
        </p:nvSpPr>
        <p:spPr>
          <a:xfrm>
            <a:off x="8608314" y="2880360"/>
            <a:ext cx="822960" cy="1005840"/>
          </a:xfrm>
          <a:prstGeom prst="rect">
            <a:avLst/>
          </a:prstGeom>
          <a:noFill/>
        </p:spPr>
        <p:txBody>
          <a:bodyPr wrap="square" anchor="ctr">
            <a:spAutoFit/>
          </a:bodyPr>
          <a:lstStyle/>
          <a:p>
            <a:pPr algn="ctr">
              <a:lnSpc>
                <a:spcPct val="100000"/>
              </a:lnSpc>
              <a:spcBef>
                <a:spcPts val="0"/>
              </a:spcBef>
              <a:spcAft>
                <a:spcPts val="200"/>
              </a:spcAft>
            </a:pPr>
            <a:r>
              <a:rPr sz="4400" b="1">
                <a:solidFill>
                  <a:srgbClr val="4C8DF0"/>
                </a:solidFill>
                <a:latin typeface="Instrument Sans"/>
              </a:rPr>
              <a:t>&gt;</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8282B"/>
        </a:solidFill>
        <a:effectLst/>
      </p:bgPr>
    </p:bg>
    <p:spTree>
      <p:nvGrpSpPr>
        <p:cNvPr id="1" name=""/>
        <p:cNvGrpSpPr/>
        <p:nvPr/>
      </p:nvGrpSpPr>
      <p:grpSpPr>
        <a:xfrm>
          <a:off x="0" y="0"/>
          <a:ext cx="0" cy="0"/>
          <a:chOff x="0" y="0"/>
          <a:chExt cx="0" cy="0"/>
        </a:xfrm>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FOLLOW ALONG - PASTE THIS</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Begin with an analysis contract</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What you are practicing</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Name the table and period</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Ask for materiality and ranking</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Separate facts from causes</a:t>
            </a:r>
          </a:p>
        </p:txBody>
      </p:sp>
      <p:sp>
        <p:nvSpPr>
          <p:cNvPr id="12" name="Rectangle 11"/>
          <p:cNvSpPr/>
          <p:nvPr/>
        </p:nvSpPr>
        <p:spPr>
          <a:xfrm>
            <a:off x="914400" y="4553712"/>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07008" y="4443984"/>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Require formulas or source references</a:t>
            </a:r>
          </a:p>
        </p:txBody>
      </p:sp>
      <p:sp>
        <p:nvSpPr>
          <p:cNvPr id="14" name="TextBox 13"/>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PASTE THIS</a:t>
            </a:r>
          </a:p>
        </p:txBody>
      </p:sp>
      <p:sp>
        <p:nvSpPr>
          <p:cNvPr id="15" name="Rounded Rectangle 14"/>
          <p:cNvSpPr/>
          <p:nvPr/>
        </p:nvSpPr>
        <p:spPr>
          <a:xfrm>
            <a:off x="7040880" y="2286000"/>
            <a:ext cx="4507992" cy="2039112"/>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8" name="TextBox 17"/>
          <p:cNvSpPr txBox="1"/>
          <p:nvPr/>
        </p:nvSpPr>
        <p:spPr>
          <a:xfrm>
            <a:off x="7699248" y="2670048"/>
            <a:ext cx="3593591" cy="1600200"/>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Using PerformanceData, rank the five largest unfavorable variances by absolute dollars. Revenue below plan and Claims or Expense above plan are unfavorable. Show amount, percentage, month, and category. Do not infer causes.</a:t>
            </a:r>
          </a:p>
        </p:txBody>
      </p:sp>
      <p:sp>
        <p:nvSpPr>
          <p:cNvPr id="19" name="Rounded Rectangle 18"/>
          <p:cNvSpPr/>
          <p:nvPr/>
        </p:nvSpPr>
        <p:spPr>
          <a:xfrm>
            <a:off x="7040880" y="4471416"/>
            <a:ext cx="4507992" cy="13030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242048" y="4636008"/>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242048" y="4617720"/>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2" name="TextBox 21"/>
          <p:cNvSpPr txBox="1"/>
          <p:nvPr/>
        </p:nvSpPr>
        <p:spPr>
          <a:xfrm>
            <a:off x="7699248" y="4855464"/>
            <a:ext cx="3593591" cy="864108"/>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For each finding, cite the exact row or formula and flag any data-quality issue that could change the result.</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18</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8282B"/>
        </a:solidFill>
        <a:effectLst/>
      </p:bgPr>
    </p:bg>
    <p:spTree>
      <p:nvGrpSpPr>
        <p:cNvPr id="1" name=""/>
        <p:cNvGrpSpPr/>
        <p:nvPr/>
      </p:nvGrpSpPr>
      <p:grpSpPr>
        <a:xfrm>
          <a:off x="0" y="0"/>
          <a:ext cx="0" cy="0"/>
          <a:chOff x="0" y="0"/>
          <a:chExt cx="0" cy="0"/>
        </a:xfrm>
      </p:grpSpPr>
      <p:pic>
        <p:nvPicPr>
          <p:cNvPr id="2" name="Picture 1" descr="bg_2.png"/>
          <p:cNvPicPr>
            <a:picLocks noChangeAspect="1"/>
          </p:cNvPicPr>
          <p:nvPr/>
        </p:nvPicPr>
        <p:blipFill>
          <a:blip r:embed="rId3"/>
          <a:stretch>
            <a:fillRect/>
          </a:stretch>
        </p:blipFill>
        <p:spPr>
          <a:xfrm>
            <a:off x="6355080" y="0"/>
            <a:ext cx="5833872" cy="6858000"/>
          </a:xfrm>
          <a:prstGeom prst="rect">
            <a:avLst/>
          </a:prstGeom>
        </p:spPr>
      </p:pic>
      <p:sp>
        <p:nvSpPr>
          <p:cNvPr id="3" name="Rectangle 2"/>
          <p:cNvSpPr/>
          <p:nvPr/>
        </p:nvSpPr>
        <p:spPr>
          <a:xfrm>
            <a:off x="635508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85800" y="2542032"/>
            <a:ext cx="548640" cy="54864"/>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2706624"/>
            <a:ext cx="54864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MODULE 3 - CREATE AND REFINE</a:t>
            </a:r>
          </a:p>
        </p:txBody>
      </p:sp>
      <p:sp>
        <p:nvSpPr>
          <p:cNvPr id="6" name="TextBox 5"/>
          <p:cNvSpPr txBox="1"/>
          <p:nvPr/>
        </p:nvSpPr>
        <p:spPr>
          <a:xfrm>
            <a:off x="658368" y="3054096"/>
            <a:ext cx="5532120" cy="1783080"/>
          </a:xfrm>
          <a:prstGeom prst="rect">
            <a:avLst/>
          </a:prstGeom>
          <a:noFill/>
        </p:spPr>
        <p:txBody>
          <a:bodyPr wrap="square" anchor="t">
            <a:spAutoFit/>
          </a:bodyPr>
          <a:lstStyle/>
          <a:p>
            <a:pPr algn="l">
              <a:lnSpc>
                <a:spcPct val="102000"/>
              </a:lnSpc>
              <a:spcBef>
                <a:spcPts val="0"/>
              </a:spcBef>
              <a:spcAft>
                <a:spcPts val="200"/>
              </a:spcAft>
            </a:pPr>
            <a:r>
              <a:rPr sz="3400" b="1">
                <a:solidFill>
                  <a:srgbClr val="F5F5F6"/>
                </a:solidFill>
                <a:latin typeface="Instrument Sans"/>
              </a:rPr>
              <a:t>Turn the table into findings</a:t>
            </a:r>
          </a:p>
        </p:txBody>
      </p:sp>
      <p:sp>
        <p:nvSpPr>
          <p:cNvPr id="7" name="TextBox 6"/>
          <p:cNvSpPr txBox="1"/>
          <p:nvPr/>
        </p:nvSpPr>
        <p:spPr>
          <a:xfrm>
            <a:off x="685800" y="4864608"/>
            <a:ext cx="5440680" cy="420624"/>
          </a:xfrm>
          <a:prstGeom prst="rect">
            <a:avLst/>
          </a:prstGeom>
          <a:noFill/>
        </p:spPr>
        <p:txBody>
          <a:bodyPr wrap="square" anchor="t">
            <a:normAutofit/>
          </a:bodyPr>
          <a:lstStyle/>
          <a:p>
            <a:pPr algn="l">
              <a:lnSpc>
                <a:spcPct val="105000"/>
              </a:lnSpc>
              <a:spcBef>
                <a:spcPts val="0"/>
              </a:spcBef>
              <a:spcAft>
                <a:spcPts val="200"/>
              </a:spcAft>
            </a:pPr>
            <a:r>
              <a:rPr sz="1700" b="0">
                <a:solidFill>
                  <a:srgbClr val="ACACB4"/>
                </a:solidFill>
                <a:latin typeface="Instrument Sans"/>
              </a:rPr>
              <a:t>Accelerate the analysis without surrendering the judgment.</a:t>
            </a:r>
          </a:p>
        </p:txBody>
      </p:sp>
      <p:sp>
        <p:nvSpPr>
          <p:cNvPr id="8" name="TextBox 7"/>
          <p:cNvSpPr txBox="1"/>
          <p:nvPr/>
        </p:nvSpPr>
        <p:spPr>
          <a:xfrm>
            <a:off x="685800" y="5513832"/>
            <a:ext cx="5440680" cy="603504"/>
          </a:xfrm>
          <a:prstGeom prst="rect">
            <a:avLst/>
          </a:prstGeom>
          <a:noFill/>
        </p:spPr>
        <p:txBody>
          <a:bodyPr wrap="square" anchor="t">
            <a:normAutofit/>
          </a:bodyPr>
          <a:lstStyle/>
          <a:p>
            <a:pPr algn="l">
              <a:lnSpc>
                <a:spcPct val="102000"/>
              </a:lnSpc>
              <a:spcBef>
                <a:spcPts val="0"/>
              </a:spcBef>
              <a:spcAft>
                <a:spcPts val="200"/>
              </a:spcAft>
            </a:pPr>
            <a:r>
              <a:rPr sz="1200" b="1" spc="120">
                <a:solidFill>
                  <a:srgbClr val="8B8B93"/>
                </a:solidFill>
                <a:latin typeface="Instrument Sans"/>
              </a:rPr>
              <a:t>OBJECTIVE · </a:t>
            </a:r>
            <a:r>
              <a:rPr sz="1250" b="0">
                <a:solidFill>
                  <a:srgbClr val="ACACB4"/>
                </a:solidFill>
                <a:latin typeface="Instrument Sans"/>
              </a:rPr>
              <a:t>MS-4004 Finance: analyze financial data with Copilot in Excel and refine insights for stakeholders</a:t>
            </a:r>
          </a:p>
        </p:txBody>
      </p:sp>
      <p:sp>
        <p:nvSpPr>
          <p:cNvPr id="9" name="Rectangle 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1" name="TextBox 1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19</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8282B"/>
        </a:solidFill>
        <a:effectLst/>
      </p:bgPr>
    </p:bg>
    <p:spTree>
      <p:nvGrpSpPr>
        <p:cNvPr id="1" name=""/>
        <p:cNvGrpSpPr/>
        <p:nvPr/>
      </p:nvGrpSpPr>
      <p:grpSpPr>
        <a:xfrm>
          <a:off x="0" y="0"/>
          <a:ext cx="0" cy="0"/>
          <a:chOff x="0" y="0"/>
          <a:chExt cx="0" cy="0"/>
        </a:xfrm>
      </p:grpSpPr>
      <p:pic>
        <p:nvPicPr>
          <p:cNvPr id="2" name="Picture 1" descr="bg_7.png"/>
          <p:cNvPicPr>
            <a:picLocks noChangeAspect="1"/>
          </p:cNvPicPr>
          <p:nvPr/>
        </p:nvPicPr>
        <p:blipFill>
          <a:blip r:embed="rId3"/>
          <a:stretch>
            <a:fillRect/>
          </a:stretch>
        </p:blipFill>
        <p:spPr>
          <a:xfrm>
            <a:off x="0" y="0"/>
            <a:ext cx="4800600" cy="6437376"/>
          </a:xfrm>
          <a:prstGeom prst="rect">
            <a:avLst/>
          </a:prstGeom>
        </p:spPr>
      </p:pic>
      <p:sp>
        <p:nvSpPr>
          <p:cNvPr id="3" name="Rectangle 2"/>
          <p:cNvSpPr/>
          <p:nvPr/>
        </p:nvSpPr>
        <p:spPr>
          <a:xfrm>
            <a:off x="4800600" y="0"/>
            <a:ext cx="45720"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49240" y="603504"/>
            <a:ext cx="6385255" cy="274320"/>
          </a:xfrm>
          <a:prstGeom prst="rect">
            <a:avLst/>
          </a:prstGeom>
          <a:noFill/>
        </p:spPr>
        <p:txBody>
          <a:bodyPr wrap="square" anchor="t">
            <a:spAutoFit/>
          </a:bodyPr>
          <a:lstStyle/>
          <a:p>
            <a:pPr algn="l">
              <a:lnSpc>
                <a:spcPct val="100000"/>
              </a:lnSpc>
              <a:spcBef>
                <a:spcPts val="0"/>
              </a:spcBef>
              <a:spcAft>
                <a:spcPts val="200"/>
              </a:spcAft>
            </a:pPr>
            <a:r>
              <a:rPr sz="1300" b="1" spc="160">
                <a:solidFill>
                  <a:srgbClr val="8B8B93"/>
                </a:solidFill>
                <a:latin typeface="Instrument Sans"/>
              </a:rPr>
              <a:t>KEY CONCEPT</a:t>
            </a:r>
          </a:p>
        </p:txBody>
      </p:sp>
      <p:sp>
        <p:nvSpPr>
          <p:cNvPr id="5" name="TextBox 4"/>
          <p:cNvSpPr txBox="1"/>
          <p:nvPr/>
        </p:nvSpPr>
        <p:spPr>
          <a:xfrm>
            <a:off x="5349240" y="969264"/>
            <a:ext cx="6385255" cy="1143000"/>
          </a:xfrm>
          <a:prstGeom prst="rect">
            <a:avLst/>
          </a:prstGeom>
          <a:noFill/>
        </p:spPr>
        <p:txBody>
          <a:bodyPr wrap="square" anchor="t">
            <a:spAutoFit/>
          </a:bodyPr>
          <a:lstStyle/>
          <a:p>
            <a:pPr algn="l">
              <a:lnSpc>
                <a:spcPct val="105000"/>
              </a:lnSpc>
              <a:spcBef>
                <a:spcPts val="0"/>
              </a:spcBef>
              <a:spcAft>
                <a:spcPts val="200"/>
              </a:spcAft>
            </a:pPr>
            <a:r>
              <a:rPr sz="2700" b="1">
                <a:solidFill>
                  <a:srgbClr val="F5F5F6"/>
                </a:solidFill>
                <a:latin typeface="Instrument Sans"/>
              </a:rPr>
              <a:t>Northstar monthly performance</a:t>
            </a:r>
          </a:p>
        </p:txBody>
      </p:sp>
      <p:sp>
        <p:nvSpPr>
          <p:cNvPr id="6" name="TextBox 5"/>
          <p:cNvSpPr txBox="1"/>
          <p:nvPr/>
        </p:nvSpPr>
        <p:spPr>
          <a:xfrm>
            <a:off x="5349240" y="2286000"/>
            <a:ext cx="6385255" cy="1097280"/>
          </a:xfrm>
          <a:prstGeom prst="rect">
            <a:avLst/>
          </a:prstGeom>
          <a:noFill/>
        </p:spPr>
        <p:txBody>
          <a:bodyPr wrap="square" anchor="t">
            <a:spAutoFit/>
          </a:bodyPr>
          <a:lstStyle/>
          <a:p>
            <a:pPr algn="l">
              <a:lnSpc>
                <a:spcPct val="125000"/>
              </a:lnSpc>
              <a:spcBef>
                <a:spcPts val="0"/>
              </a:spcBef>
              <a:spcAft>
                <a:spcPts val="200"/>
              </a:spcAft>
            </a:pPr>
            <a:r>
              <a:rPr sz="1500" b="0">
                <a:solidFill>
                  <a:srgbClr val="ACACB4"/>
                </a:solidFill>
                <a:latin typeface="Instrument Sans"/>
              </a:rPr>
              <a:t>A fictional dataset built for checkable analysis.</a:t>
            </a:r>
          </a:p>
        </p:txBody>
      </p:sp>
      <p:sp>
        <p:nvSpPr>
          <p:cNvPr id="7" name="Rounded Rectangle 6"/>
          <p:cNvSpPr/>
          <p:nvPr/>
        </p:nvSpPr>
        <p:spPr>
          <a:xfrm>
            <a:off x="5349240" y="3474720"/>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623559" y="3611879"/>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chart_2A2A30.png"/>
          <p:cNvPicPr>
            <a:picLocks noChangeAspect="1"/>
          </p:cNvPicPr>
          <p:nvPr/>
        </p:nvPicPr>
        <p:blipFill>
          <a:blip r:embed="rId4"/>
          <a:stretch>
            <a:fillRect/>
          </a:stretch>
        </p:blipFill>
        <p:spPr>
          <a:xfrm>
            <a:off x="5712439" y="3700759"/>
            <a:ext cx="151424" cy="151424"/>
          </a:xfrm>
          <a:prstGeom prst="rect">
            <a:avLst/>
          </a:prstGeom>
        </p:spPr>
      </p:pic>
      <p:sp>
        <p:nvSpPr>
          <p:cNvPr id="10" name="TextBox 9"/>
          <p:cNvSpPr txBox="1"/>
          <p:nvPr/>
        </p:nvSpPr>
        <p:spPr>
          <a:xfrm>
            <a:off x="6227064" y="3474720"/>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Premium</a:t>
            </a:r>
            <a:r>
              <a:rPr sz="1400" b="0">
                <a:solidFill>
                  <a:srgbClr val="ACACB4"/>
                </a:solidFill>
                <a:latin typeface="Instrument Sans"/>
              </a:rPr>
              <a:t>  -  actual, plan, and favorability by month</a:t>
            </a:r>
          </a:p>
        </p:txBody>
      </p:sp>
      <p:sp>
        <p:nvSpPr>
          <p:cNvPr id="11" name="Rounded Rectangle 10"/>
          <p:cNvSpPr/>
          <p:nvPr/>
        </p:nvSpPr>
        <p:spPr>
          <a:xfrm>
            <a:off x="5349240" y="4224528"/>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5623559" y="4361688"/>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scale_2A2A30.png"/>
          <p:cNvPicPr>
            <a:picLocks noChangeAspect="1"/>
          </p:cNvPicPr>
          <p:nvPr/>
        </p:nvPicPr>
        <p:blipFill>
          <a:blip r:embed="rId5"/>
          <a:stretch>
            <a:fillRect/>
          </a:stretch>
        </p:blipFill>
        <p:spPr>
          <a:xfrm>
            <a:off x="5712439" y="4450567"/>
            <a:ext cx="151424" cy="151424"/>
          </a:xfrm>
          <a:prstGeom prst="rect">
            <a:avLst/>
          </a:prstGeom>
        </p:spPr>
      </p:pic>
      <p:sp>
        <p:nvSpPr>
          <p:cNvPr id="14" name="TextBox 13"/>
          <p:cNvSpPr txBox="1"/>
          <p:nvPr/>
        </p:nvSpPr>
        <p:spPr>
          <a:xfrm>
            <a:off x="6227064" y="4224528"/>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Claims</a:t>
            </a:r>
            <a:r>
              <a:rPr sz="1400" b="0">
                <a:solidFill>
                  <a:srgbClr val="ACACB4"/>
                </a:solidFill>
                <a:latin typeface="Instrument Sans"/>
              </a:rPr>
              <a:t>  -  paid claims plus monthly loss-ratio context</a:t>
            </a:r>
          </a:p>
        </p:txBody>
      </p:sp>
      <p:sp>
        <p:nvSpPr>
          <p:cNvPr id="15" name="Rounded Rectangle 14"/>
          <p:cNvSpPr/>
          <p:nvPr/>
        </p:nvSpPr>
        <p:spPr>
          <a:xfrm>
            <a:off x="5349240" y="4974336"/>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5623559" y="5111496"/>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apps_2A2A30.png"/>
          <p:cNvPicPr>
            <a:picLocks noChangeAspect="1"/>
          </p:cNvPicPr>
          <p:nvPr/>
        </p:nvPicPr>
        <p:blipFill>
          <a:blip r:embed="rId6"/>
          <a:stretch>
            <a:fillRect/>
          </a:stretch>
        </p:blipFill>
        <p:spPr>
          <a:xfrm>
            <a:off x="5712439" y="5200375"/>
            <a:ext cx="151424" cy="151424"/>
          </a:xfrm>
          <a:prstGeom prst="rect">
            <a:avLst/>
          </a:prstGeom>
        </p:spPr>
      </p:pic>
      <p:sp>
        <p:nvSpPr>
          <p:cNvPr id="18" name="TextBox 17"/>
          <p:cNvSpPr txBox="1"/>
          <p:nvPr/>
        </p:nvSpPr>
        <p:spPr>
          <a:xfrm>
            <a:off x="6227064" y="4974336"/>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Expense</a:t>
            </a:r>
            <a:r>
              <a:rPr sz="1400" b="0">
                <a:solidFill>
                  <a:srgbClr val="ACACB4"/>
                </a:solidFill>
                <a:latin typeface="Instrument Sans"/>
              </a:rPr>
              <a:t>  -  operating expense and prior-month comparison</a:t>
            </a:r>
          </a:p>
        </p:txBody>
      </p:sp>
      <p:sp>
        <p:nvSpPr>
          <p:cNvPr id="19" name="Rounded Rectangle 18"/>
          <p:cNvSpPr/>
          <p:nvPr/>
        </p:nvSpPr>
        <p:spPr>
          <a:xfrm>
            <a:off x="5349240" y="5724144"/>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623559" y="5861304"/>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eye_2A2A30.png"/>
          <p:cNvPicPr>
            <a:picLocks noChangeAspect="1"/>
          </p:cNvPicPr>
          <p:nvPr/>
        </p:nvPicPr>
        <p:blipFill>
          <a:blip r:embed="rId7"/>
          <a:stretch>
            <a:fillRect/>
          </a:stretch>
        </p:blipFill>
        <p:spPr>
          <a:xfrm>
            <a:off x="5712439" y="5950183"/>
            <a:ext cx="151424" cy="151424"/>
          </a:xfrm>
          <a:prstGeom prst="rect">
            <a:avLst/>
          </a:prstGeom>
        </p:spPr>
      </p:pic>
      <p:sp>
        <p:nvSpPr>
          <p:cNvPr id="22" name="TextBox 21"/>
          <p:cNvSpPr txBox="1"/>
          <p:nvPr/>
        </p:nvSpPr>
        <p:spPr>
          <a:xfrm>
            <a:off x="6227064" y="5724144"/>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Quality controls</a:t>
            </a:r>
            <a:r>
              <a:rPr sz="1400" b="0">
                <a:solidFill>
                  <a:srgbClr val="ACACB4"/>
                </a:solidFill>
                <a:latin typeface="Instrument Sans"/>
              </a:rPr>
              <a:t>  -  owner and neutral data-quality flags</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28282B"/>
        </a:solidFill>
        <a:effectLst/>
      </p:bgPr>
    </p:bg>
    <p:spTree>
      <p:nvGrpSpPr>
        <p:cNvPr id="1" name=""/>
        <p:cNvGrpSpPr/>
        <p:nvPr/>
      </p:nvGrpSpPr>
      <p:grpSpPr>
        <a:xfrm>
          <a:off x="0" y="0"/>
          <a:ext cx="0" cy="0"/>
          <a:chOff x="0" y="0"/>
          <a:chExt cx="0" cy="0"/>
        </a:xfrm>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LIVE DEMONSTRATION</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Create the first analysis</a:t>
            </a:r>
          </a:p>
        </p:txBody>
      </p:sp>
      <p:pic>
        <p:nvPicPr>
          <p:cNvPr id="4" name="Picture 3" descr="bg_3.png"/>
          <p:cNvPicPr>
            <a:picLocks noChangeAspect="1"/>
          </p:cNvPicPr>
          <p:nvPr/>
        </p:nvPicPr>
        <p:blipFill>
          <a:blip r:embed="rId3"/>
          <a:stretch>
            <a:fillRect/>
          </a:stretch>
        </p:blipFill>
        <p:spPr>
          <a:xfrm>
            <a:off x="640080" y="1920240"/>
            <a:ext cx="4480560" cy="4206240"/>
          </a:xfrm>
          <a:prstGeom prst="rect">
            <a:avLst/>
          </a:prstGeom>
        </p:spPr>
      </p:pic>
      <p:sp>
        <p:nvSpPr>
          <p:cNvPr id="5" name="TextBox 4"/>
          <p:cNvSpPr txBox="1"/>
          <p:nvPr/>
        </p:nvSpPr>
        <p:spPr>
          <a:xfrm>
            <a:off x="5394960" y="1828800"/>
            <a:ext cx="6126480"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DEMO</a:t>
            </a:r>
          </a:p>
        </p:txBody>
      </p:sp>
      <p:sp>
        <p:nvSpPr>
          <p:cNvPr id="6" name="TextBox 5"/>
          <p:cNvSpPr txBox="1"/>
          <p:nvPr/>
        </p:nvSpPr>
        <p:spPr>
          <a:xfrm>
            <a:off x="5394960" y="2395728"/>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1</a:t>
            </a:r>
          </a:p>
        </p:txBody>
      </p:sp>
      <p:sp>
        <p:nvSpPr>
          <p:cNvPr id="7" name="TextBox 6"/>
          <p:cNvSpPr txBox="1"/>
          <p:nvPr/>
        </p:nvSpPr>
        <p:spPr>
          <a:xfrm>
            <a:off x="5961888" y="2395728"/>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Open PerformanceData in Northstar_Life_Monthly_Performance.xlsx</a:t>
            </a:r>
          </a:p>
        </p:txBody>
      </p:sp>
      <p:sp>
        <p:nvSpPr>
          <p:cNvPr id="8" name="TextBox 7"/>
          <p:cNvSpPr txBox="1"/>
          <p:nvPr/>
        </p:nvSpPr>
        <p:spPr>
          <a:xfrm>
            <a:off x="5394960" y="3145536"/>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2</a:t>
            </a:r>
          </a:p>
        </p:txBody>
      </p:sp>
      <p:sp>
        <p:nvSpPr>
          <p:cNvPr id="9" name="TextBox 8"/>
          <p:cNvSpPr txBox="1"/>
          <p:nvPr/>
        </p:nvSpPr>
        <p:spPr>
          <a:xfrm>
            <a:off x="5961888" y="3145536"/>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Run the ranked-variance contract prompt</a:t>
            </a:r>
          </a:p>
        </p:txBody>
      </p:sp>
      <p:sp>
        <p:nvSpPr>
          <p:cNvPr id="10" name="TextBox 9"/>
          <p:cNvSpPr txBox="1"/>
          <p:nvPr/>
        </p:nvSpPr>
        <p:spPr>
          <a:xfrm>
            <a:off x="5394960" y="3895344"/>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3</a:t>
            </a:r>
          </a:p>
        </p:txBody>
      </p:sp>
      <p:sp>
        <p:nvSpPr>
          <p:cNvPr id="11" name="TextBox 10"/>
          <p:cNvSpPr txBox="1"/>
          <p:nvPr/>
        </p:nvSpPr>
        <p:spPr>
          <a:xfrm>
            <a:off x="5961888" y="3895344"/>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Recalculate the top row in Excel</a:t>
            </a:r>
          </a:p>
        </p:txBody>
      </p:sp>
      <p:sp>
        <p:nvSpPr>
          <p:cNvPr id="12" name="Rectangle 1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4" name="TextBox 1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28282B"/>
        </a:solidFill>
        <a:effectLst/>
      </p:bgPr>
    </p:bg>
    <p:spTree>
      <p:nvGrpSpPr>
        <p:cNvPr id="1" name=""/>
        <p:cNvGrpSpPr/>
        <p:nvPr/>
      </p:nvGrpSpPr>
      <p:grpSpPr>
        <a:xfrm>
          <a:off x="0" y="0"/>
          <a:ext cx="0" cy="0"/>
          <a:chOff x="0" y="0"/>
          <a:chExt cx="0" cy="0"/>
        </a:xfrm>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REFINEMENT CONTROLS</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100" b="1">
                <a:solidFill>
                  <a:srgbClr val="F5F5F6"/>
                </a:solidFill>
                <a:latin typeface="Instrument Sans"/>
              </a:rPr>
              <a:t>Make analysis management-relevant</a:t>
            </a:r>
          </a:p>
        </p:txBody>
      </p:sp>
      <p:sp>
        <p:nvSpPr>
          <p:cNvPr id="4" name="Rounded Rectangle 3"/>
          <p:cNvSpPr/>
          <p:nvPr/>
        </p:nvSpPr>
        <p:spPr>
          <a:xfrm>
            <a:off x="640080" y="2651760"/>
            <a:ext cx="1889150"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907791"/>
            <a:ext cx="1340510"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01</a:t>
            </a:r>
          </a:p>
        </p:txBody>
      </p:sp>
      <p:sp>
        <p:nvSpPr>
          <p:cNvPr id="6" name="TextBox 5"/>
          <p:cNvSpPr txBox="1"/>
          <p:nvPr/>
        </p:nvSpPr>
        <p:spPr>
          <a:xfrm>
            <a:off x="914400" y="3566160"/>
            <a:ext cx="1340510" cy="310896"/>
          </a:xfrm>
          <a:prstGeom prst="rect">
            <a:avLst/>
          </a:prstGeom>
          <a:noFill/>
        </p:spPr>
        <p:txBody>
          <a:bodyPr wrap="square" anchor="t">
            <a:spAutoFit/>
          </a:bodyPr>
          <a:lstStyle/>
          <a:p>
            <a:pPr algn="l">
              <a:lnSpc>
                <a:spcPct val="100000"/>
              </a:lnSpc>
              <a:spcBef>
                <a:spcPts val="0"/>
              </a:spcBef>
              <a:spcAft>
                <a:spcPts val="200"/>
              </a:spcAft>
            </a:pPr>
            <a:r>
              <a:rPr sz="1800" b="1">
                <a:solidFill>
                  <a:srgbClr val="F5F5F6"/>
                </a:solidFill>
                <a:latin typeface="Instrument Sans"/>
              </a:rPr>
              <a:t>Rank</a:t>
            </a:r>
          </a:p>
        </p:txBody>
      </p:sp>
      <p:sp>
        <p:nvSpPr>
          <p:cNvPr id="7" name="TextBox 6"/>
          <p:cNvSpPr txBox="1"/>
          <p:nvPr/>
        </p:nvSpPr>
        <p:spPr>
          <a:xfrm>
            <a:off x="914400" y="4041648"/>
            <a:ext cx="1340510" cy="635508"/>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materiality first</a:t>
            </a:r>
          </a:p>
        </p:txBody>
      </p:sp>
      <p:sp>
        <p:nvSpPr>
          <p:cNvPr id="8" name="TextBox 7"/>
          <p:cNvSpPr txBox="1"/>
          <p:nvPr/>
        </p:nvSpPr>
        <p:spPr>
          <a:xfrm>
            <a:off x="2547518"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9" name="Rounded Rectangle 8"/>
          <p:cNvSpPr/>
          <p:nvPr/>
        </p:nvSpPr>
        <p:spPr>
          <a:xfrm>
            <a:off x="2894990" y="2651760"/>
            <a:ext cx="1889150"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169310" y="2907791"/>
            <a:ext cx="1340510"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02</a:t>
            </a:r>
          </a:p>
        </p:txBody>
      </p:sp>
      <p:sp>
        <p:nvSpPr>
          <p:cNvPr id="11" name="TextBox 10"/>
          <p:cNvSpPr txBox="1"/>
          <p:nvPr/>
        </p:nvSpPr>
        <p:spPr>
          <a:xfrm>
            <a:off x="3169310" y="3566160"/>
            <a:ext cx="1340510" cy="310896"/>
          </a:xfrm>
          <a:prstGeom prst="rect">
            <a:avLst/>
          </a:prstGeom>
          <a:noFill/>
        </p:spPr>
        <p:txBody>
          <a:bodyPr wrap="square" anchor="t">
            <a:spAutoFit/>
          </a:bodyPr>
          <a:lstStyle/>
          <a:p>
            <a:pPr algn="l">
              <a:lnSpc>
                <a:spcPct val="100000"/>
              </a:lnSpc>
              <a:spcBef>
                <a:spcPts val="0"/>
              </a:spcBef>
              <a:spcAft>
                <a:spcPts val="200"/>
              </a:spcAft>
            </a:pPr>
            <a:r>
              <a:rPr sz="1800" b="1">
                <a:solidFill>
                  <a:srgbClr val="F5F5F6"/>
                </a:solidFill>
                <a:latin typeface="Instrument Sans"/>
              </a:rPr>
              <a:t>Group</a:t>
            </a:r>
          </a:p>
        </p:txBody>
      </p:sp>
      <p:sp>
        <p:nvSpPr>
          <p:cNvPr id="12" name="TextBox 11"/>
          <p:cNvSpPr txBox="1"/>
          <p:nvPr/>
        </p:nvSpPr>
        <p:spPr>
          <a:xfrm>
            <a:off x="3169310" y="4041648"/>
            <a:ext cx="1340510" cy="635508"/>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driver not noise</a:t>
            </a:r>
          </a:p>
        </p:txBody>
      </p:sp>
      <p:sp>
        <p:nvSpPr>
          <p:cNvPr id="13" name="TextBox 12"/>
          <p:cNvSpPr txBox="1"/>
          <p:nvPr/>
        </p:nvSpPr>
        <p:spPr>
          <a:xfrm>
            <a:off x="4802428"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14" name="Rounded Rectangle 13"/>
          <p:cNvSpPr/>
          <p:nvPr/>
        </p:nvSpPr>
        <p:spPr>
          <a:xfrm>
            <a:off x="5149900" y="2651760"/>
            <a:ext cx="1889150"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24220" y="2907791"/>
            <a:ext cx="1340510"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03</a:t>
            </a:r>
          </a:p>
        </p:txBody>
      </p:sp>
      <p:sp>
        <p:nvSpPr>
          <p:cNvPr id="16" name="TextBox 15"/>
          <p:cNvSpPr txBox="1"/>
          <p:nvPr/>
        </p:nvSpPr>
        <p:spPr>
          <a:xfrm>
            <a:off x="5424220" y="3566160"/>
            <a:ext cx="1340510" cy="310896"/>
          </a:xfrm>
          <a:prstGeom prst="rect">
            <a:avLst/>
          </a:prstGeom>
          <a:noFill/>
        </p:spPr>
        <p:txBody>
          <a:bodyPr wrap="square" anchor="t">
            <a:spAutoFit/>
          </a:bodyPr>
          <a:lstStyle/>
          <a:p>
            <a:pPr algn="l">
              <a:lnSpc>
                <a:spcPct val="100000"/>
              </a:lnSpc>
              <a:spcBef>
                <a:spcPts val="0"/>
              </a:spcBef>
              <a:spcAft>
                <a:spcPts val="200"/>
              </a:spcAft>
            </a:pPr>
            <a:r>
              <a:rPr sz="1800" b="1">
                <a:solidFill>
                  <a:srgbClr val="F5F5F6"/>
                </a:solidFill>
                <a:latin typeface="Instrument Sans"/>
              </a:rPr>
              <a:t>Delta</a:t>
            </a:r>
          </a:p>
        </p:txBody>
      </p:sp>
      <p:sp>
        <p:nvSpPr>
          <p:cNvPr id="17" name="TextBox 16"/>
          <p:cNvSpPr txBox="1"/>
          <p:nvPr/>
        </p:nvSpPr>
        <p:spPr>
          <a:xfrm>
            <a:off x="5424220" y="4041648"/>
            <a:ext cx="1340510" cy="635508"/>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plan + prior period</a:t>
            </a:r>
          </a:p>
        </p:txBody>
      </p:sp>
      <p:sp>
        <p:nvSpPr>
          <p:cNvPr id="18" name="TextBox 17"/>
          <p:cNvSpPr txBox="1"/>
          <p:nvPr/>
        </p:nvSpPr>
        <p:spPr>
          <a:xfrm>
            <a:off x="7057339"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19" name="Rounded Rectangle 18"/>
          <p:cNvSpPr/>
          <p:nvPr/>
        </p:nvSpPr>
        <p:spPr>
          <a:xfrm>
            <a:off x="7404811" y="2651760"/>
            <a:ext cx="1889150"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679131" y="2907791"/>
            <a:ext cx="1340510"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04</a:t>
            </a:r>
          </a:p>
        </p:txBody>
      </p:sp>
      <p:sp>
        <p:nvSpPr>
          <p:cNvPr id="21" name="TextBox 20"/>
          <p:cNvSpPr txBox="1"/>
          <p:nvPr/>
        </p:nvSpPr>
        <p:spPr>
          <a:xfrm>
            <a:off x="7679131" y="3566160"/>
            <a:ext cx="1340510" cy="310896"/>
          </a:xfrm>
          <a:prstGeom prst="rect">
            <a:avLst/>
          </a:prstGeom>
          <a:noFill/>
        </p:spPr>
        <p:txBody>
          <a:bodyPr wrap="square" anchor="t">
            <a:spAutoFit/>
          </a:bodyPr>
          <a:lstStyle/>
          <a:p>
            <a:pPr algn="l">
              <a:lnSpc>
                <a:spcPct val="100000"/>
              </a:lnSpc>
              <a:spcBef>
                <a:spcPts val="0"/>
              </a:spcBef>
              <a:spcAft>
                <a:spcPts val="200"/>
              </a:spcAft>
            </a:pPr>
            <a:r>
              <a:rPr sz="1800" b="1">
                <a:solidFill>
                  <a:srgbClr val="F5F5F6"/>
                </a:solidFill>
                <a:latin typeface="Instrument Sans"/>
              </a:rPr>
              <a:t>Test</a:t>
            </a:r>
          </a:p>
        </p:txBody>
      </p:sp>
      <p:sp>
        <p:nvSpPr>
          <p:cNvPr id="22" name="TextBox 21"/>
          <p:cNvSpPr txBox="1"/>
          <p:nvPr/>
        </p:nvSpPr>
        <p:spPr>
          <a:xfrm>
            <a:off x="7679131" y="4041648"/>
            <a:ext cx="1340510" cy="635508"/>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weak causes</a:t>
            </a:r>
          </a:p>
        </p:txBody>
      </p:sp>
      <p:sp>
        <p:nvSpPr>
          <p:cNvPr id="23" name="TextBox 22"/>
          <p:cNvSpPr txBox="1"/>
          <p:nvPr/>
        </p:nvSpPr>
        <p:spPr>
          <a:xfrm>
            <a:off x="9312249"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24" name="Rounded Rectangle 23"/>
          <p:cNvSpPr/>
          <p:nvPr/>
        </p:nvSpPr>
        <p:spPr>
          <a:xfrm>
            <a:off x="9659721" y="2651760"/>
            <a:ext cx="1889150"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934041" y="2907791"/>
            <a:ext cx="1340510"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05</a:t>
            </a:r>
          </a:p>
        </p:txBody>
      </p:sp>
      <p:sp>
        <p:nvSpPr>
          <p:cNvPr id="26" name="TextBox 25"/>
          <p:cNvSpPr txBox="1"/>
          <p:nvPr/>
        </p:nvSpPr>
        <p:spPr>
          <a:xfrm>
            <a:off x="9934041" y="3566160"/>
            <a:ext cx="1340510" cy="310896"/>
          </a:xfrm>
          <a:prstGeom prst="rect">
            <a:avLst/>
          </a:prstGeom>
          <a:noFill/>
        </p:spPr>
        <p:txBody>
          <a:bodyPr wrap="square" anchor="t">
            <a:spAutoFit/>
          </a:bodyPr>
          <a:lstStyle/>
          <a:p>
            <a:pPr algn="l">
              <a:lnSpc>
                <a:spcPct val="100000"/>
              </a:lnSpc>
              <a:spcBef>
                <a:spcPts val="0"/>
              </a:spcBef>
              <a:spcAft>
                <a:spcPts val="200"/>
              </a:spcAft>
            </a:pPr>
            <a:r>
              <a:rPr sz="1800" b="1">
                <a:solidFill>
                  <a:srgbClr val="F5F5F6"/>
                </a:solidFill>
                <a:latin typeface="Instrument Sans"/>
              </a:rPr>
              <a:t>Format</a:t>
            </a:r>
          </a:p>
        </p:txBody>
      </p:sp>
      <p:sp>
        <p:nvSpPr>
          <p:cNvPr id="27" name="TextBox 26"/>
          <p:cNvSpPr txBox="1"/>
          <p:nvPr/>
        </p:nvSpPr>
        <p:spPr>
          <a:xfrm>
            <a:off x="9934041" y="4041648"/>
            <a:ext cx="1340510" cy="635508"/>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decision brief</a:t>
            </a:r>
          </a:p>
        </p:txBody>
      </p:sp>
      <p:sp>
        <p:nvSpPr>
          <p:cNvPr id="28" name="Rectangle 27"/>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30" name="TextBox 29"/>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22</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28282B"/>
        </a:solidFill>
        <a:effectLst/>
      </p:bgPr>
    </p:bg>
    <p:spTree>
      <p:nvGrpSpPr>
        <p:cNvPr id="1" name=""/>
        <p:cNvGrpSpPr/>
        <p:nvPr/>
      </p:nvGrpSpPr>
      <p:grpSpPr>
        <a:xfrm>
          <a:off x="0" y="0"/>
          <a:ext cx="0" cy="0"/>
          <a:chOff x="0" y="0"/>
          <a:chExt cx="0" cy="0"/>
        </a:xfrm>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FOLLOW ALONG - PASTE THIS</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Refine for management attention</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What you are practicing</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Rank by materiality</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Use finance language precisely</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Separate supported driver from hypothesis</a:t>
            </a:r>
          </a:p>
        </p:txBody>
      </p:sp>
      <p:sp>
        <p:nvSpPr>
          <p:cNvPr id="12" name="Rectangle 11"/>
          <p:cNvSpPr/>
          <p:nvPr/>
        </p:nvSpPr>
        <p:spPr>
          <a:xfrm>
            <a:off x="914400" y="4553712"/>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07008" y="4443984"/>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File: Northstar_Monthly_Review_Notes.docx</a:t>
            </a:r>
          </a:p>
        </p:txBody>
      </p:sp>
      <p:sp>
        <p:nvSpPr>
          <p:cNvPr id="14" name="TextBox 13"/>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PASTE THIS</a:t>
            </a:r>
          </a:p>
        </p:txBody>
      </p:sp>
      <p:sp>
        <p:nvSpPr>
          <p:cNvPr id="15" name="Rounded Rectangle 14"/>
          <p:cNvSpPr/>
          <p:nvPr/>
        </p:nvSpPr>
        <p:spPr>
          <a:xfrm>
            <a:off x="7040880" y="2286000"/>
            <a:ext cx="4507992" cy="154838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8" name="TextBox 17"/>
          <p:cNvSpPr txBox="1"/>
          <p:nvPr/>
        </p:nvSpPr>
        <p:spPr>
          <a:xfrm>
            <a:off x="7699248" y="2670048"/>
            <a:ext cx="3593591" cy="1109472"/>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Reframe the analysis for a finance director. Lead with the three material findings, quantify each, and separate supported explanations from hypotheses.</a:t>
            </a:r>
          </a:p>
        </p:txBody>
      </p:sp>
      <p:sp>
        <p:nvSpPr>
          <p:cNvPr id="19" name="Rounded Rectangle 18"/>
          <p:cNvSpPr/>
          <p:nvPr/>
        </p:nvSpPr>
        <p:spPr>
          <a:xfrm>
            <a:off x="7040880" y="3980688"/>
            <a:ext cx="4507992" cy="154838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242048" y="4145280"/>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242048" y="4126992"/>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2" name="TextBox 21"/>
          <p:cNvSpPr txBox="1"/>
          <p:nvPr/>
        </p:nvSpPr>
        <p:spPr>
          <a:xfrm>
            <a:off x="7699248" y="4364736"/>
            <a:ext cx="3593591" cy="1109472"/>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After opening the review notes, state which hypotheses the notes support, contradict, or leave unresolved. Do not upgrade a hypothesis to fact without direct evidence.</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23</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28282B"/>
        </a:solidFill>
        <a:effectLst/>
      </p:bgPr>
    </p:bg>
    <p:spTree>
      <p:nvGrpSpPr>
        <p:cNvPr id="1" name=""/>
        <p:cNvGrpSpPr/>
        <p:nvPr/>
      </p:nvGrpSpPr>
      <p:grpSpPr>
        <a:xfrm>
          <a:off x="0" y="0"/>
          <a:ext cx="0" cy="0"/>
          <a:chOff x="0" y="0"/>
          <a:chExt cx="0" cy="0"/>
        </a:xfrm>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LIVE DEMONSTRATION</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Refine without inventing cause</a:t>
            </a:r>
          </a:p>
        </p:txBody>
      </p:sp>
      <p:pic>
        <p:nvPicPr>
          <p:cNvPr id="4" name="Picture 3" descr="bg_9.png"/>
          <p:cNvPicPr>
            <a:picLocks noChangeAspect="1"/>
          </p:cNvPicPr>
          <p:nvPr/>
        </p:nvPicPr>
        <p:blipFill>
          <a:blip r:embed="rId3"/>
          <a:stretch>
            <a:fillRect/>
          </a:stretch>
        </p:blipFill>
        <p:spPr>
          <a:xfrm>
            <a:off x="640080" y="1920240"/>
            <a:ext cx="4480560" cy="4206240"/>
          </a:xfrm>
          <a:prstGeom prst="rect">
            <a:avLst/>
          </a:prstGeom>
        </p:spPr>
      </p:pic>
      <p:sp>
        <p:nvSpPr>
          <p:cNvPr id="5" name="TextBox 4"/>
          <p:cNvSpPr txBox="1"/>
          <p:nvPr/>
        </p:nvSpPr>
        <p:spPr>
          <a:xfrm>
            <a:off x="5394960" y="1828800"/>
            <a:ext cx="6126480"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DEMO</a:t>
            </a:r>
          </a:p>
        </p:txBody>
      </p:sp>
      <p:sp>
        <p:nvSpPr>
          <p:cNvPr id="6" name="TextBox 5"/>
          <p:cNvSpPr txBox="1"/>
          <p:nvPr/>
        </p:nvSpPr>
        <p:spPr>
          <a:xfrm>
            <a:off x="5394960" y="2395728"/>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1</a:t>
            </a:r>
          </a:p>
        </p:txBody>
      </p:sp>
      <p:sp>
        <p:nvSpPr>
          <p:cNvPr id="7" name="TextBox 6"/>
          <p:cNvSpPr txBox="1"/>
          <p:nvPr/>
        </p:nvSpPr>
        <p:spPr>
          <a:xfrm>
            <a:off x="5961888" y="2395728"/>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Freeze the ranked output first</a:t>
            </a:r>
          </a:p>
        </p:txBody>
      </p:sp>
      <p:sp>
        <p:nvSpPr>
          <p:cNvPr id="8" name="TextBox 7"/>
          <p:cNvSpPr txBox="1"/>
          <p:nvPr/>
        </p:nvSpPr>
        <p:spPr>
          <a:xfrm>
            <a:off x="5394960" y="3145536"/>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2</a:t>
            </a:r>
          </a:p>
        </p:txBody>
      </p:sp>
      <p:sp>
        <p:nvSpPr>
          <p:cNvPr id="9" name="TextBox 8"/>
          <p:cNvSpPr txBox="1"/>
          <p:nvPr/>
        </p:nvSpPr>
        <p:spPr>
          <a:xfrm>
            <a:off x="5961888" y="3145536"/>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Open Northstar_Monthly_Review_Notes.docx</a:t>
            </a:r>
          </a:p>
        </p:txBody>
      </p:sp>
      <p:sp>
        <p:nvSpPr>
          <p:cNvPr id="10" name="TextBox 9"/>
          <p:cNvSpPr txBox="1"/>
          <p:nvPr/>
        </p:nvSpPr>
        <p:spPr>
          <a:xfrm>
            <a:off x="5394960" y="3895344"/>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3</a:t>
            </a:r>
          </a:p>
        </p:txBody>
      </p:sp>
      <p:sp>
        <p:nvSpPr>
          <p:cNvPr id="11" name="TextBox 10"/>
          <p:cNvSpPr txBox="1"/>
          <p:nvPr/>
        </p:nvSpPr>
        <p:spPr>
          <a:xfrm>
            <a:off x="5961888" y="3895344"/>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Scope every explanation to its note</a:t>
            </a:r>
          </a:p>
        </p:txBody>
      </p:sp>
      <p:sp>
        <p:nvSpPr>
          <p:cNvPr id="12" name="Rectangle 1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4" name="TextBox 1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24</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28282B"/>
        </a:solidFill>
        <a:effectLst/>
      </p:bgPr>
    </p:bg>
    <p:spTree>
      <p:nvGrpSpPr>
        <p:cNvPr id="1" name=""/>
        <p:cNvGrpSpPr/>
        <p:nvPr/>
      </p:nvGrpSpPr>
      <p:grpSpPr>
        <a:xfrm>
          <a:off x="0" y="0"/>
          <a:ext cx="0" cy="0"/>
          <a:chOff x="0" y="0"/>
          <a:chExt cx="0" cy="0"/>
        </a:xfrm>
      </p:grpSpPr>
      <p:pic>
        <p:nvPicPr>
          <p:cNvPr id="2" name="Picture 1" descr="bg_10.png"/>
          <p:cNvPicPr>
            <a:picLocks noChangeAspect="1"/>
          </p:cNvPicPr>
          <p:nvPr/>
        </p:nvPicPr>
        <p:blipFill>
          <a:blip r:embed="rId3"/>
          <a:stretch>
            <a:fillRect/>
          </a:stretch>
        </p:blipFill>
        <p:spPr>
          <a:xfrm>
            <a:off x="6355080" y="0"/>
            <a:ext cx="5833872" cy="6858000"/>
          </a:xfrm>
          <a:prstGeom prst="rect">
            <a:avLst/>
          </a:prstGeom>
        </p:spPr>
      </p:pic>
      <p:sp>
        <p:nvSpPr>
          <p:cNvPr id="3" name="Rectangle 2"/>
          <p:cNvSpPr/>
          <p:nvPr/>
        </p:nvSpPr>
        <p:spPr>
          <a:xfrm>
            <a:off x="635508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85800" y="2542032"/>
            <a:ext cx="548640" cy="54864"/>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2706624"/>
            <a:ext cx="54864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MODULE 4 - VERIFY AND PRESENT</a:t>
            </a:r>
          </a:p>
        </p:txBody>
      </p:sp>
      <p:sp>
        <p:nvSpPr>
          <p:cNvPr id="6" name="TextBox 5"/>
          <p:cNvSpPr txBox="1"/>
          <p:nvPr/>
        </p:nvSpPr>
        <p:spPr>
          <a:xfrm>
            <a:off x="658368" y="3054096"/>
            <a:ext cx="5532120" cy="1783080"/>
          </a:xfrm>
          <a:prstGeom prst="rect">
            <a:avLst/>
          </a:prstGeom>
          <a:noFill/>
        </p:spPr>
        <p:txBody>
          <a:bodyPr wrap="square" anchor="t">
            <a:spAutoFit/>
          </a:bodyPr>
          <a:lstStyle/>
          <a:p>
            <a:pPr algn="l">
              <a:lnSpc>
                <a:spcPct val="102000"/>
              </a:lnSpc>
              <a:spcBef>
                <a:spcPts val="0"/>
              </a:spcBef>
              <a:spcAft>
                <a:spcPts val="200"/>
              </a:spcAft>
            </a:pPr>
            <a:r>
              <a:rPr sz="3400" b="1">
                <a:solidFill>
                  <a:srgbClr val="F5F5F6"/>
                </a:solidFill>
                <a:latin typeface="Instrument Sans"/>
              </a:rPr>
              <a:t>Verify every material claim</a:t>
            </a:r>
          </a:p>
        </p:txBody>
      </p:sp>
      <p:sp>
        <p:nvSpPr>
          <p:cNvPr id="7" name="TextBox 6"/>
          <p:cNvSpPr txBox="1"/>
          <p:nvPr/>
        </p:nvSpPr>
        <p:spPr>
          <a:xfrm>
            <a:off x="685800" y="4864608"/>
            <a:ext cx="5440680" cy="420624"/>
          </a:xfrm>
          <a:prstGeom prst="rect">
            <a:avLst/>
          </a:prstGeom>
          <a:noFill/>
        </p:spPr>
        <p:txBody>
          <a:bodyPr wrap="square" anchor="t">
            <a:normAutofit/>
          </a:bodyPr>
          <a:lstStyle/>
          <a:p>
            <a:pPr algn="l">
              <a:lnSpc>
                <a:spcPct val="105000"/>
              </a:lnSpc>
              <a:spcBef>
                <a:spcPts val="0"/>
              </a:spcBef>
              <a:spcAft>
                <a:spcPts val="200"/>
              </a:spcAft>
            </a:pPr>
            <a:r>
              <a:rPr sz="1700" b="0">
                <a:solidFill>
                  <a:srgbClr val="ACACB4"/>
                </a:solidFill>
                <a:latin typeface="Instrument Sans"/>
              </a:rPr>
              <a:t>Make the evidence trail visible before the narrative ships.</a:t>
            </a:r>
          </a:p>
        </p:txBody>
      </p:sp>
      <p:sp>
        <p:nvSpPr>
          <p:cNvPr id="8" name="TextBox 7"/>
          <p:cNvSpPr txBox="1"/>
          <p:nvPr/>
        </p:nvSpPr>
        <p:spPr>
          <a:xfrm>
            <a:off x="685800" y="5513832"/>
            <a:ext cx="5440680" cy="603504"/>
          </a:xfrm>
          <a:prstGeom prst="rect">
            <a:avLst/>
          </a:prstGeom>
          <a:noFill/>
        </p:spPr>
        <p:txBody>
          <a:bodyPr wrap="square" anchor="t">
            <a:normAutofit/>
          </a:bodyPr>
          <a:lstStyle/>
          <a:p>
            <a:pPr algn="l">
              <a:lnSpc>
                <a:spcPct val="102000"/>
              </a:lnSpc>
              <a:spcBef>
                <a:spcPts val="0"/>
              </a:spcBef>
              <a:spcAft>
                <a:spcPts val="200"/>
              </a:spcAft>
            </a:pPr>
            <a:r>
              <a:rPr sz="1200" b="1" spc="120">
                <a:solidFill>
                  <a:srgbClr val="8B8B93"/>
                </a:solidFill>
                <a:latin typeface="Instrument Sans"/>
              </a:rPr>
              <a:t>OBJECTIVE · </a:t>
            </a:r>
            <a:r>
              <a:rPr sz="1250" b="0">
                <a:solidFill>
                  <a:srgbClr val="ACACB4"/>
                </a:solidFill>
                <a:latin typeface="Instrument Sans"/>
              </a:rPr>
              <a:t>MS-4004 Finance: validate Copilot-generated financial analysis, retain human accountability, and communicate the result</a:t>
            </a:r>
          </a:p>
        </p:txBody>
      </p:sp>
      <p:sp>
        <p:nvSpPr>
          <p:cNvPr id="9" name="Rectangle 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1" name="TextBox 1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25</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28282B"/>
        </a:solidFill>
        <a:effectLst/>
      </p:bgPr>
    </p:bg>
    <p:spTree>
      <p:nvGrpSpPr>
        <p:cNvPr id="1" name=""/>
        <p:cNvGrpSpPr/>
        <p:nvPr/>
      </p:nvGrpSpPr>
      <p:grpSpPr>
        <a:xfrm>
          <a:off x="0" y="0"/>
          <a:ext cx="0" cy="0"/>
          <a:chOff x="0" y="0"/>
          <a:chExt cx="0" cy="0"/>
        </a:xfrm>
      </p:grpSpPr>
      <p:pic>
        <p:nvPicPr>
          <p:cNvPr id="2" name="Picture 1" descr="bg_11.png"/>
          <p:cNvPicPr>
            <a:picLocks noChangeAspect="1"/>
          </p:cNvPicPr>
          <p:nvPr/>
        </p:nvPicPr>
        <p:blipFill>
          <a:blip r:embed="rId3"/>
          <a:stretch>
            <a:fillRect/>
          </a:stretch>
        </p:blipFill>
        <p:spPr>
          <a:xfrm>
            <a:off x="0" y="0"/>
            <a:ext cx="4800600" cy="6437376"/>
          </a:xfrm>
          <a:prstGeom prst="rect">
            <a:avLst/>
          </a:prstGeom>
        </p:spPr>
      </p:pic>
      <p:sp>
        <p:nvSpPr>
          <p:cNvPr id="3" name="Rectangle 2"/>
          <p:cNvSpPr/>
          <p:nvPr/>
        </p:nvSpPr>
        <p:spPr>
          <a:xfrm>
            <a:off x="4800600" y="0"/>
            <a:ext cx="45720"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49240" y="603504"/>
            <a:ext cx="6385255" cy="274320"/>
          </a:xfrm>
          <a:prstGeom prst="rect">
            <a:avLst/>
          </a:prstGeom>
          <a:noFill/>
        </p:spPr>
        <p:txBody>
          <a:bodyPr wrap="square" anchor="t">
            <a:spAutoFit/>
          </a:bodyPr>
          <a:lstStyle/>
          <a:p>
            <a:pPr algn="l">
              <a:lnSpc>
                <a:spcPct val="100000"/>
              </a:lnSpc>
              <a:spcBef>
                <a:spcPts val="0"/>
              </a:spcBef>
              <a:spcAft>
                <a:spcPts val="200"/>
              </a:spcAft>
            </a:pPr>
            <a:r>
              <a:rPr sz="1300" b="1" spc="160">
                <a:solidFill>
                  <a:srgbClr val="8B8B93"/>
                </a:solidFill>
                <a:latin typeface="Instrument Sans"/>
              </a:rPr>
              <a:t>KEY CONCEPT</a:t>
            </a:r>
          </a:p>
        </p:txBody>
      </p:sp>
      <p:sp>
        <p:nvSpPr>
          <p:cNvPr id="5" name="TextBox 4"/>
          <p:cNvSpPr txBox="1"/>
          <p:nvPr/>
        </p:nvSpPr>
        <p:spPr>
          <a:xfrm>
            <a:off x="5349240" y="969264"/>
            <a:ext cx="6385255" cy="1143000"/>
          </a:xfrm>
          <a:prstGeom prst="rect">
            <a:avLst/>
          </a:prstGeom>
          <a:noFill/>
        </p:spPr>
        <p:txBody>
          <a:bodyPr wrap="square" anchor="t">
            <a:spAutoFit/>
          </a:bodyPr>
          <a:lstStyle/>
          <a:p>
            <a:pPr algn="l">
              <a:lnSpc>
                <a:spcPct val="105000"/>
              </a:lnSpc>
              <a:spcBef>
                <a:spcPts val="0"/>
              </a:spcBef>
              <a:spcAft>
                <a:spcPts val="200"/>
              </a:spcAft>
            </a:pPr>
            <a:r>
              <a:rPr sz="2700" b="1">
                <a:solidFill>
                  <a:srgbClr val="F5F5F6"/>
                </a:solidFill>
                <a:latin typeface="Instrument Sans"/>
              </a:rPr>
              <a:t>The claim-verification chain</a:t>
            </a:r>
          </a:p>
        </p:txBody>
      </p:sp>
      <p:sp>
        <p:nvSpPr>
          <p:cNvPr id="6" name="TextBox 5"/>
          <p:cNvSpPr txBox="1"/>
          <p:nvPr/>
        </p:nvSpPr>
        <p:spPr>
          <a:xfrm>
            <a:off x="5349240" y="2286000"/>
            <a:ext cx="6385255" cy="1097280"/>
          </a:xfrm>
          <a:prstGeom prst="rect">
            <a:avLst/>
          </a:prstGeom>
          <a:noFill/>
        </p:spPr>
        <p:txBody>
          <a:bodyPr wrap="square" anchor="t">
            <a:spAutoFit/>
          </a:bodyPr>
          <a:lstStyle/>
          <a:p>
            <a:pPr algn="l">
              <a:lnSpc>
                <a:spcPct val="125000"/>
              </a:lnSpc>
              <a:spcBef>
                <a:spcPts val="0"/>
              </a:spcBef>
              <a:spcAft>
                <a:spcPts val="200"/>
              </a:spcAft>
            </a:pPr>
            <a:r>
              <a:rPr sz="1500" b="0">
                <a:solidFill>
                  <a:srgbClr val="ACACB4"/>
                </a:solidFill>
                <a:latin typeface="Instrument Sans"/>
              </a:rPr>
              <a:t>Every consequential sentence earns a status.</a:t>
            </a:r>
          </a:p>
        </p:txBody>
      </p:sp>
      <p:sp>
        <p:nvSpPr>
          <p:cNvPr id="7" name="Rounded Rectangle 6"/>
          <p:cNvSpPr/>
          <p:nvPr/>
        </p:nvSpPr>
        <p:spPr>
          <a:xfrm>
            <a:off x="5349240" y="3474720"/>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623559" y="3611879"/>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doc_2A2A30.png"/>
          <p:cNvPicPr>
            <a:picLocks noChangeAspect="1"/>
          </p:cNvPicPr>
          <p:nvPr/>
        </p:nvPicPr>
        <p:blipFill>
          <a:blip r:embed="rId4"/>
          <a:stretch>
            <a:fillRect/>
          </a:stretch>
        </p:blipFill>
        <p:spPr>
          <a:xfrm>
            <a:off x="5712439" y="3700759"/>
            <a:ext cx="151424" cy="151424"/>
          </a:xfrm>
          <a:prstGeom prst="rect">
            <a:avLst/>
          </a:prstGeom>
        </p:spPr>
      </p:pic>
      <p:sp>
        <p:nvSpPr>
          <p:cNvPr id="10" name="TextBox 9"/>
          <p:cNvSpPr txBox="1"/>
          <p:nvPr/>
        </p:nvSpPr>
        <p:spPr>
          <a:xfrm>
            <a:off x="6227064" y="3474720"/>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Claim</a:t>
            </a:r>
            <a:r>
              <a:rPr sz="1400" b="0">
                <a:solidFill>
                  <a:srgbClr val="ACACB4"/>
                </a:solidFill>
                <a:latin typeface="Instrument Sans"/>
              </a:rPr>
              <a:t>  -  exact sentence proposed for the brief</a:t>
            </a:r>
          </a:p>
        </p:txBody>
      </p:sp>
      <p:sp>
        <p:nvSpPr>
          <p:cNvPr id="11" name="Rounded Rectangle 10"/>
          <p:cNvSpPr/>
          <p:nvPr/>
        </p:nvSpPr>
        <p:spPr>
          <a:xfrm>
            <a:off x="5349240" y="4224528"/>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5623559" y="4361688"/>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chart_2A2A30.png"/>
          <p:cNvPicPr>
            <a:picLocks noChangeAspect="1"/>
          </p:cNvPicPr>
          <p:nvPr/>
        </p:nvPicPr>
        <p:blipFill>
          <a:blip r:embed="rId5"/>
          <a:stretch>
            <a:fillRect/>
          </a:stretch>
        </p:blipFill>
        <p:spPr>
          <a:xfrm>
            <a:off x="5712439" y="4450567"/>
            <a:ext cx="151424" cy="151424"/>
          </a:xfrm>
          <a:prstGeom prst="rect">
            <a:avLst/>
          </a:prstGeom>
        </p:spPr>
      </p:pic>
      <p:sp>
        <p:nvSpPr>
          <p:cNvPr id="14" name="TextBox 13"/>
          <p:cNvSpPr txBox="1"/>
          <p:nvPr/>
        </p:nvSpPr>
        <p:spPr>
          <a:xfrm>
            <a:off x="6227064" y="4224528"/>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Source</a:t>
            </a:r>
            <a:r>
              <a:rPr sz="1400" b="0">
                <a:solidFill>
                  <a:srgbClr val="ACACB4"/>
                </a:solidFill>
                <a:latin typeface="Instrument Sans"/>
              </a:rPr>
              <a:t>  -  table, row, formula, or approved note</a:t>
            </a:r>
          </a:p>
        </p:txBody>
      </p:sp>
      <p:sp>
        <p:nvSpPr>
          <p:cNvPr id="15" name="Rounded Rectangle 14"/>
          <p:cNvSpPr/>
          <p:nvPr/>
        </p:nvSpPr>
        <p:spPr>
          <a:xfrm>
            <a:off x="5349240" y="4974336"/>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5623559" y="5111496"/>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check_2A2A30.png"/>
          <p:cNvPicPr>
            <a:picLocks noChangeAspect="1"/>
          </p:cNvPicPr>
          <p:nvPr/>
        </p:nvPicPr>
        <p:blipFill>
          <a:blip r:embed="rId6"/>
          <a:stretch>
            <a:fillRect/>
          </a:stretch>
        </p:blipFill>
        <p:spPr>
          <a:xfrm>
            <a:off x="5712439" y="5200375"/>
            <a:ext cx="151424" cy="151424"/>
          </a:xfrm>
          <a:prstGeom prst="rect">
            <a:avLst/>
          </a:prstGeom>
        </p:spPr>
      </p:pic>
      <p:sp>
        <p:nvSpPr>
          <p:cNvPr id="18" name="TextBox 17"/>
          <p:cNvSpPr txBox="1"/>
          <p:nvPr/>
        </p:nvSpPr>
        <p:spPr>
          <a:xfrm>
            <a:off x="6227064" y="4974336"/>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Check</a:t>
            </a:r>
            <a:r>
              <a:rPr sz="1400" b="0">
                <a:solidFill>
                  <a:srgbClr val="ACACB4"/>
                </a:solidFill>
                <a:latin typeface="Instrument Sans"/>
              </a:rPr>
              <a:t>  -  recalculate or reconcile</a:t>
            </a:r>
          </a:p>
        </p:txBody>
      </p:sp>
      <p:sp>
        <p:nvSpPr>
          <p:cNvPr id="19" name="Rounded Rectangle 18"/>
          <p:cNvSpPr/>
          <p:nvPr/>
        </p:nvSpPr>
        <p:spPr>
          <a:xfrm>
            <a:off x="5349240" y="5724144"/>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623559" y="5861304"/>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people_2A2A30.png"/>
          <p:cNvPicPr>
            <a:picLocks noChangeAspect="1"/>
          </p:cNvPicPr>
          <p:nvPr/>
        </p:nvPicPr>
        <p:blipFill>
          <a:blip r:embed="rId7"/>
          <a:stretch>
            <a:fillRect/>
          </a:stretch>
        </p:blipFill>
        <p:spPr>
          <a:xfrm>
            <a:off x="5712439" y="5950183"/>
            <a:ext cx="151424" cy="151424"/>
          </a:xfrm>
          <a:prstGeom prst="rect">
            <a:avLst/>
          </a:prstGeom>
        </p:spPr>
      </p:pic>
      <p:sp>
        <p:nvSpPr>
          <p:cNvPr id="22" name="TextBox 21"/>
          <p:cNvSpPr txBox="1"/>
          <p:nvPr/>
        </p:nvSpPr>
        <p:spPr>
          <a:xfrm>
            <a:off x="6227064" y="5724144"/>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Owner</a:t>
            </a:r>
            <a:r>
              <a:rPr sz="1400" b="0">
                <a:solidFill>
                  <a:srgbClr val="ACACB4"/>
                </a:solidFill>
                <a:latin typeface="Instrument Sans"/>
              </a:rPr>
              <a:t>  -  person who approves or resolves</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28282B"/>
        </a:solidFill>
        <a:effectLst/>
      </p:bgPr>
    </p:bg>
    <p:spTree>
      <p:nvGrpSpPr>
        <p:cNvPr id="1" name=""/>
        <p:cNvGrpSpPr/>
        <p:nvPr/>
      </p:nvGrpSpPr>
      <p:grpSpPr>
        <a:xfrm>
          <a:off x="0" y="0"/>
          <a:ext cx="0" cy="0"/>
          <a:chOff x="0" y="0"/>
          <a:chExt cx="0" cy="0"/>
        </a:xfrm>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CLAIM LEDGER</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Four statuses, no ambiguity</a:t>
            </a:r>
          </a:p>
        </p:txBody>
      </p:sp>
      <p:sp>
        <p:nvSpPr>
          <p:cNvPr id="4" name="Rectangle 3"/>
          <p:cNvSpPr/>
          <p:nvPr/>
        </p:nvSpPr>
        <p:spPr>
          <a:xfrm>
            <a:off x="640080" y="1874519"/>
            <a:ext cx="10908792" cy="548640"/>
          </a:xfrm>
          <a:prstGeom prst="rect">
            <a:avLst/>
          </a:prstGeom>
          <a:solidFill>
            <a:srgbClr val="30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874519"/>
            <a:ext cx="2468880" cy="548640"/>
          </a:xfrm>
          <a:prstGeom prst="rect">
            <a:avLst/>
          </a:prstGeom>
          <a:noFill/>
        </p:spPr>
        <p:txBody>
          <a:bodyPr wrap="square" anchor="ctr">
            <a:spAutoFit/>
          </a:bodyPr>
          <a:lstStyle/>
          <a:p>
            <a:pPr algn="l">
              <a:lnSpc>
                <a:spcPct val="100000"/>
              </a:lnSpc>
              <a:spcBef>
                <a:spcPts val="0"/>
              </a:spcBef>
              <a:spcAft>
                <a:spcPts val="200"/>
              </a:spcAft>
            </a:pPr>
            <a:r>
              <a:rPr sz="1400" b="1" spc="120">
                <a:solidFill>
                  <a:srgbClr val="7E7E86"/>
                </a:solidFill>
                <a:latin typeface="Instrument Sans"/>
              </a:rPr>
              <a:t>STATUS</a:t>
            </a:r>
          </a:p>
        </p:txBody>
      </p:sp>
      <p:sp>
        <p:nvSpPr>
          <p:cNvPr id="6" name="TextBox 5"/>
          <p:cNvSpPr txBox="1"/>
          <p:nvPr/>
        </p:nvSpPr>
        <p:spPr>
          <a:xfrm>
            <a:off x="3383280" y="1874519"/>
            <a:ext cx="7982712" cy="548640"/>
          </a:xfrm>
          <a:prstGeom prst="rect">
            <a:avLst/>
          </a:prstGeom>
          <a:noFill/>
        </p:spPr>
        <p:txBody>
          <a:bodyPr wrap="square" anchor="ctr">
            <a:spAutoFit/>
          </a:bodyPr>
          <a:lstStyle/>
          <a:p>
            <a:pPr algn="l">
              <a:lnSpc>
                <a:spcPct val="100000"/>
              </a:lnSpc>
              <a:spcBef>
                <a:spcPts val="0"/>
              </a:spcBef>
              <a:spcAft>
                <a:spcPts val="200"/>
              </a:spcAft>
            </a:pPr>
            <a:r>
              <a:rPr sz="1400" b="1" spc="120">
                <a:solidFill>
                  <a:srgbClr val="7E7E86"/>
                </a:solidFill>
                <a:latin typeface="Instrument Sans"/>
              </a:rPr>
              <a:t>MEANING</a:t>
            </a:r>
          </a:p>
        </p:txBody>
      </p:sp>
      <p:sp>
        <p:nvSpPr>
          <p:cNvPr id="7" name="Rectangle 6"/>
          <p:cNvSpPr/>
          <p:nvPr/>
        </p:nvSpPr>
        <p:spPr>
          <a:xfrm>
            <a:off x="640080" y="2423160"/>
            <a:ext cx="10908792" cy="960119"/>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2423160"/>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2423160"/>
            <a:ext cx="24688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Verified</a:t>
            </a:r>
          </a:p>
        </p:txBody>
      </p:sp>
      <p:sp>
        <p:nvSpPr>
          <p:cNvPr id="10" name="TextBox 9"/>
          <p:cNvSpPr txBox="1"/>
          <p:nvPr/>
        </p:nvSpPr>
        <p:spPr>
          <a:xfrm>
            <a:off x="3383280" y="2423160"/>
            <a:ext cx="79827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Source and calculation support the claim</a:t>
            </a:r>
          </a:p>
        </p:txBody>
      </p:sp>
      <p:sp>
        <p:nvSpPr>
          <p:cNvPr id="11" name="Rectangle 10"/>
          <p:cNvSpPr/>
          <p:nvPr/>
        </p:nvSpPr>
        <p:spPr>
          <a:xfrm>
            <a:off x="640080" y="3383279"/>
            <a:ext cx="10908792" cy="960119"/>
          </a:xfrm>
          <a:prstGeom prst="rect">
            <a:avLst/>
          </a:prstGeom>
          <a:solidFill>
            <a:srgbClr val="3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40080" y="3383279"/>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3383279"/>
            <a:ext cx="24688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Supported</a:t>
            </a:r>
          </a:p>
        </p:txBody>
      </p:sp>
      <p:sp>
        <p:nvSpPr>
          <p:cNvPr id="14" name="TextBox 13"/>
          <p:cNvSpPr txBox="1"/>
          <p:nvPr/>
        </p:nvSpPr>
        <p:spPr>
          <a:xfrm>
            <a:off x="3383280" y="3383279"/>
            <a:ext cx="79827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Evidence points the same way; limits remain</a:t>
            </a:r>
          </a:p>
        </p:txBody>
      </p:sp>
      <p:sp>
        <p:nvSpPr>
          <p:cNvPr id="15" name="Rectangle 14"/>
          <p:cNvSpPr/>
          <p:nvPr/>
        </p:nvSpPr>
        <p:spPr>
          <a:xfrm>
            <a:off x="640080" y="4343400"/>
            <a:ext cx="10908792" cy="960119"/>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40080" y="4343400"/>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4343400"/>
            <a:ext cx="24688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Hypothesis</a:t>
            </a:r>
          </a:p>
        </p:txBody>
      </p:sp>
      <p:sp>
        <p:nvSpPr>
          <p:cNvPr id="18" name="TextBox 17"/>
          <p:cNvSpPr txBox="1"/>
          <p:nvPr/>
        </p:nvSpPr>
        <p:spPr>
          <a:xfrm>
            <a:off x="3383280" y="4343400"/>
            <a:ext cx="79827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Plausible but not evidenced enough</a:t>
            </a:r>
          </a:p>
        </p:txBody>
      </p:sp>
      <p:sp>
        <p:nvSpPr>
          <p:cNvPr id="19" name="Rectangle 18"/>
          <p:cNvSpPr/>
          <p:nvPr/>
        </p:nvSpPr>
        <p:spPr>
          <a:xfrm>
            <a:off x="640080" y="5303519"/>
            <a:ext cx="10908792" cy="960119"/>
          </a:xfrm>
          <a:prstGeom prst="rect">
            <a:avLst/>
          </a:prstGeom>
          <a:solidFill>
            <a:srgbClr val="3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40080" y="5303519"/>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5303519"/>
            <a:ext cx="24688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Blocked</a:t>
            </a:r>
          </a:p>
        </p:txBody>
      </p:sp>
      <p:sp>
        <p:nvSpPr>
          <p:cNvPr id="22" name="TextBox 21"/>
          <p:cNvSpPr txBox="1"/>
          <p:nvPr/>
        </p:nvSpPr>
        <p:spPr>
          <a:xfrm>
            <a:off x="3383280" y="5303519"/>
            <a:ext cx="79827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Data or approval is missing</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27</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28282B"/>
        </a:solidFill>
        <a:effectLst/>
      </p:bgPr>
    </p:bg>
    <p:spTree>
      <p:nvGrpSpPr>
        <p:cNvPr id="1" name=""/>
        <p:cNvGrpSpPr/>
        <p:nvPr/>
      </p:nvGrpSpPr>
      <p:grpSpPr>
        <a:xfrm>
          <a:off x="0" y="0"/>
          <a:ext cx="0" cy="0"/>
          <a:chOff x="0" y="0"/>
          <a:chExt cx="0" cy="0"/>
        </a:xfrm>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FOLLOW ALONG - PASTE THIS</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100" b="1">
                <a:solidFill>
                  <a:srgbClr val="F5F5F6"/>
                </a:solidFill>
                <a:latin typeface="Instrument Sans"/>
              </a:rPr>
              <a:t>Make Copilot help you challenge Copilot</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What you are practicing</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Extract exact claims</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Demand source and calculation</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Ask what would falsify the claim</a:t>
            </a:r>
          </a:p>
        </p:txBody>
      </p:sp>
      <p:sp>
        <p:nvSpPr>
          <p:cNvPr id="12" name="Rectangle 11"/>
          <p:cNvSpPr/>
          <p:nvPr/>
        </p:nvSpPr>
        <p:spPr>
          <a:xfrm>
            <a:off x="914400" y="4553712"/>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07008" y="4443984"/>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File: Finance_Claim_Ledger.xlsx</a:t>
            </a:r>
          </a:p>
        </p:txBody>
      </p:sp>
      <p:sp>
        <p:nvSpPr>
          <p:cNvPr id="14" name="TextBox 13"/>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PASTE THIS</a:t>
            </a:r>
          </a:p>
        </p:txBody>
      </p:sp>
      <p:sp>
        <p:nvSpPr>
          <p:cNvPr id="15" name="Rounded Rectangle 14"/>
          <p:cNvSpPr/>
          <p:nvPr/>
        </p:nvSpPr>
        <p:spPr>
          <a:xfrm>
            <a:off x="7040880" y="2286000"/>
            <a:ext cx="4507992" cy="154838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8" name="TextBox 17"/>
          <p:cNvSpPr txBox="1"/>
          <p:nvPr/>
        </p:nvSpPr>
        <p:spPr>
          <a:xfrm>
            <a:off x="7699248" y="2670048"/>
            <a:ext cx="3593591" cy="1109472"/>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Create a claim-verification ledger with columns: claim, source, calculation/check, status, uncertainty, owner. Include only material findings.</a:t>
            </a:r>
          </a:p>
        </p:txBody>
      </p:sp>
      <p:sp>
        <p:nvSpPr>
          <p:cNvPr id="19" name="Rounded Rectangle 18"/>
          <p:cNvSpPr/>
          <p:nvPr/>
        </p:nvSpPr>
        <p:spPr>
          <a:xfrm>
            <a:off x="7040880" y="3980688"/>
            <a:ext cx="4507992" cy="1057656"/>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242048" y="4145280"/>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242048" y="4126992"/>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2" name="TextBox 21"/>
          <p:cNvSpPr txBox="1"/>
          <p:nvPr/>
        </p:nvSpPr>
        <p:spPr>
          <a:xfrm>
            <a:off x="7699248" y="4364736"/>
            <a:ext cx="3593591" cy="618744"/>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For each claim, explain what evidence would contradict it or lower confidence.</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28</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28282B"/>
        </a:solidFill>
        <a:effectLst/>
      </p:bgPr>
    </p:bg>
    <p:spTree>
      <p:nvGrpSpPr>
        <p:cNvPr id="1" name=""/>
        <p:cNvGrpSpPr/>
        <p:nvPr/>
      </p:nvGrpSpPr>
      <p:grpSpPr>
        <a:xfrm>
          <a:off x="0" y="0"/>
          <a:ext cx="0" cy="0"/>
          <a:chOff x="0" y="0"/>
          <a:chExt cx="0" cy="0"/>
        </a:xfrm>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LIVE DEMONSTRATION</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Build the claim ledger</a:t>
            </a:r>
          </a:p>
        </p:txBody>
      </p:sp>
      <p:pic>
        <p:nvPicPr>
          <p:cNvPr id="4" name="Picture 3" descr="bg_3.png"/>
          <p:cNvPicPr>
            <a:picLocks noChangeAspect="1"/>
          </p:cNvPicPr>
          <p:nvPr/>
        </p:nvPicPr>
        <p:blipFill>
          <a:blip r:embed="rId3"/>
          <a:stretch>
            <a:fillRect/>
          </a:stretch>
        </p:blipFill>
        <p:spPr>
          <a:xfrm>
            <a:off x="640080" y="1920240"/>
            <a:ext cx="4480560" cy="4206240"/>
          </a:xfrm>
          <a:prstGeom prst="rect">
            <a:avLst/>
          </a:prstGeom>
        </p:spPr>
      </p:pic>
      <p:sp>
        <p:nvSpPr>
          <p:cNvPr id="5" name="TextBox 4"/>
          <p:cNvSpPr txBox="1"/>
          <p:nvPr/>
        </p:nvSpPr>
        <p:spPr>
          <a:xfrm>
            <a:off x="5394960" y="1828800"/>
            <a:ext cx="6126480"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DEMO</a:t>
            </a:r>
          </a:p>
        </p:txBody>
      </p:sp>
      <p:sp>
        <p:nvSpPr>
          <p:cNvPr id="6" name="TextBox 5"/>
          <p:cNvSpPr txBox="1"/>
          <p:nvPr/>
        </p:nvSpPr>
        <p:spPr>
          <a:xfrm>
            <a:off x="5394960" y="2395728"/>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1</a:t>
            </a:r>
          </a:p>
        </p:txBody>
      </p:sp>
      <p:sp>
        <p:nvSpPr>
          <p:cNvPr id="7" name="TextBox 6"/>
          <p:cNvSpPr txBox="1"/>
          <p:nvPr/>
        </p:nvSpPr>
        <p:spPr>
          <a:xfrm>
            <a:off x="5961888" y="2395728"/>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Extract material claims into Finance_Claim_Ledger.xlsx</a:t>
            </a:r>
          </a:p>
        </p:txBody>
      </p:sp>
      <p:sp>
        <p:nvSpPr>
          <p:cNvPr id="8" name="TextBox 7"/>
          <p:cNvSpPr txBox="1"/>
          <p:nvPr/>
        </p:nvSpPr>
        <p:spPr>
          <a:xfrm>
            <a:off x="5394960" y="3145536"/>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2</a:t>
            </a:r>
          </a:p>
        </p:txBody>
      </p:sp>
      <p:sp>
        <p:nvSpPr>
          <p:cNvPr id="9" name="TextBox 8"/>
          <p:cNvSpPr txBox="1"/>
          <p:nvPr/>
        </p:nvSpPr>
        <p:spPr>
          <a:xfrm>
            <a:off x="5961888" y="3145536"/>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Recalculate 858,000 - 790,000 live</a:t>
            </a:r>
          </a:p>
        </p:txBody>
      </p:sp>
      <p:sp>
        <p:nvSpPr>
          <p:cNvPr id="10" name="TextBox 9"/>
          <p:cNvSpPr txBox="1"/>
          <p:nvPr/>
        </p:nvSpPr>
        <p:spPr>
          <a:xfrm>
            <a:off x="5394960" y="3895344"/>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3</a:t>
            </a:r>
          </a:p>
        </p:txBody>
      </p:sp>
      <p:sp>
        <p:nvSpPr>
          <p:cNvPr id="11" name="TextBox 10"/>
          <p:cNvSpPr txBox="1"/>
          <p:nvPr/>
        </p:nvSpPr>
        <p:spPr>
          <a:xfrm>
            <a:off x="5961888" y="3895344"/>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Assign status and owner to each row</a:t>
            </a:r>
          </a:p>
        </p:txBody>
      </p:sp>
      <p:sp>
        <p:nvSpPr>
          <p:cNvPr id="12" name="Rectangle 1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4" name="TextBox 1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29</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28282B"/>
        </a:solidFill>
        <a:effectLst/>
      </p:bgPr>
    </p:bg>
    <p:spTree>
      <p:nvGrpSpPr>
        <p:cNvPr id="1" name=""/>
        <p:cNvGrpSpPr/>
        <p:nvPr/>
      </p:nvGrpSpPr>
      <p:grpSpPr>
        <a:xfrm>
          <a:off x="0" y="0"/>
          <a:ext cx="0" cy="0"/>
          <a:chOff x="0" y="0"/>
          <a:chExt cx="0" cy="0"/>
        </a:xfrm>
      </p:grpSpPr>
      <p:pic>
        <p:nvPicPr>
          <p:cNvPr id="2" name="Picture 1" descr="bg_13.png"/>
          <p:cNvPicPr>
            <a:picLocks noChangeAspect="1"/>
          </p:cNvPicPr>
          <p:nvPr/>
        </p:nvPicPr>
        <p:blipFill>
          <a:blip r:embed="rId3"/>
          <a:stretch>
            <a:fillRect/>
          </a:stretch>
        </p:blipFill>
        <p:spPr>
          <a:xfrm>
            <a:off x="0" y="0"/>
            <a:ext cx="4800600" cy="6437376"/>
          </a:xfrm>
          <a:prstGeom prst="rect">
            <a:avLst/>
          </a:prstGeom>
        </p:spPr>
      </p:pic>
      <p:sp>
        <p:nvSpPr>
          <p:cNvPr id="3" name="Rectangle 2"/>
          <p:cNvSpPr/>
          <p:nvPr/>
        </p:nvSpPr>
        <p:spPr>
          <a:xfrm>
            <a:off x="4800600" y="0"/>
            <a:ext cx="45720"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49240" y="603504"/>
            <a:ext cx="6385255" cy="274320"/>
          </a:xfrm>
          <a:prstGeom prst="rect">
            <a:avLst/>
          </a:prstGeom>
          <a:noFill/>
        </p:spPr>
        <p:txBody>
          <a:bodyPr wrap="square" anchor="t">
            <a:spAutoFit/>
          </a:bodyPr>
          <a:lstStyle/>
          <a:p>
            <a:pPr algn="l">
              <a:lnSpc>
                <a:spcPct val="100000"/>
              </a:lnSpc>
              <a:spcBef>
                <a:spcPts val="0"/>
              </a:spcBef>
              <a:spcAft>
                <a:spcPts val="200"/>
              </a:spcAft>
            </a:pPr>
            <a:r>
              <a:rPr sz="1300" b="1" spc="160">
                <a:solidFill>
                  <a:srgbClr val="8B8B93"/>
                </a:solidFill>
                <a:latin typeface="Instrument Sans"/>
              </a:rPr>
              <a:t>KEY CONCEPT</a:t>
            </a:r>
          </a:p>
        </p:txBody>
      </p:sp>
      <p:sp>
        <p:nvSpPr>
          <p:cNvPr id="5" name="TextBox 4"/>
          <p:cNvSpPr txBox="1"/>
          <p:nvPr/>
        </p:nvSpPr>
        <p:spPr>
          <a:xfrm>
            <a:off x="5349240" y="969264"/>
            <a:ext cx="6385255" cy="1143000"/>
          </a:xfrm>
          <a:prstGeom prst="rect">
            <a:avLst/>
          </a:prstGeom>
          <a:noFill/>
        </p:spPr>
        <p:txBody>
          <a:bodyPr wrap="square" anchor="t">
            <a:spAutoFit/>
          </a:bodyPr>
          <a:lstStyle/>
          <a:p>
            <a:pPr algn="l">
              <a:lnSpc>
                <a:spcPct val="105000"/>
              </a:lnSpc>
              <a:spcBef>
                <a:spcPts val="0"/>
              </a:spcBef>
              <a:spcAft>
                <a:spcPts val="200"/>
              </a:spcAft>
            </a:pPr>
            <a:r>
              <a:rPr sz="2700" b="1">
                <a:solidFill>
                  <a:srgbClr val="F5F5F6"/>
                </a:solidFill>
                <a:latin typeface="Instrument Sans"/>
              </a:rPr>
              <a:t>The management narrative</a:t>
            </a:r>
          </a:p>
        </p:txBody>
      </p:sp>
      <p:sp>
        <p:nvSpPr>
          <p:cNvPr id="6" name="TextBox 5"/>
          <p:cNvSpPr txBox="1"/>
          <p:nvPr/>
        </p:nvSpPr>
        <p:spPr>
          <a:xfrm>
            <a:off x="5349240" y="2286000"/>
            <a:ext cx="6385255" cy="1097280"/>
          </a:xfrm>
          <a:prstGeom prst="rect">
            <a:avLst/>
          </a:prstGeom>
          <a:noFill/>
        </p:spPr>
        <p:txBody>
          <a:bodyPr wrap="square" anchor="t">
            <a:spAutoFit/>
          </a:bodyPr>
          <a:lstStyle/>
          <a:p>
            <a:pPr algn="l">
              <a:lnSpc>
                <a:spcPct val="125000"/>
              </a:lnSpc>
              <a:spcBef>
                <a:spcPts val="0"/>
              </a:spcBef>
              <a:spcAft>
                <a:spcPts val="200"/>
              </a:spcAft>
            </a:pPr>
            <a:r>
              <a:rPr sz="1500" b="0">
                <a:solidFill>
                  <a:srgbClr val="ACACB4"/>
                </a:solidFill>
                <a:latin typeface="Instrument Sans"/>
              </a:rPr>
              <a:t>Short because the evidence work is already done.</a:t>
            </a:r>
          </a:p>
        </p:txBody>
      </p:sp>
      <p:sp>
        <p:nvSpPr>
          <p:cNvPr id="7" name="Rounded Rectangle 6"/>
          <p:cNvSpPr/>
          <p:nvPr/>
        </p:nvSpPr>
        <p:spPr>
          <a:xfrm>
            <a:off x="5349240" y="3474720"/>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623559" y="3611879"/>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target_2A2A30.png"/>
          <p:cNvPicPr>
            <a:picLocks noChangeAspect="1"/>
          </p:cNvPicPr>
          <p:nvPr/>
        </p:nvPicPr>
        <p:blipFill>
          <a:blip r:embed="rId4"/>
          <a:stretch>
            <a:fillRect/>
          </a:stretch>
        </p:blipFill>
        <p:spPr>
          <a:xfrm>
            <a:off x="5712439" y="3700759"/>
            <a:ext cx="151424" cy="151424"/>
          </a:xfrm>
          <a:prstGeom prst="rect">
            <a:avLst/>
          </a:prstGeom>
        </p:spPr>
      </p:pic>
      <p:sp>
        <p:nvSpPr>
          <p:cNvPr id="10" name="TextBox 9"/>
          <p:cNvSpPr txBox="1"/>
          <p:nvPr/>
        </p:nvSpPr>
        <p:spPr>
          <a:xfrm>
            <a:off x="6227064" y="3474720"/>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Headline</a:t>
            </a:r>
            <a:r>
              <a:rPr sz="1400" b="0">
                <a:solidFill>
                  <a:srgbClr val="ACACB4"/>
                </a:solidFill>
                <a:latin typeface="Instrument Sans"/>
              </a:rPr>
              <a:t>  -  what changed and why it matters</a:t>
            </a:r>
          </a:p>
        </p:txBody>
      </p:sp>
      <p:sp>
        <p:nvSpPr>
          <p:cNvPr id="11" name="Rounded Rectangle 10"/>
          <p:cNvSpPr/>
          <p:nvPr/>
        </p:nvSpPr>
        <p:spPr>
          <a:xfrm>
            <a:off x="5349240" y="4224528"/>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5623559" y="4361688"/>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chart_2A2A30.png"/>
          <p:cNvPicPr>
            <a:picLocks noChangeAspect="1"/>
          </p:cNvPicPr>
          <p:nvPr/>
        </p:nvPicPr>
        <p:blipFill>
          <a:blip r:embed="rId5"/>
          <a:stretch>
            <a:fillRect/>
          </a:stretch>
        </p:blipFill>
        <p:spPr>
          <a:xfrm>
            <a:off x="5712439" y="4450567"/>
            <a:ext cx="151424" cy="151424"/>
          </a:xfrm>
          <a:prstGeom prst="rect">
            <a:avLst/>
          </a:prstGeom>
        </p:spPr>
      </p:pic>
      <p:sp>
        <p:nvSpPr>
          <p:cNvPr id="14" name="TextBox 13"/>
          <p:cNvSpPr txBox="1"/>
          <p:nvPr/>
        </p:nvSpPr>
        <p:spPr>
          <a:xfrm>
            <a:off x="6227064" y="4224528"/>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Three facts</a:t>
            </a:r>
            <a:r>
              <a:rPr sz="1400" b="0">
                <a:solidFill>
                  <a:srgbClr val="ACACB4"/>
                </a:solidFill>
                <a:latin typeface="Instrument Sans"/>
              </a:rPr>
              <a:t>  -  material, quantified, verified</a:t>
            </a:r>
          </a:p>
        </p:txBody>
      </p:sp>
      <p:sp>
        <p:nvSpPr>
          <p:cNvPr id="15" name="Rounded Rectangle 14"/>
          <p:cNvSpPr/>
          <p:nvPr/>
        </p:nvSpPr>
        <p:spPr>
          <a:xfrm>
            <a:off x="5349240" y="4974336"/>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5623559" y="5111496"/>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warn_2A2A30.png"/>
          <p:cNvPicPr>
            <a:picLocks noChangeAspect="1"/>
          </p:cNvPicPr>
          <p:nvPr/>
        </p:nvPicPr>
        <p:blipFill>
          <a:blip r:embed="rId6"/>
          <a:stretch>
            <a:fillRect/>
          </a:stretch>
        </p:blipFill>
        <p:spPr>
          <a:xfrm>
            <a:off x="5712439" y="5200375"/>
            <a:ext cx="151424" cy="151424"/>
          </a:xfrm>
          <a:prstGeom prst="rect">
            <a:avLst/>
          </a:prstGeom>
        </p:spPr>
      </p:pic>
      <p:sp>
        <p:nvSpPr>
          <p:cNvPr id="18" name="TextBox 17"/>
          <p:cNvSpPr txBox="1"/>
          <p:nvPr/>
        </p:nvSpPr>
        <p:spPr>
          <a:xfrm>
            <a:off x="6227064" y="4974336"/>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Open questions</a:t>
            </a:r>
            <a:r>
              <a:rPr sz="1400" b="0">
                <a:solidFill>
                  <a:srgbClr val="ACACB4"/>
                </a:solidFill>
                <a:latin typeface="Instrument Sans"/>
              </a:rPr>
              <a:t>  -  hypotheses and missing evidence</a:t>
            </a:r>
          </a:p>
        </p:txBody>
      </p:sp>
      <p:sp>
        <p:nvSpPr>
          <p:cNvPr id="19" name="Rounded Rectangle 18"/>
          <p:cNvSpPr/>
          <p:nvPr/>
        </p:nvSpPr>
        <p:spPr>
          <a:xfrm>
            <a:off x="5349240" y="5724144"/>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623559" y="5861304"/>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rocket_2A2A30.png"/>
          <p:cNvPicPr>
            <a:picLocks noChangeAspect="1"/>
          </p:cNvPicPr>
          <p:nvPr/>
        </p:nvPicPr>
        <p:blipFill>
          <a:blip r:embed="rId7"/>
          <a:stretch>
            <a:fillRect/>
          </a:stretch>
        </p:blipFill>
        <p:spPr>
          <a:xfrm>
            <a:off x="5712439" y="5950183"/>
            <a:ext cx="151424" cy="151424"/>
          </a:xfrm>
          <a:prstGeom prst="rect">
            <a:avLst/>
          </a:prstGeom>
        </p:spPr>
      </p:pic>
      <p:sp>
        <p:nvSpPr>
          <p:cNvPr id="22" name="TextBox 21"/>
          <p:cNvSpPr txBox="1"/>
          <p:nvPr/>
        </p:nvSpPr>
        <p:spPr>
          <a:xfrm>
            <a:off x="6227064" y="5724144"/>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Decision</a:t>
            </a:r>
            <a:r>
              <a:rPr sz="1400" b="0">
                <a:solidFill>
                  <a:srgbClr val="ACACB4"/>
                </a:solidFill>
                <a:latin typeface="Instrument Sans"/>
              </a:rPr>
              <a:t>  -  what management must decide or assign</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30</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28282B"/>
        </a:solidFill>
        <a:effectLst/>
      </p:bgPr>
    </p:bg>
    <p:spTree>
      <p:nvGrpSpPr>
        <p:cNvPr id="1" name=""/>
        <p:cNvGrpSpPr/>
        <p:nvPr/>
      </p:nvGrpSpPr>
      <p:grpSpPr>
        <a:xfrm>
          <a:off x="0" y="0"/>
          <a:ext cx="0" cy="0"/>
          <a:chOff x="0" y="0"/>
          <a:chExt cx="0" cy="0"/>
        </a:xfrm>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LIVE DEMONSTRATION - PASTE THIS</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Draft from the verified ledger</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What you are practicing</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Use only Verified or Supported claims</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Keep hypotheses labelled</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Name decisions and owners</a:t>
            </a:r>
          </a:p>
        </p:txBody>
      </p:sp>
      <p:sp>
        <p:nvSpPr>
          <p:cNvPr id="12" name="Rectangle 11"/>
          <p:cNvSpPr/>
          <p:nvPr/>
        </p:nvSpPr>
        <p:spPr>
          <a:xfrm>
            <a:off x="914400" y="4553712"/>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07008" y="4443984"/>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File: Finance_Claim_Ledger.xlsx</a:t>
            </a:r>
          </a:p>
        </p:txBody>
      </p:sp>
      <p:sp>
        <p:nvSpPr>
          <p:cNvPr id="14" name="TextBox 13"/>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PASTE THIS</a:t>
            </a:r>
          </a:p>
        </p:txBody>
      </p:sp>
      <p:sp>
        <p:nvSpPr>
          <p:cNvPr id="15" name="Rounded Rectangle 14"/>
          <p:cNvSpPr/>
          <p:nvPr/>
        </p:nvSpPr>
        <p:spPr>
          <a:xfrm>
            <a:off x="7040880" y="2286000"/>
            <a:ext cx="4507992" cy="1793748"/>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8" name="TextBox 17"/>
          <p:cNvSpPr txBox="1"/>
          <p:nvPr/>
        </p:nvSpPr>
        <p:spPr>
          <a:xfrm>
            <a:off x="7699248" y="2670048"/>
            <a:ext cx="3593591" cy="1354836"/>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Using only claims marked Verified or Supported in the attached ledger, draft a one-page finance director brief: headline, three material findings, risks, open questions, and decisions needed.</a:t>
            </a:r>
          </a:p>
        </p:txBody>
      </p:sp>
      <p:sp>
        <p:nvSpPr>
          <p:cNvPr id="19" name="Rounded Rectangle 18"/>
          <p:cNvSpPr/>
          <p:nvPr/>
        </p:nvSpPr>
        <p:spPr>
          <a:xfrm>
            <a:off x="7040880" y="4226051"/>
            <a:ext cx="4507992" cy="13030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242048" y="4390643"/>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242048" y="4372356"/>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2" name="TextBox 21"/>
          <p:cNvSpPr txBox="1"/>
          <p:nvPr/>
        </p:nvSpPr>
        <p:spPr>
          <a:xfrm>
            <a:off x="7699248" y="4610099"/>
            <a:ext cx="3593591" cy="864108"/>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Audit the draft against the ledger. Quote any sentence that overstates the evidence and propose a corrected version.</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31</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28282B"/>
        </a:solidFill>
        <a:effectLst/>
      </p:bgPr>
    </p:bg>
    <p:spTree>
      <p:nvGrpSpPr>
        <p:cNvPr id="1" name=""/>
        <p:cNvGrpSpPr/>
        <p:nvPr/>
      </p:nvGrpSpPr>
      <p:grpSpPr>
        <a:xfrm>
          <a:off x="0" y="0"/>
          <a:ext cx="0" cy="0"/>
          <a:chOff x="0" y="0"/>
          <a:chExt cx="0" cy="0"/>
        </a:xfrm>
      </p:grpSpPr>
      <p:pic>
        <p:nvPicPr>
          <p:cNvPr id="2" name="Picture 1" descr="finance_desk.png"/>
          <p:cNvPicPr>
            <a:picLocks noChangeAspect="1"/>
          </p:cNvPicPr>
          <p:nvPr/>
        </p:nvPicPr>
        <p:blipFill>
          <a:blip r:embed="rId3"/>
          <a:stretch>
            <a:fillRect/>
          </a:stretch>
        </p:blipFill>
        <p:spPr>
          <a:xfrm>
            <a:off x="7680960" y="0"/>
            <a:ext cx="4507992" cy="6858000"/>
          </a:xfrm>
          <a:prstGeom prst="rect">
            <a:avLst/>
          </a:prstGeom>
        </p:spPr>
      </p:pic>
      <p:sp>
        <p:nvSpPr>
          <p:cNvPr id="3" name="Rectangle 2"/>
          <p:cNvSpPr/>
          <p:nvPr/>
        </p:nvSpPr>
        <p:spPr>
          <a:xfrm>
            <a:off x="768096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2377440"/>
            <a:ext cx="64008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BREAK</a:t>
            </a:r>
          </a:p>
        </p:txBody>
      </p:sp>
      <p:sp>
        <p:nvSpPr>
          <p:cNvPr id="5" name="TextBox 4"/>
          <p:cNvSpPr txBox="1"/>
          <p:nvPr/>
        </p:nvSpPr>
        <p:spPr>
          <a:xfrm>
            <a:off x="804672" y="2743200"/>
            <a:ext cx="6766560" cy="1371600"/>
          </a:xfrm>
          <a:prstGeom prst="rect">
            <a:avLst/>
          </a:prstGeom>
          <a:noFill/>
        </p:spPr>
        <p:txBody>
          <a:bodyPr wrap="square" anchor="t">
            <a:spAutoFit/>
          </a:bodyPr>
          <a:lstStyle/>
          <a:p>
            <a:pPr algn="l">
              <a:lnSpc>
                <a:spcPct val="102000"/>
              </a:lnSpc>
              <a:spcBef>
                <a:spcPts val="0"/>
              </a:spcBef>
              <a:spcAft>
                <a:spcPts val="200"/>
              </a:spcAft>
            </a:pPr>
            <a:r>
              <a:rPr sz="4000" b="1">
                <a:solidFill>
                  <a:srgbClr val="F5F5F6"/>
                </a:solidFill>
                <a:latin typeface="Instrument Sans"/>
              </a:rPr>
              <a:t>Back in 10 minutes</a:t>
            </a:r>
          </a:p>
        </p:txBody>
      </p:sp>
      <p:sp>
        <p:nvSpPr>
          <p:cNvPr id="6" name="Rectangle 5"/>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8" name="TextBox 7"/>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28282B"/>
        </a:solidFill>
        <a:effectLst/>
      </p:bgPr>
    </p:bg>
    <p:spTree>
      <p:nvGrpSpPr>
        <p:cNvPr id="1" name=""/>
        <p:cNvGrpSpPr/>
        <p:nvPr/>
      </p:nvGrpSpPr>
      <p:grpSpPr>
        <a:xfrm>
          <a:off x="0" y="0"/>
          <a:ext cx="0" cy="0"/>
          <a:chOff x="0" y="0"/>
          <a:chExt cx="0" cy="0"/>
        </a:xfrm>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YOUR TURN - 40 MIN</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Lab: build the review pack</a:t>
            </a:r>
          </a:p>
        </p:txBody>
      </p:sp>
      <p:sp>
        <p:nvSpPr>
          <p:cNvPr id="4" name="Rounded Rectangle 3"/>
          <p:cNvSpPr/>
          <p:nvPr/>
        </p:nvSpPr>
        <p:spPr>
          <a:xfrm>
            <a:off x="640080" y="1828800"/>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41248" y="1959102"/>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check_2A2A30.png"/>
          <p:cNvPicPr>
            <a:picLocks noChangeAspect="1"/>
          </p:cNvPicPr>
          <p:nvPr/>
        </p:nvPicPr>
        <p:blipFill>
          <a:blip r:embed="rId3"/>
          <a:stretch>
            <a:fillRect/>
          </a:stretch>
        </p:blipFill>
        <p:spPr>
          <a:xfrm>
            <a:off x="1014984" y="2096262"/>
            <a:ext cx="292608" cy="292608"/>
          </a:xfrm>
          <a:prstGeom prst="rect">
            <a:avLst/>
          </a:prstGeom>
        </p:spPr>
      </p:pic>
      <p:sp>
        <p:nvSpPr>
          <p:cNvPr id="7" name="TextBox 6"/>
          <p:cNvSpPr txBox="1"/>
          <p:nvPr/>
        </p:nvSpPr>
        <p:spPr>
          <a:xfrm>
            <a:off x="1591056" y="1828800"/>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Step 1</a:t>
            </a:r>
          </a:p>
        </p:txBody>
      </p:sp>
      <p:sp>
        <p:nvSpPr>
          <p:cNvPr id="8" name="TextBox 7"/>
          <p:cNvSpPr txBox="1"/>
          <p:nvPr/>
        </p:nvSpPr>
        <p:spPr>
          <a:xfrm>
            <a:off x="4434840" y="1828800"/>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Run the create prompt on the workbook</a:t>
            </a:r>
          </a:p>
        </p:txBody>
      </p:sp>
      <p:sp>
        <p:nvSpPr>
          <p:cNvPr id="9" name="Rounded Rectangle 8"/>
          <p:cNvSpPr/>
          <p:nvPr/>
        </p:nvSpPr>
        <p:spPr>
          <a:xfrm>
            <a:off x="640080" y="2802636"/>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841248" y="293293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check_2A2A30.png"/>
          <p:cNvPicPr>
            <a:picLocks noChangeAspect="1"/>
          </p:cNvPicPr>
          <p:nvPr/>
        </p:nvPicPr>
        <p:blipFill>
          <a:blip r:embed="rId3"/>
          <a:stretch>
            <a:fillRect/>
          </a:stretch>
        </p:blipFill>
        <p:spPr>
          <a:xfrm>
            <a:off x="1014984" y="3070098"/>
            <a:ext cx="292608" cy="292608"/>
          </a:xfrm>
          <a:prstGeom prst="rect">
            <a:avLst/>
          </a:prstGeom>
        </p:spPr>
      </p:pic>
      <p:sp>
        <p:nvSpPr>
          <p:cNvPr id="12" name="TextBox 11"/>
          <p:cNvSpPr txBox="1"/>
          <p:nvPr/>
        </p:nvSpPr>
        <p:spPr>
          <a:xfrm>
            <a:off x="1591056" y="2802636"/>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Step 2</a:t>
            </a:r>
          </a:p>
        </p:txBody>
      </p:sp>
      <p:sp>
        <p:nvSpPr>
          <p:cNvPr id="13" name="TextBox 12"/>
          <p:cNvSpPr txBox="1"/>
          <p:nvPr/>
        </p:nvSpPr>
        <p:spPr>
          <a:xfrm>
            <a:off x="4434840" y="2802636"/>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Refine the top findings</a:t>
            </a:r>
          </a:p>
        </p:txBody>
      </p:sp>
      <p:sp>
        <p:nvSpPr>
          <p:cNvPr id="14" name="Rounded Rectangle 13"/>
          <p:cNvSpPr/>
          <p:nvPr/>
        </p:nvSpPr>
        <p:spPr>
          <a:xfrm>
            <a:off x="640080" y="3776472"/>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41248" y="3906774"/>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check_2A2A30.png"/>
          <p:cNvPicPr>
            <a:picLocks noChangeAspect="1"/>
          </p:cNvPicPr>
          <p:nvPr/>
        </p:nvPicPr>
        <p:blipFill>
          <a:blip r:embed="rId3"/>
          <a:stretch>
            <a:fillRect/>
          </a:stretch>
        </p:blipFill>
        <p:spPr>
          <a:xfrm>
            <a:off x="1014984" y="4043933"/>
            <a:ext cx="292608" cy="292608"/>
          </a:xfrm>
          <a:prstGeom prst="rect">
            <a:avLst/>
          </a:prstGeom>
        </p:spPr>
      </p:pic>
      <p:sp>
        <p:nvSpPr>
          <p:cNvPr id="17" name="TextBox 16"/>
          <p:cNvSpPr txBox="1"/>
          <p:nvPr/>
        </p:nvSpPr>
        <p:spPr>
          <a:xfrm>
            <a:off x="1591056" y="3776472"/>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Step 3</a:t>
            </a:r>
          </a:p>
        </p:txBody>
      </p:sp>
      <p:sp>
        <p:nvSpPr>
          <p:cNvPr id="18" name="TextBox 17"/>
          <p:cNvSpPr txBox="1"/>
          <p:nvPr/>
        </p:nvSpPr>
        <p:spPr>
          <a:xfrm>
            <a:off x="4434840" y="3776472"/>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Complete at least three ledger rows</a:t>
            </a:r>
          </a:p>
        </p:txBody>
      </p:sp>
      <p:sp>
        <p:nvSpPr>
          <p:cNvPr id="19" name="Rounded Rectangle 18"/>
          <p:cNvSpPr/>
          <p:nvPr/>
        </p:nvSpPr>
        <p:spPr>
          <a:xfrm>
            <a:off x="640080" y="4750308"/>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41248" y="488061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check_2A2A30.png"/>
          <p:cNvPicPr>
            <a:picLocks noChangeAspect="1"/>
          </p:cNvPicPr>
          <p:nvPr/>
        </p:nvPicPr>
        <p:blipFill>
          <a:blip r:embed="rId3"/>
          <a:stretch>
            <a:fillRect/>
          </a:stretch>
        </p:blipFill>
        <p:spPr>
          <a:xfrm>
            <a:off x="1014984" y="5017770"/>
            <a:ext cx="292608" cy="292608"/>
          </a:xfrm>
          <a:prstGeom prst="rect">
            <a:avLst/>
          </a:prstGeom>
        </p:spPr>
      </p:pic>
      <p:sp>
        <p:nvSpPr>
          <p:cNvPr id="22" name="TextBox 21"/>
          <p:cNvSpPr txBox="1"/>
          <p:nvPr/>
        </p:nvSpPr>
        <p:spPr>
          <a:xfrm>
            <a:off x="1591056" y="4750308"/>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Step 4</a:t>
            </a:r>
          </a:p>
        </p:txBody>
      </p:sp>
      <p:sp>
        <p:nvSpPr>
          <p:cNvPr id="23" name="TextBox 22"/>
          <p:cNvSpPr txBox="1"/>
          <p:nvPr/>
        </p:nvSpPr>
        <p:spPr>
          <a:xfrm>
            <a:off x="4434840" y="4750308"/>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Draft the one-page brief</a:t>
            </a:r>
          </a:p>
        </p:txBody>
      </p:sp>
      <p:sp>
        <p:nvSpPr>
          <p:cNvPr id="24" name="Rounded Rectangle 23"/>
          <p:cNvSpPr/>
          <p:nvPr/>
        </p:nvSpPr>
        <p:spPr>
          <a:xfrm>
            <a:off x="640080" y="5760720"/>
            <a:ext cx="10908792" cy="658368"/>
          </a:xfrm>
          <a:prstGeom prst="roundRect">
            <a:avLst>
              <a:gd name="adj" fmla="val 16000"/>
            </a:avLst>
          </a:prstGeom>
          <a:solidFill>
            <a:srgbClr val="173527"/>
          </a:solidFill>
          <a:ln w="9525">
            <a:solidFill>
              <a:srgbClr val="2E6E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check_46B17A.png"/>
          <p:cNvPicPr>
            <a:picLocks noChangeAspect="1"/>
          </p:cNvPicPr>
          <p:nvPr/>
        </p:nvPicPr>
        <p:blipFill>
          <a:blip r:embed="rId4"/>
          <a:stretch>
            <a:fillRect/>
          </a:stretch>
        </p:blipFill>
        <p:spPr>
          <a:xfrm>
            <a:off x="877824" y="5907024"/>
            <a:ext cx="365760" cy="365760"/>
          </a:xfrm>
          <a:prstGeom prst="rect">
            <a:avLst/>
          </a:prstGeom>
        </p:spPr>
      </p:pic>
      <p:sp>
        <p:nvSpPr>
          <p:cNvPr id="26" name="TextBox 25"/>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BFE6D2"/>
                </a:solidFill>
                <a:latin typeface="Instrument Sans"/>
              </a:rPr>
              <a:t>Leave with: Verified Finance Review Pack</a:t>
            </a:r>
          </a:p>
        </p:txBody>
      </p:sp>
      <p:sp>
        <p:nvSpPr>
          <p:cNvPr id="27" name="Rectangle 26"/>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9" name="TextBox 28"/>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33</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28282B"/>
        </a:solidFill>
        <a:effectLst/>
      </p:bgPr>
    </p:bg>
    <p:spTree>
      <p:nvGrpSpPr>
        <p:cNvPr id="1" name=""/>
        <p:cNvGrpSpPr/>
        <p:nvPr/>
      </p:nvGrpSpPr>
      <p:grpSpPr>
        <a:xfrm>
          <a:off x="0" y="0"/>
          <a:ext cx="0" cy="0"/>
          <a:chOff x="0" y="0"/>
          <a:chExt cx="0" cy="0"/>
        </a:xfrm>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PEER REVIEW</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Ready for management?</a:t>
            </a:r>
          </a:p>
        </p:txBody>
      </p:sp>
      <p:sp>
        <p:nvSpPr>
          <p:cNvPr id="4" name="Rectangle 3"/>
          <p:cNvSpPr/>
          <p:nvPr/>
        </p:nvSpPr>
        <p:spPr>
          <a:xfrm>
            <a:off x="640080" y="1874519"/>
            <a:ext cx="10908792" cy="548640"/>
          </a:xfrm>
          <a:prstGeom prst="rect">
            <a:avLst/>
          </a:prstGeom>
          <a:solidFill>
            <a:srgbClr val="30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874519"/>
            <a:ext cx="2468880" cy="548640"/>
          </a:xfrm>
          <a:prstGeom prst="rect">
            <a:avLst/>
          </a:prstGeom>
          <a:noFill/>
        </p:spPr>
        <p:txBody>
          <a:bodyPr wrap="square" anchor="ctr">
            <a:spAutoFit/>
          </a:bodyPr>
          <a:lstStyle/>
          <a:p>
            <a:pPr algn="l">
              <a:lnSpc>
                <a:spcPct val="100000"/>
              </a:lnSpc>
              <a:spcBef>
                <a:spcPts val="0"/>
              </a:spcBef>
              <a:spcAft>
                <a:spcPts val="200"/>
              </a:spcAft>
            </a:pPr>
            <a:r>
              <a:rPr sz="1400" b="1" spc="120">
                <a:solidFill>
                  <a:srgbClr val="7E7E86"/>
                </a:solidFill>
                <a:latin typeface="Instrument Sans"/>
              </a:rPr>
              <a:t>CHECK</a:t>
            </a:r>
          </a:p>
        </p:txBody>
      </p:sp>
      <p:sp>
        <p:nvSpPr>
          <p:cNvPr id="6" name="TextBox 5"/>
          <p:cNvSpPr txBox="1"/>
          <p:nvPr/>
        </p:nvSpPr>
        <p:spPr>
          <a:xfrm>
            <a:off x="3383280" y="1874519"/>
            <a:ext cx="7982712" cy="548640"/>
          </a:xfrm>
          <a:prstGeom prst="rect">
            <a:avLst/>
          </a:prstGeom>
          <a:noFill/>
        </p:spPr>
        <p:txBody>
          <a:bodyPr wrap="square" anchor="ctr">
            <a:spAutoFit/>
          </a:bodyPr>
          <a:lstStyle/>
          <a:p>
            <a:pPr algn="l">
              <a:lnSpc>
                <a:spcPct val="100000"/>
              </a:lnSpc>
              <a:spcBef>
                <a:spcPts val="0"/>
              </a:spcBef>
              <a:spcAft>
                <a:spcPts val="200"/>
              </a:spcAft>
            </a:pPr>
            <a:r>
              <a:rPr sz="1400" b="1" spc="120">
                <a:solidFill>
                  <a:srgbClr val="7E7E86"/>
                </a:solidFill>
                <a:latin typeface="Instrument Sans"/>
              </a:rPr>
              <a:t>PASS WHEN</a:t>
            </a:r>
          </a:p>
        </p:txBody>
      </p:sp>
      <p:sp>
        <p:nvSpPr>
          <p:cNvPr id="7" name="Rectangle 6"/>
          <p:cNvSpPr/>
          <p:nvPr/>
        </p:nvSpPr>
        <p:spPr>
          <a:xfrm>
            <a:off x="640080" y="2423160"/>
            <a:ext cx="10908792" cy="768095"/>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2423160"/>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2423160"/>
            <a:ext cx="2468880" cy="768095"/>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Material</a:t>
            </a:r>
          </a:p>
        </p:txBody>
      </p:sp>
      <p:sp>
        <p:nvSpPr>
          <p:cNvPr id="10" name="TextBox 9"/>
          <p:cNvSpPr txBox="1"/>
          <p:nvPr/>
        </p:nvSpPr>
        <p:spPr>
          <a:xfrm>
            <a:off x="3383280" y="2423160"/>
            <a:ext cx="7982712" cy="768095"/>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The brief leads with consequential findings</a:t>
            </a:r>
          </a:p>
        </p:txBody>
      </p:sp>
      <p:sp>
        <p:nvSpPr>
          <p:cNvPr id="11" name="Rectangle 10"/>
          <p:cNvSpPr/>
          <p:nvPr/>
        </p:nvSpPr>
        <p:spPr>
          <a:xfrm>
            <a:off x="640080" y="3191256"/>
            <a:ext cx="10908792" cy="768095"/>
          </a:xfrm>
          <a:prstGeom prst="rect">
            <a:avLst/>
          </a:prstGeom>
          <a:solidFill>
            <a:srgbClr val="3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40080" y="3191256"/>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3191256"/>
            <a:ext cx="2468880" cy="768095"/>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Traceable</a:t>
            </a:r>
          </a:p>
        </p:txBody>
      </p:sp>
      <p:sp>
        <p:nvSpPr>
          <p:cNvPr id="14" name="TextBox 13"/>
          <p:cNvSpPr txBox="1"/>
          <p:nvPr/>
        </p:nvSpPr>
        <p:spPr>
          <a:xfrm>
            <a:off x="3383280" y="3191256"/>
            <a:ext cx="7982712" cy="768095"/>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Every number maps to a source/check</a:t>
            </a:r>
          </a:p>
        </p:txBody>
      </p:sp>
      <p:sp>
        <p:nvSpPr>
          <p:cNvPr id="15" name="Rectangle 14"/>
          <p:cNvSpPr/>
          <p:nvPr/>
        </p:nvSpPr>
        <p:spPr>
          <a:xfrm>
            <a:off x="640080" y="3959352"/>
            <a:ext cx="10908792" cy="768095"/>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40080" y="3959352"/>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3959352"/>
            <a:ext cx="2468880" cy="768095"/>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Honest</a:t>
            </a:r>
          </a:p>
        </p:txBody>
      </p:sp>
      <p:sp>
        <p:nvSpPr>
          <p:cNvPr id="18" name="TextBox 17"/>
          <p:cNvSpPr txBox="1"/>
          <p:nvPr/>
        </p:nvSpPr>
        <p:spPr>
          <a:xfrm>
            <a:off x="3383280" y="3959352"/>
            <a:ext cx="7982712" cy="768095"/>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Hypotheses and blocked items are labeled</a:t>
            </a:r>
          </a:p>
        </p:txBody>
      </p:sp>
      <p:sp>
        <p:nvSpPr>
          <p:cNvPr id="19" name="Rectangle 18"/>
          <p:cNvSpPr/>
          <p:nvPr/>
        </p:nvSpPr>
        <p:spPr>
          <a:xfrm>
            <a:off x="640080" y="4727448"/>
            <a:ext cx="10908792" cy="768095"/>
          </a:xfrm>
          <a:prstGeom prst="rect">
            <a:avLst/>
          </a:prstGeom>
          <a:solidFill>
            <a:srgbClr val="3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40080" y="4727448"/>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4727448"/>
            <a:ext cx="2468880" cy="768095"/>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Actionable</a:t>
            </a:r>
          </a:p>
        </p:txBody>
      </p:sp>
      <p:sp>
        <p:nvSpPr>
          <p:cNvPr id="22" name="TextBox 21"/>
          <p:cNvSpPr txBox="1"/>
          <p:nvPr/>
        </p:nvSpPr>
        <p:spPr>
          <a:xfrm>
            <a:off x="3383280" y="4727448"/>
            <a:ext cx="7982712" cy="768095"/>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Decisions and owners are explicit</a:t>
            </a:r>
          </a:p>
        </p:txBody>
      </p:sp>
      <p:sp>
        <p:nvSpPr>
          <p:cNvPr id="23" name="Rectangle 22"/>
          <p:cNvSpPr/>
          <p:nvPr/>
        </p:nvSpPr>
        <p:spPr>
          <a:xfrm>
            <a:off x="640080" y="5495544"/>
            <a:ext cx="10908792" cy="768095"/>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40080" y="5495544"/>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5495544"/>
            <a:ext cx="2468880" cy="768095"/>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Concise</a:t>
            </a:r>
          </a:p>
        </p:txBody>
      </p:sp>
      <p:sp>
        <p:nvSpPr>
          <p:cNvPr id="26" name="TextBox 25"/>
          <p:cNvSpPr txBox="1"/>
          <p:nvPr/>
        </p:nvSpPr>
        <p:spPr>
          <a:xfrm>
            <a:off x="3383280" y="5495544"/>
            <a:ext cx="7982712" cy="768095"/>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A finance director can scan it quickly</a:t>
            </a:r>
          </a:p>
        </p:txBody>
      </p:sp>
      <p:sp>
        <p:nvSpPr>
          <p:cNvPr id="27" name="Rectangle 26"/>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9" name="TextBox 28"/>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34</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28282B"/>
        </a:solidFill>
        <a:effectLst/>
      </p:bgPr>
    </p:bg>
    <p:spTree>
      <p:nvGrpSpPr>
        <p:cNvPr id="1" name=""/>
        <p:cNvGrpSpPr/>
        <p:nvPr/>
      </p:nvGrpSpPr>
      <p:grpSpPr>
        <a:xfrm>
          <a:off x="0" y="0"/>
          <a:ext cx="0" cy="0"/>
          <a:chOff x="0" y="0"/>
          <a:chExt cx="0" cy="0"/>
        </a:xfrm>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THE KEEPS - TAKE THESE WITH YOU</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Take the keeps home</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Three things that outlive today</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Save the analysis contract to Prompt Lab</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The claim ledger is your reusable template</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FLEX: forecast commentary, assumptions labelled</a:t>
            </a:r>
          </a:p>
        </p:txBody>
      </p:sp>
      <p:sp>
        <p:nvSpPr>
          <p:cNvPr id="12" name="Rectangle 11"/>
          <p:cNvSpPr/>
          <p:nvPr/>
        </p:nvSpPr>
        <p:spPr>
          <a:xfrm>
            <a:off x="914400" y="4553712"/>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07008" y="4443984"/>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Everything is in the handout repo</a:t>
            </a:r>
          </a:p>
        </p:txBody>
      </p:sp>
      <p:sp>
        <p:nvSpPr>
          <p:cNvPr id="14" name="TextBox 13"/>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SAVE THESE TWO</a:t>
            </a:r>
          </a:p>
        </p:txBody>
      </p:sp>
      <p:sp>
        <p:nvSpPr>
          <p:cNvPr id="15" name="Rounded Rectangle 14"/>
          <p:cNvSpPr/>
          <p:nvPr/>
        </p:nvSpPr>
        <p:spPr>
          <a:xfrm>
            <a:off x="7040880" y="2286000"/>
            <a:ext cx="4507992" cy="2039112"/>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8" name="TextBox 17"/>
          <p:cNvSpPr txBox="1"/>
          <p:nvPr/>
        </p:nvSpPr>
        <p:spPr>
          <a:xfrm>
            <a:off x="7699248" y="2670048"/>
            <a:ext cx="3593591" cy="1600200"/>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Using PerformanceData, rank the five largest unfavorable variances by absolute dollars. Revenue below plan and Claims or Expense above plan are unfavorable. Show amount, percentage, month, and category. Do not infer causes.</a:t>
            </a:r>
          </a:p>
        </p:txBody>
      </p:sp>
      <p:sp>
        <p:nvSpPr>
          <p:cNvPr id="19" name="Rounded Rectangle 18"/>
          <p:cNvSpPr/>
          <p:nvPr/>
        </p:nvSpPr>
        <p:spPr>
          <a:xfrm>
            <a:off x="7040880" y="4471416"/>
            <a:ext cx="4507992" cy="13030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242048" y="4636008"/>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242048" y="4617720"/>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2" name="TextBox 21"/>
          <p:cNvSpPr txBox="1"/>
          <p:nvPr/>
        </p:nvSpPr>
        <p:spPr>
          <a:xfrm>
            <a:off x="7699248" y="4855464"/>
            <a:ext cx="3593591" cy="864108"/>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Draft a forecast commentary for Q3 Paid Claims using only the trend visible in PerformanceData; label every assumption.</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35</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28282B"/>
        </a:solidFill>
        <a:effectLst/>
      </p:bgPr>
    </p:bg>
    <p:spTree>
      <p:nvGrpSpPr>
        <p:cNvPr id="1" name=""/>
        <p:cNvGrpSpPr/>
        <p:nvPr/>
      </p:nvGrpSpPr>
      <p:grpSpPr>
        <a:xfrm>
          <a:off x="0" y="0"/>
          <a:ext cx="0" cy="0"/>
          <a:chOff x="0" y="0"/>
          <a:chExt cx="0" cy="0"/>
        </a:xfrm>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REMEMBER THIS</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100" b="1">
                <a:solidFill>
                  <a:srgbClr val="F5F5F6"/>
                </a:solidFill>
                <a:latin typeface="Instrument Sans"/>
              </a:rPr>
              <a:t>Create faster. Verify before trust.</a:t>
            </a:r>
          </a:p>
        </p:txBody>
      </p:sp>
      <p:sp>
        <p:nvSpPr>
          <p:cNvPr id="4" name="Rounded Rectangle 3"/>
          <p:cNvSpPr/>
          <p:nvPr/>
        </p:nvSpPr>
        <p:spPr>
          <a:xfrm>
            <a:off x="640080" y="2468880"/>
            <a:ext cx="3453384" cy="25603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651760"/>
            <a:ext cx="914400" cy="640080"/>
          </a:xfrm>
          <a:prstGeom prst="rect">
            <a:avLst/>
          </a:prstGeom>
          <a:noFill/>
        </p:spPr>
        <p:txBody>
          <a:bodyPr wrap="square" anchor="t">
            <a:spAutoFit/>
          </a:bodyPr>
          <a:lstStyle/>
          <a:p>
            <a:pPr algn="l">
              <a:lnSpc>
                <a:spcPct val="100000"/>
              </a:lnSpc>
              <a:spcBef>
                <a:spcPts val="0"/>
              </a:spcBef>
              <a:spcAft>
                <a:spcPts val="200"/>
              </a:spcAft>
            </a:pPr>
            <a:r>
              <a:rPr sz="4000" b="1">
                <a:solidFill>
                  <a:srgbClr val="4C8DF0"/>
                </a:solidFill>
                <a:latin typeface="Instrument Sans"/>
              </a:rPr>
              <a:t>“</a:t>
            </a:r>
          </a:p>
        </p:txBody>
      </p:sp>
      <p:sp>
        <p:nvSpPr>
          <p:cNvPr id="6" name="TextBox 5"/>
          <p:cNvSpPr txBox="1"/>
          <p:nvPr/>
        </p:nvSpPr>
        <p:spPr>
          <a:xfrm>
            <a:off x="914400" y="3383280"/>
            <a:ext cx="2904744" cy="1554479"/>
          </a:xfrm>
          <a:prstGeom prst="rect">
            <a:avLst/>
          </a:prstGeom>
          <a:noFill/>
        </p:spPr>
        <p:txBody>
          <a:bodyPr wrap="square" anchor="t">
            <a:spAutoFit/>
          </a:bodyPr>
          <a:lstStyle/>
          <a:p>
            <a:pPr algn="l">
              <a:lnSpc>
                <a:spcPct val="120000"/>
              </a:lnSpc>
              <a:spcBef>
                <a:spcPts val="0"/>
              </a:spcBef>
              <a:spcAft>
                <a:spcPts val="200"/>
              </a:spcAft>
            </a:pPr>
            <a:r>
              <a:rPr sz="1600" b="0">
                <a:solidFill>
                  <a:srgbClr val="C9C9D2"/>
                </a:solidFill>
                <a:latin typeface="Instrument Sans"/>
              </a:rPr>
              <a:t>Copilot accelerates the work.</a:t>
            </a:r>
          </a:p>
        </p:txBody>
      </p:sp>
      <p:sp>
        <p:nvSpPr>
          <p:cNvPr id="7" name="Rounded Rectangle 6"/>
          <p:cNvSpPr/>
          <p:nvPr/>
        </p:nvSpPr>
        <p:spPr>
          <a:xfrm>
            <a:off x="4367784" y="2468880"/>
            <a:ext cx="3453384" cy="25603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42104" y="2651760"/>
            <a:ext cx="914400" cy="640080"/>
          </a:xfrm>
          <a:prstGeom prst="rect">
            <a:avLst/>
          </a:prstGeom>
          <a:noFill/>
        </p:spPr>
        <p:txBody>
          <a:bodyPr wrap="square" anchor="t">
            <a:spAutoFit/>
          </a:bodyPr>
          <a:lstStyle/>
          <a:p>
            <a:pPr algn="l">
              <a:lnSpc>
                <a:spcPct val="100000"/>
              </a:lnSpc>
              <a:spcBef>
                <a:spcPts val="0"/>
              </a:spcBef>
              <a:spcAft>
                <a:spcPts val="200"/>
              </a:spcAft>
            </a:pPr>
            <a:r>
              <a:rPr sz="4000" b="1">
                <a:solidFill>
                  <a:srgbClr val="4C8DF0"/>
                </a:solidFill>
                <a:latin typeface="Instrument Sans"/>
              </a:rPr>
              <a:t>“</a:t>
            </a:r>
          </a:p>
        </p:txBody>
      </p:sp>
      <p:sp>
        <p:nvSpPr>
          <p:cNvPr id="9" name="TextBox 8"/>
          <p:cNvSpPr txBox="1"/>
          <p:nvPr/>
        </p:nvSpPr>
        <p:spPr>
          <a:xfrm>
            <a:off x="4642104" y="3383280"/>
            <a:ext cx="2904744" cy="1554479"/>
          </a:xfrm>
          <a:prstGeom prst="rect">
            <a:avLst/>
          </a:prstGeom>
          <a:noFill/>
        </p:spPr>
        <p:txBody>
          <a:bodyPr wrap="square" anchor="t">
            <a:spAutoFit/>
          </a:bodyPr>
          <a:lstStyle/>
          <a:p>
            <a:pPr algn="l">
              <a:lnSpc>
                <a:spcPct val="120000"/>
              </a:lnSpc>
              <a:spcBef>
                <a:spcPts val="0"/>
              </a:spcBef>
              <a:spcAft>
                <a:spcPts val="200"/>
              </a:spcAft>
            </a:pPr>
            <a:r>
              <a:rPr sz="1600" b="0">
                <a:solidFill>
                  <a:srgbClr val="C9C9D2"/>
                </a:solidFill>
                <a:latin typeface="Instrument Sans"/>
              </a:rPr>
              <a:t>The ledger makes judgment visible.</a:t>
            </a:r>
          </a:p>
        </p:txBody>
      </p:sp>
      <p:sp>
        <p:nvSpPr>
          <p:cNvPr id="10" name="Rounded Rectangle 9"/>
          <p:cNvSpPr/>
          <p:nvPr/>
        </p:nvSpPr>
        <p:spPr>
          <a:xfrm>
            <a:off x="8095488" y="2468880"/>
            <a:ext cx="3453384" cy="25603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69808" y="2651760"/>
            <a:ext cx="914400" cy="640080"/>
          </a:xfrm>
          <a:prstGeom prst="rect">
            <a:avLst/>
          </a:prstGeom>
          <a:noFill/>
        </p:spPr>
        <p:txBody>
          <a:bodyPr wrap="square" anchor="t">
            <a:spAutoFit/>
          </a:bodyPr>
          <a:lstStyle/>
          <a:p>
            <a:pPr algn="l">
              <a:lnSpc>
                <a:spcPct val="100000"/>
              </a:lnSpc>
              <a:spcBef>
                <a:spcPts val="0"/>
              </a:spcBef>
              <a:spcAft>
                <a:spcPts val="200"/>
              </a:spcAft>
            </a:pPr>
            <a:r>
              <a:rPr sz="4000" b="1">
                <a:solidFill>
                  <a:srgbClr val="4C8DF0"/>
                </a:solidFill>
                <a:latin typeface="Instrument Sans"/>
              </a:rPr>
              <a:t>“</a:t>
            </a:r>
          </a:p>
        </p:txBody>
      </p:sp>
      <p:sp>
        <p:nvSpPr>
          <p:cNvPr id="12" name="TextBox 11"/>
          <p:cNvSpPr txBox="1"/>
          <p:nvPr/>
        </p:nvSpPr>
        <p:spPr>
          <a:xfrm>
            <a:off x="8369808" y="3383280"/>
            <a:ext cx="2904744" cy="1554479"/>
          </a:xfrm>
          <a:prstGeom prst="rect">
            <a:avLst/>
          </a:prstGeom>
          <a:noFill/>
        </p:spPr>
        <p:txBody>
          <a:bodyPr wrap="square" anchor="t">
            <a:spAutoFit/>
          </a:bodyPr>
          <a:lstStyle/>
          <a:p>
            <a:pPr algn="l">
              <a:lnSpc>
                <a:spcPct val="120000"/>
              </a:lnSpc>
              <a:spcBef>
                <a:spcPts val="0"/>
              </a:spcBef>
              <a:spcAft>
                <a:spcPts val="200"/>
              </a:spcAft>
            </a:pPr>
            <a:r>
              <a:rPr sz="1600" b="0">
                <a:solidFill>
                  <a:srgbClr val="C9C9D2"/>
                </a:solidFill>
                <a:latin typeface="Instrument Sans"/>
              </a:rPr>
              <a:t>The finance owner approves the narrative.</a:t>
            </a:r>
          </a:p>
        </p:txBody>
      </p:sp>
      <p:sp>
        <p:nvSpPr>
          <p:cNvPr id="13" name="Rectangle 1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5" name="TextBox 1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36</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28282B"/>
        </a:solidFill>
        <a:effectLst/>
      </p:bgPr>
    </p:bg>
    <p:spTree>
      <p:nvGrpSpPr>
        <p:cNvPr id="1" name=""/>
        <p:cNvGrpSpPr/>
        <p:nvPr/>
      </p:nvGrpSpPr>
      <p:grpSpPr>
        <a:xfrm>
          <a:off x="0" y="0"/>
          <a:ext cx="0" cy="0"/>
          <a:chOff x="0" y="0"/>
          <a:chExt cx="0" cy="0"/>
        </a:xfrm>
      </p:grpSpPr>
      <p:pic>
        <p:nvPicPr>
          <p:cNvPr id="2" name="Picture 1" descr="finance_briefing.png"/>
          <p:cNvPicPr>
            <a:picLocks noChangeAspect="1"/>
          </p:cNvPicPr>
          <p:nvPr/>
        </p:nvPicPr>
        <p:blipFill>
          <a:blip r:embed="rId3"/>
          <a:stretch>
            <a:fillRect/>
          </a:stretch>
        </p:blipFill>
        <p:spPr>
          <a:xfrm>
            <a:off x="7680960" y="0"/>
            <a:ext cx="4507992" cy="6858000"/>
          </a:xfrm>
          <a:prstGeom prst="rect">
            <a:avLst/>
          </a:prstGeom>
        </p:spPr>
      </p:pic>
      <p:sp>
        <p:nvSpPr>
          <p:cNvPr id="3" name="Rectangle 2"/>
          <p:cNvSpPr/>
          <p:nvPr/>
        </p:nvSpPr>
        <p:spPr>
          <a:xfrm>
            <a:off x="768096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FINANCE</a:t>
            </a:r>
          </a:p>
        </p:txBody>
      </p:sp>
      <p:sp>
        <p:nvSpPr>
          <p:cNvPr id="5" name="TextBox 4"/>
          <p:cNvSpPr txBox="1"/>
          <p:nvPr/>
        </p:nvSpPr>
        <p:spPr>
          <a:xfrm>
            <a:off x="621792" y="914400"/>
            <a:ext cx="6949440" cy="1280160"/>
          </a:xfrm>
          <a:prstGeom prst="rect">
            <a:avLst/>
          </a:prstGeom>
          <a:noFill/>
        </p:spPr>
        <p:txBody>
          <a:bodyPr wrap="square" anchor="t">
            <a:spAutoFit/>
          </a:bodyPr>
          <a:lstStyle/>
          <a:p>
            <a:pPr algn="l">
              <a:lnSpc>
                <a:spcPct val="100000"/>
              </a:lnSpc>
              <a:spcBef>
                <a:spcPts val="0"/>
              </a:spcBef>
              <a:spcAft>
                <a:spcPts val="200"/>
              </a:spcAft>
            </a:pPr>
            <a:r>
              <a:rPr sz="3800" b="1">
                <a:solidFill>
                  <a:srgbClr val="F5F5F6"/>
                </a:solidFill>
                <a:latin typeface="Instrument Sans"/>
              </a:rPr>
              <a:t>Bring the loop back to real work</a:t>
            </a:r>
          </a:p>
        </p:txBody>
      </p:sp>
      <p:sp>
        <p:nvSpPr>
          <p:cNvPr id="6" name="Rectangle 5"/>
          <p:cNvSpPr/>
          <p:nvPr/>
        </p:nvSpPr>
        <p:spPr>
          <a:xfrm>
            <a:off x="640080" y="2926080"/>
            <a:ext cx="457200" cy="45720"/>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3072384"/>
            <a:ext cx="3291840" cy="45720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Next review</a:t>
            </a:r>
          </a:p>
        </p:txBody>
      </p:sp>
      <p:sp>
        <p:nvSpPr>
          <p:cNvPr id="8" name="TextBox 7"/>
          <p:cNvSpPr txBox="1"/>
          <p:nvPr/>
        </p:nvSpPr>
        <p:spPr>
          <a:xfrm>
            <a:off x="640080" y="3566160"/>
            <a:ext cx="3291840" cy="1828800"/>
          </a:xfrm>
          <a:prstGeom prst="rect">
            <a:avLst/>
          </a:prstGeom>
          <a:noFill/>
        </p:spPr>
        <p:txBody>
          <a:bodyPr wrap="square" anchor="t">
            <a:spAutoFit/>
          </a:bodyPr>
          <a:lstStyle/>
          <a:p>
            <a:pPr algn="l">
              <a:lnSpc>
                <a:spcPct val="125000"/>
              </a:lnSpc>
              <a:spcBef>
                <a:spcPts val="0"/>
              </a:spcBef>
              <a:spcAft>
                <a:spcPts val="200"/>
              </a:spcAft>
            </a:pPr>
            <a:r>
              <a:rPr sz="1600" b="0">
                <a:solidFill>
                  <a:srgbClr val="ACACB4"/>
                </a:solidFill>
                <a:latin typeface="Instrument Sans"/>
              </a:rPr>
              <a:t>Start with a controlled source set and a claim ledger.</a:t>
            </a:r>
          </a:p>
        </p:txBody>
      </p:sp>
      <p:sp>
        <p:nvSpPr>
          <p:cNvPr id="9" name="Rectangle 8"/>
          <p:cNvSpPr/>
          <p:nvPr/>
        </p:nvSpPr>
        <p:spPr>
          <a:xfrm>
            <a:off x="4206240" y="2926080"/>
            <a:ext cx="457200" cy="45720"/>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06240" y="3072384"/>
            <a:ext cx="3291840" cy="45720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Office hours</a:t>
            </a:r>
          </a:p>
        </p:txBody>
      </p:sp>
      <p:sp>
        <p:nvSpPr>
          <p:cNvPr id="11" name="TextBox 10"/>
          <p:cNvSpPr txBox="1"/>
          <p:nvPr/>
        </p:nvSpPr>
        <p:spPr>
          <a:xfrm>
            <a:off x="4206240" y="3566160"/>
            <a:ext cx="3291840" cy="1828800"/>
          </a:xfrm>
          <a:prstGeom prst="rect">
            <a:avLst/>
          </a:prstGeom>
          <a:noFill/>
        </p:spPr>
        <p:txBody>
          <a:bodyPr wrap="square" anchor="t">
            <a:spAutoFit/>
          </a:bodyPr>
          <a:lstStyle/>
          <a:p>
            <a:pPr algn="l">
              <a:lnSpc>
                <a:spcPct val="125000"/>
              </a:lnSpc>
              <a:spcBef>
                <a:spcPts val="0"/>
              </a:spcBef>
              <a:spcAft>
                <a:spcPts val="200"/>
              </a:spcAft>
            </a:pPr>
            <a:r>
              <a:rPr sz="1600" b="0">
                <a:solidFill>
                  <a:srgbClr val="ACACB4"/>
                </a:solidFill>
                <a:latin typeface="Instrument Sans"/>
              </a:rPr>
              <a:t>1:00-3:00. Bring a workflow and an approved, non-confidential example.</a:t>
            </a:r>
          </a:p>
        </p:txBody>
      </p:sp>
      <p:sp>
        <p:nvSpPr>
          <p:cNvPr id="12" name="Rectangle 1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4" name="TextBox 1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11747</Words>
  <Application>Microsoft Office PowerPoint</Application>
  <PresentationFormat>Widescreen</PresentationFormat>
  <Paragraphs>877</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Instrument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Scott Hay</cp:lastModifiedBy>
  <cp:revision>1</cp:revision>
  <dcterms:created xsi:type="dcterms:W3CDTF">2013-01-27T09:14:16Z</dcterms:created>
  <dcterms:modified xsi:type="dcterms:W3CDTF">2026-09-09T20:21:43Z</dcterms:modified>
  <cp:category/>
</cp:coreProperties>
</file>